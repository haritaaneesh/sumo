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Playfair Display Bold" charset="1" panose="00000000000000000000"/>
      <p:regular r:id="rId26"/>
    </p:embeddedFont>
    <p:embeddedFont>
      <p:font typeface="Playfair Display" charset="1" panose="00000000000000000000"/>
      <p:regular r:id="rId27"/>
    </p:embeddedFont>
    <p:embeddedFont>
      <p:font typeface="Canva Student Font" charset="1" panose="00000000000000000000"/>
      <p:regular r:id="rId28"/>
    </p:embeddedFont>
    <p:embeddedFont>
      <p:font typeface="Times New Roman MT Bold" charset="1" panose="02030802070405020303"/>
      <p:regular r:id="rId29"/>
    </p:embeddedFont>
    <p:embeddedFont>
      <p:font typeface="Times New Roman MT" charset="1" panose="02030502070405020303"/>
      <p:regular r:id="rId30"/>
    </p:embeddedFont>
    <p:embeddedFont>
      <p:font typeface="Lora Bold" charset="1" panose="000008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3.jpeg" Type="http://schemas.openxmlformats.org/officeDocument/2006/relationships/imag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4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Relationship Id="rId4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440" y="-45720"/>
            <a:ext cx="18470880" cy="1097280"/>
            <a:chOff x="0" y="0"/>
            <a:chExt cx="24627840" cy="1463040"/>
          </a:xfrm>
        </p:grpSpPr>
        <p:sp>
          <p:nvSpPr>
            <p:cNvPr name="Freeform 3" id="3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46" t="0" r="-134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1440" y="9235440"/>
            <a:ext cx="18470880" cy="1097280"/>
            <a:chOff x="0" y="0"/>
            <a:chExt cx="24627840" cy="1463040"/>
          </a:xfrm>
        </p:grpSpPr>
        <p:sp>
          <p:nvSpPr>
            <p:cNvPr name="Freeform 5" id="5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46" t="0" r="-134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338560" y="1554480"/>
            <a:ext cx="5852160" cy="5659117"/>
            <a:chOff x="0" y="0"/>
            <a:chExt cx="7802880" cy="7545489"/>
          </a:xfrm>
        </p:grpSpPr>
        <p:sp>
          <p:nvSpPr>
            <p:cNvPr name="Freeform 7" id="7" descr="/home/claude/assets/title_photo.png"/>
            <p:cNvSpPr/>
            <p:nvPr/>
          </p:nvSpPr>
          <p:spPr>
            <a:xfrm flipH="false" flipV="false" rot="0">
              <a:off x="0" y="0"/>
              <a:ext cx="7802880" cy="7545451"/>
            </a:xfrm>
            <a:custGeom>
              <a:avLst/>
              <a:gdLst/>
              <a:ahLst/>
              <a:cxnLst/>
              <a:rect r="r" b="b" t="t" l="l"/>
              <a:pathLst>
                <a:path h="7545451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545451"/>
                  </a:lnTo>
                  <a:lnTo>
                    <a:pt x="0" y="7545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32464" y="2123439"/>
            <a:ext cx="11430000" cy="1728457"/>
            <a:chOff x="0" y="0"/>
            <a:chExt cx="15240000" cy="23046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0000" cy="2304609"/>
            </a:xfrm>
            <a:custGeom>
              <a:avLst/>
              <a:gdLst/>
              <a:ahLst/>
              <a:cxnLst/>
              <a:rect r="r" b="b" t="t" l="l"/>
              <a:pathLst>
                <a:path h="230460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2304609"/>
                  </a:lnTo>
                  <a:lnTo>
                    <a:pt x="0" y="23046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464" r="0" b="-632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5240000" cy="2304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199"/>
                </a:lnSpc>
              </a:pPr>
              <a:r>
                <a:rPr lang="en-US" sz="8499" b="tru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MidReview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1024" y="3851896"/>
            <a:ext cx="10640336" cy="2082672"/>
            <a:chOff x="0" y="0"/>
            <a:chExt cx="14187114" cy="27768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87114" cy="2776897"/>
            </a:xfrm>
            <a:custGeom>
              <a:avLst/>
              <a:gdLst/>
              <a:ahLst/>
              <a:cxnLst/>
              <a:rect r="r" b="b" t="t" l="l"/>
              <a:pathLst>
                <a:path h="2776897" w="14187114">
                  <a:moveTo>
                    <a:pt x="0" y="0"/>
                  </a:moveTo>
                  <a:lnTo>
                    <a:pt x="14187114" y="0"/>
                  </a:lnTo>
                  <a:lnTo>
                    <a:pt x="14187114" y="2776897"/>
                  </a:lnTo>
                  <a:lnTo>
                    <a:pt x="0" y="27768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691" r="-8280" b="-538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4187114" cy="2843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3"/>
                </a:lnSpc>
              </a:pPr>
              <a:r>
                <a:rPr lang="en-US" sz="37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Optimizing Autonomous Traffic Navigation via Reinforcement Learning and Basal Ganglia Gating in ROS 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1024" y="6207757"/>
            <a:ext cx="10058400" cy="2282444"/>
            <a:chOff x="0" y="0"/>
            <a:chExt cx="13411200" cy="3043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0" cy="3043259"/>
            </a:xfrm>
            <a:custGeom>
              <a:avLst/>
              <a:gdLst/>
              <a:ahLst/>
              <a:cxnLst/>
              <a:rect r="r" b="b" t="t" l="l"/>
              <a:pathLst>
                <a:path h="3043259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3043259"/>
                  </a:lnTo>
                  <a:lnTo>
                    <a:pt x="0" y="30432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99" r="0" b="-299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13411200" cy="3148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5"/>
                </a:lnSpc>
              </a:pPr>
              <a:r>
                <a:rPr lang="en-US" sz="279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Team Number: 04</a:t>
              </a:r>
            </a:p>
            <a:p>
              <a:pPr algn="l">
                <a:lnSpc>
                  <a:spcPts val="4535"/>
                </a:lnSpc>
              </a:pPr>
              <a:r>
                <a:rPr lang="en-US" sz="279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Guide: Dr. Divya Udayan J</a:t>
              </a:r>
            </a:p>
            <a:p>
              <a:pPr algn="l">
                <a:lnSpc>
                  <a:spcPts val="4535"/>
                </a:lnSpc>
              </a:pPr>
              <a:r>
                <a:rPr lang="en-US" sz="279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AM.AI.U4AID23042  —  Harita Aneesh</a:t>
              </a:r>
            </a:p>
            <a:p>
              <a:pPr algn="l">
                <a:lnSpc>
                  <a:spcPts val="4535"/>
                </a:lnSpc>
              </a:pPr>
              <a:r>
                <a:rPr lang="en-US" sz="279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AM.AI.U4AID23059  —  Sheron George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15923" y="7656832"/>
            <a:ext cx="3697435" cy="833369"/>
            <a:chOff x="0" y="0"/>
            <a:chExt cx="7805966" cy="17593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0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5780" y="402686"/>
            <a:ext cx="9144000" cy="457200"/>
            <a:chOff x="0" y="0"/>
            <a:chExt cx="121920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293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5780" y="768446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2189440" cy="1331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What We'll Cover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7324" y="2059634"/>
            <a:ext cx="1182588" cy="1000627"/>
            <a:chOff x="0" y="0"/>
            <a:chExt cx="1725290" cy="14598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5290" cy="1459825"/>
            </a:xfrm>
            <a:custGeom>
              <a:avLst/>
              <a:gdLst/>
              <a:ahLst/>
              <a:cxnLst/>
              <a:rect r="r" b="b" t="t" l="l"/>
              <a:pathLst>
                <a:path h="1459825" w="1725290">
                  <a:moveTo>
                    <a:pt x="0" y="0"/>
                  </a:moveTo>
                  <a:lnTo>
                    <a:pt x="1725290" y="0"/>
                  </a:lnTo>
                  <a:lnTo>
                    <a:pt x="1725290" y="1459825"/>
                  </a:lnTo>
                  <a:lnTo>
                    <a:pt x="0" y="14598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934" t="0" r="-63800" b="-857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725290" cy="1450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399"/>
                </a:lnSpc>
              </a:pPr>
              <a:r>
                <a:rPr lang="en-US" sz="4499" b="true">
                  <a:solidFill>
                    <a:srgbClr val="F1D9E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85397" y="2059634"/>
            <a:ext cx="6777139" cy="1118695"/>
            <a:chOff x="0" y="0"/>
            <a:chExt cx="9887239" cy="16320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7239" cy="1632076"/>
            </a:xfrm>
            <a:custGeom>
              <a:avLst/>
              <a:gdLst/>
              <a:ahLst/>
              <a:cxnLst/>
              <a:rect r="r" b="b" t="t" l="l"/>
              <a:pathLst>
                <a:path h="1632076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1632076"/>
                  </a:lnTo>
                  <a:lnTo>
                    <a:pt x="0" y="16320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029" r="8133" b="-308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9887239" cy="1622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Backg</a:t>
              </a:r>
              <a:r>
                <a:rPr lang="en-US" sz="2899" b="tru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round &amp; Context</a:t>
              </a:r>
            </a:p>
            <a:p>
              <a:pPr algn="l">
                <a:lnSpc>
                  <a:spcPts val="34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85397" y="2490111"/>
            <a:ext cx="6226940" cy="973231"/>
            <a:chOff x="0" y="0"/>
            <a:chExt cx="9084549" cy="14198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84549" cy="1419857"/>
            </a:xfrm>
            <a:custGeom>
              <a:avLst/>
              <a:gdLst/>
              <a:ahLst/>
              <a:cxnLst/>
              <a:rect r="r" b="b" t="t" l="l"/>
              <a:pathLst>
                <a:path h="1419857" w="9084549">
                  <a:moveTo>
                    <a:pt x="0" y="0"/>
                  </a:moveTo>
                  <a:lnTo>
                    <a:pt x="9084549" y="0"/>
                  </a:lnTo>
                  <a:lnTo>
                    <a:pt x="9084549" y="1419857"/>
                  </a:lnTo>
                  <a:lnTo>
                    <a:pt x="0" y="14198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008" r="16" b="-632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084549" cy="1419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Bridging the Sim-to-Real Reality Gap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08345" y="2059634"/>
            <a:ext cx="1182588" cy="1000627"/>
            <a:chOff x="0" y="0"/>
            <a:chExt cx="1725290" cy="14598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25290" cy="1459825"/>
            </a:xfrm>
            <a:custGeom>
              <a:avLst/>
              <a:gdLst/>
              <a:ahLst/>
              <a:cxnLst/>
              <a:rect r="r" b="b" t="t" l="l"/>
              <a:pathLst>
                <a:path h="1459825" w="1725290">
                  <a:moveTo>
                    <a:pt x="0" y="0"/>
                  </a:moveTo>
                  <a:lnTo>
                    <a:pt x="1725290" y="0"/>
                  </a:lnTo>
                  <a:lnTo>
                    <a:pt x="1725290" y="1459825"/>
                  </a:lnTo>
                  <a:lnTo>
                    <a:pt x="0" y="14598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934" t="0" r="-63800" b="-857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725290" cy="1450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399"/>
                </a:lnSpc>
                <a:spcBef>
                  <a:spcPct val="0"/>
                </a:spcBef>
              </a:pPr>
              <a:r>
                <a:rPr lang="en-US" b="true" sz="4499" strike="noStrike" u="none">
                  <a:solidFill>
                    <a:srgbClr val="F1D9E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36417" y="2059634"/>
            <a:ext cx="6777139" cy="641475"/>
            <a:chOff x="0" y="0"/>
            <a:chExt cx="9887239" cy="9358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87239" cy="935855"/>
            </a:xfrm>
            <a:custGeom>
              <a:avLst/>
              <a:gdLst/>
              <a:ahLst/>
              <a:cxnLst/>
              <a:rect r="r" b="b" t="t" l="l"/>
              <a:pathLst>
                <a:path h="935855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935855"/>
                  </a:lnTo>
                  <a:lnTo>
                    <a:pt x="0" y="9358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031" r="8133" b="-1281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9887239" cy="92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Problem Statement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736417" y="2490111"/>
            <a:ext cx="6777139" cy="973231"/>
            <a:chOff x="0" y="0"/>
            <a:chExt cx="9887239" cy="14198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87239" cy="1419857"/>
            </a:xfrm>
            <a:custGeom>
              <a:avLst/>
              <a:gdLst/>
              <a:ahLst/>
              <a:cxnLst/>
              <a:rect r="r" b="b" t="t" l="l"/>
              <a:pathLst>
                <a:path h="1419857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1419857"/>
                  </a:lnTo>
                  <a:lnTo>
                    <a:pt x="0" y="14198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008" r="8133" b="-632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887239" cy="1419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W</a:t>
              </a:r>
              <a:r>
                <a:rPr lang="en-US" sz="244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hy Roundabouts Break Conventional RL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7324" y="3560574"/>
            <a:ext cx="1182588" cy="1000627"/>
            <a:chOff x="0" y="0"/>
            <a:chExt cx="1725290" cy="14598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25290" cy="1459825"/>
            </a:xfrm>
            <a:custGeom>
              <a:avLst/>
              <a:gdLst/>
              <a:ahLst/>
              <a:cxnLst/>
              <a:rect r="r" b="b" t="t" l="l"/>
              <a:pathLst>
                <a:path h="1459825" w="1725290">
                  <a:moveTo>
                    <a:pt x="0" y="0"/>
                  </a:moveTo>
                  <a:lnTo>
                    <a:pt x="1725290" y="0"/>
                  </a:lnTo>
                  <a:lnTo>
                    <a:pt x="1725290" y="1459825"/>
                  </a:lnTo>
                  <a:lnTo>
                    <a:pt x="0" y="14598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934" t="0" r="-63800" b="-857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1725290" cy="1450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399"/>
                </a:lnSpc>
                <a:spcBef>
                  <a:spcPct val="0"/>
                </a:spcBef>
              </a:pPr>
              <a:r>
                <a:rPr lang="en-US" b="true" sz="4499" strike="noStrike" u="none">
                  <a:solidFill>
                    <a:srgbClr val="F1D9E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85397" y="3551972"/>
            <a:ext cx="6777139" cy="641475"/>
            <a:chOff x="0" y="0"/>
            <a:chExt cx="9887239" cy="9358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887239" cy="935855"/>
            </a:xfrm>
            <a:custGeom>
              <a:avLst/>
              <a:gdLst/>
              <a:ahLst/>
              <a:cxnLst/>
              <a:rect r="r" b="b" t="t" l="l"/>
              <a:pathLst>
                <a:path h="935855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935855"/>
                  </a:lnTo>
                  <a:lnTo>
                    <a:pt x="0" y="9358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031" r="8133" b="-1281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9887239" cy="92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Lit</a:t>
              </a:r>
              <a:r>
                <a:rPr lang="en-US" sz="2899" b="tru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erature Review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85397" y="4060887"/>
            <a:ext cx="6777139" cy="692742"/>
            <a:chOff x="0" y="0"/>
            <a:chExt cx="9887239" cy="10106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87239" cy="1010648"/>
            </a:xfrm>
            <a:custGeom>
              <a:avLst/>
              <a:gdLst/>
              <a:ahLst/>
              <a:cxnLst/>
              <a:rect r="r" b="b" t="t" l="l"/>
              <a:pathLst>
                <a:path h="1010648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1010648"/>
                  </a:lnTo>
                  <a:lnTo>
                    <a:pt x="0" y="1010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32" r="8133" b="-1294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887239" cy="1010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Fo</a:t>
              </a:r>
              <a:r>
                <a:rPr lang="en-US" sz="244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undational literature examined in depth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08345" y="3560574"/>
            <a:ext cx="1182588" cy="1000627"/>
            <a:chOff x="0" y="0"/>
            <a:chExt cx="1725290" cy="14598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25290" cy="1459825"/>
            </a:xfrm>
            <a:custGeom>
              <a:avLst/>
              <a:gdLst/>
              <a:ahLst/>
              <a:cxnLst/>
              <a:rect r="r" b="b" t="t" l="l"/>
              <a:pathLst>
                <a:path h="1459825" w="1725290">
                  <a:moveTo>
                    <a:pt x="0" y="0"/>
                  </a:moveTo>
                  <a:lnTo>
                    <a:pt x="1725290" y="0"/>
                  </a:lnTo>
                  <a:lnTo>
                    <a:pt x="1725290" y="1459825"/>
                  </a:lnTo>
                  <a:lnTo>
                    <a:pt x="0" y="14598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934" t="0" r="-63800" b="-857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1725290" cy="1450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399"/>
                </a:lnSpc>
                <a:spcBef>
                  <a:spcPct val="0"/>
                </a:spcBef>
              </a:pPr>
              <a:r>
                <a:rPr lang="en-US" b="true" sz="4499" strike="noStrike" u="none">
                  <a:solidFill>
                    <a:srgbClr val="F1D9E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736417" y="3551972"/>
            <a:ext cx="6777139" cy="641475"/>
            <a:chOff x="0" y="0"/>
            <a:chExt cx="9887239" cy="9358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887239" cy="935855"/>
            </a:xfrm>
            <a:custGeom>
              <a:avLst/>
              <a:gdLst/>
              <a:ahLst/>
              <a:cxnLst/>
              <a:rect r="r" b="b" t="t" l="l"/>
              <a:pathLst>
                <a:path h="935855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935855"/>
                  </a:lnTo>
                  <a:lnTo>
                    <a:pt x="0" y="9358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031" r="8133" b="-1281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9887239" cy="92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Research Gaps &amp; Questions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736417" y="3780397"/>
            <a:ext cx="6777139" cy="973231"/>
            <a:chOff x="0" y="0"/>
            <a:chExt cx="9887239" cy="141985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887239" cy="1419857"/>
            </a:xfrm>
            <a:custGeom>
              <a:avLst/>
              <a:gdLst/>
              <a:ahLst/>
              <a:cxnLst/>
              <a:rect r="r" b="b" t="t" l="l"/>
              <a:pathLst>
                <a:path h="1419857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1419857"/>
                  </a:lnTo>
                  <a:lnTo>
                    <a:pt x="0" y="14198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008" r="8133" b="-6328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9887239" cy="1419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Core research questions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7324" y="5061514"/>
            <a:ext cx="1182588" cy="1000627"/>
            <a:chOff x="0" y="0"/>
            <a:chExt cx="1725290" cy="14598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25290" cy="1459825"/>
            </a:xfrm>
            <a:custGeom>
              <a:avLst/>
              <a:gdLst/>
              <a:ahLst/>
              <a:cxnLst/>
              <a:rect r="r" b="b" t="t" l="l"/>
              <a:pathLst>
                <a:path h="1459825" w="1725290">
                  <a:moveTo>
                    <a:pt x="0" y="0"/>
                  </a:moveTo>
                  <a:lnTo>
                    <a:pt x="1725290" y="0"/>
                  </a:lnTo>
                  <a:lnTo>
                    <a:pt x="1725290" y="1459825"/>
                  </a:lnTo>
                  <a:lnTo>
                    <a:pt x="0" y="14598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934" t="0" r="-63800" b="-857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1725290" cy="1450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399"/>
                </a:lnSpc>
                <a:spcBef>
                  <a:spcPct val="0"/>
                </a:spcBef>
              </a:pPr>
              <a:r>
                <a:rPr lang="en-US" b="true" sz="4499" strike="noStrike" u="none">
                  <a:solidFill>
                    <a:srgbClr val="F1D9E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85397" y="5052912"/>
            <a:ext cx="6777139" cy="641475"/>
            <a:chOff x="0" y="0"/>
            <a:chExt cx="9887239" cy="93585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887239" cy="935855"/>
            </a:xfrm>
            <a:custGeom>
              <a:avLst/>
              <a:gdLst/>
              <a:ahLst/>
              <a:cxnLst/>
              <a:rect r="r" b="b" t="t" l="l"/>
              <a:pathLst>
                <a:path h="935855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935855"/>
                  </a:lnTo>
                  <a:lnTo>
                    <a:pt x="0" y="9358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031" r="8133" b="-12819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9887239" cy="92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Methodology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85397" y="5561827"/>
            <a:ext cx="6777139" cy="870520"/>
            <a:chOff x="0" y="0"/>
            <a:chExt cx="9887239" cy="12700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887239" cy="1270012"/>
            </a:xfrm>
            <a:custGeom>
              <a:avLst/>
              <a:gdLst/>
              <a:ahLst/>
              <a:cxnLst/>
              <a:rect r="r" b="b" t="t" l="l"/>
              <a:pathLst>
                <a:path h="1270012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1270012"/>
                  </a:lnTo>
                  <a:lnTo>
                    <a:pt x="0" y="1270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56" r="8133" b="-825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9887239" cy="1270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Architecture, spatial encoding, actor-critic, reward design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08345" y="5061514"/>
            <a:ext cx="1182588" cy="1000627"/>
            <a:chOff x="0" y="0"/>
            <a:chExt cx="1725290" cy="145982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25290" cy="1459825"/>
            </a:xfrm>
            <a:custGeom>
              <a:avLst/>
              <a:gdLst/>
              <a:ahLst/>
              <a:cxnLst/>
              <a:rect r="r" b="b" t="t" l="l"/>
              <a:pathLst>
                <a:path h="1459825" w="1725290">
                  <a:moveTo>
                    <a:pt x="0" y="0"/>
                  </a:moveTo>
                  <a:lnTo>
                    <a:pt x="1725290" y="0"/>
                  </a:lnTo>
                  <a:lnTo>
                    <a:pt x="1725290" y="1459825"/>
                  </a:lnTo>
                  <a:lnTo>
                    <a:pt x="0" y="14598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934" t="0" r="-63800" b="-857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9525"/>
              <a:ext cx="1725290" cy="1450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399"/>
                </a:lnSpc>
                <a:spcBef>
                  <a:spcPct val="0"/>
                </a:spcBef>
              </a:pPr>
              <a:r>
                <a:rPr lang="en-US" b="true" sz="4499" strike="noStrike" u="none">
                  <a:solidFill>
                    <a:srgbClr val="F1D9E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736417" y="5052912"/>
            <a:ext cx="6777139" cy="641475"/>
            <a:chOff x="0" y="0"/>
            <a:chExt cx="9887239" cy="93585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887239" cy="935855"/>
            </a:xfrm>
            <a:custGeom>
              <a:avLst/>
              <a:gdLst/>
              <a:ahLst/>
              <a:cxnLst/>
              <a:rect r="r" b="b" t="t" l="l"/>
              <a:pathLst>
                <a:path h="935855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935855"/>
                  </a:lnTo>
                  <a:lnTo>
                    <a:pt x="0" y="9358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031" r="8133" b="-12819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9525"/>
              <a:ext cx="9887239" cy="92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Recent Progress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736417" y="5491991"/>
            <a:ext cx="6777139" cy="973231"/>
            <a:chOff x="0" y="0"/>
            <a:chExt cx="9887239" cy="141985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887239" cy="1419857"/>
            </a:xfrm>
            <a:custGeom>
              <a:avLst/>
              <a:gdLst/>
              <a:ahLst/>
              <a:cxnLst/>
              <a:rect r="r" b="b" t="t" l="l"/>
              <a:pathLst>
                <a:path h="1419857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1419857"/>
                  </a:lnTo>
                  <a:lnTo>
                    <a:pt x="0" y="14198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008" r="8133" b="-6328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9887239" cy="1419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Environment upgrades &amp; Sim-to-Real robustness testing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7324" y="6562454"/>
            <a:ext cx="1182588" cy="1000627"/>
            <a:chOff x="0" y="0"/>
            <a:chExt cx="1725290" cy="145982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725290" cy="1459825"/>
            </a:xfrm>
            <a:custGeom>
              <a:avLst/>
              <a:gdLst/>
              <a:ahLst/>
              <a:cxnLst/>
              <a:rect r="r" b="b" t="t" l="l"/>
              <a:pathLst>
                <a:path h="1459825" w="1725290">
                  <a:moveTo>
                    <a:pt x="0" y="0"/>
                  </a:moveTo>
                  <a:lnTo>
                    <a:pt x="1725290" y="0"/>
                  </a:lnTo>
                  <a:lnTo>
                    <a:pt x="1725290" y="1459825"/>
                  </a:lnTo>
                  <a:lnTo>
                    <a:pt x="0" y="14598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934" t="0" r="-63800" b="-857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9525"/>
              <a:ext cx="1725290" cy="1450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399"/>
                </a:lnSpc>
                <a:spcBef>
                  <a:spcPct val="0"/>
                </a:spcBef>
              </a:pPr>
              <a:r>
                <a:rPr lang="en-US" b="true" sz="4499" strike="noStrike" u="none">
                  <a:solidFill>
                    <a:srgbClr val="F1D9E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07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185397" y="6553852"/>
            <a:ext cx="6777139" cy="641475"/>
            <a:chOff x="0" y="0"/>
            <a:chExt cx="9887239" cy="93585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887239" cy="935855"/>
            </a:xfrm>
            <a:custGeom>
              <a:avLst/>
              <a:gdLst/>
              <a:ahLst/>
              <a:cxnLst/>
              <a:rect r="r" b="b" t="t" l="l"/>
              <a:pathLst>
                <a:path h="935855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935855"/>
                  </a:lnTo>
                  <a:lnTo>
                    <a:pt x="0" y="9358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031" r="8133" b="-12819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9887239" cy="92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Phase 1 Results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185397" y="7062767"/>
            <a:ext cx="6777139" cy="870520"/>
            <a:chOff x="0" y="0"/>
            <a:chExt cx="9887239" cy="12700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887239" cy="1270012"/>
            </a:xfrm>
            <a:custGeom>
              <a:avLst/>
              <a:gdLst/>
              <a:ahLst/>
              <a:cxnLst/>
              <a:rect r="r" b="b" t="t" l="l"/>
              <a:pathLst>
                <a:path h="1270012" w="9887239">
                  <a:moveTo>
                    <a:pt x="0" y="0"/>
                  </a:moveTo>
                  <a:lnTo>
                    <a:pt x="9887239" y="0"/>
                  </a:lnTo>
                  <a:lnTo>
                    <a:pt x="9887239" y="1270012"/>
                  </a:lnTo>
                  <a:lnTo>
                    <a:pt x="0" y="1270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56" r="8133" b="-8255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9887239" cy="1270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PPO learning trajectory, policy collapse, behavioral anomalies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1591" y="9258300"/>
            <a:ext cx="3657600" cy="742503"/>
            <a:chOff x="0" y="0"/>
            <a:chExt cx="4876800" cy="99000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75" id="75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46" t="0" r="-1346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77" id="77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46" t="0" r="-1346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6187366" y="9403792"/>
            <a:ext cx="1915278" cy="431686"/>
            <a:chOff x="0" y="0"/>
            <a:chExt cx="7805966" cy="175939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03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508345" y="6565872"/>
            <a:ext cx="1182588" cy="1000627"/>
            <a:chOff x="0" y="0"/>
            <a:chExt cx="1725290" cy="145982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25290" cy="1459825"/>
            </a:xfrm>
            <a:custGeom>
              <a:avLst/>
              <a:gdLst/>
              <a:ahLst/>
              <a:cxnLst/>
              <a:rect r="r" b="b" t="t" l="l"/>
              <a:pathLst>
                <a:path h="1459825" w="1725290">
                  <a:moveTo>
                    <a:pt x="0" y="0"/>
                  </a:moveTo>
                  <a:lnTo>
                    <a:pt x="1725290" y="0"/>
                  </a:lnTo>
                  <a:lnTo>
                    <a:pt x="1725290" y="1459825"/>
                  </a:lnTo>
                  <a:lnTo>
                    <a:pt x="0" y="14598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934" t="0" r="-63800" b="-857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9525"/>
              <a:ext cx="1725290" cy="1450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399"/>
                </a:lnSpc>
                <a:spcBef>
                  <a:spcPct val="0"/>
                </a:spcBef>
              </a:pPr>
              <a:r>
                <a:rPr lang="en-US" b="true" sz="4499" strike="noStrike" u="none">
                  <a:solidFill>
                    <a:srgbClr val="F1D9E1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08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0736417" y="6862925"/>
            <a:ext cx="3249133" cy="40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8"/>
              </a:lnSpc>
              <a:spcBef>
                <a:spcPct val="0"/>
              </a:spcBef>
            </a:pPr>
            <a:r>
              <a:rPr lang="en-US" b="true" sz="2690">
                <a:solidFill>
                  <a:srgbClr val="B8114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Status &amp; Next Steps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737257" y="7348294"/>
            <a:ext cx="6496586" cy="69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7"/>
              </a:lnSpc>
              <a:spcBef>
                <a:spcPct val="0"/>
              </a:spcBef>
            </a:pPr>
            <a:r>
              <a:rPr lang="en-US" b="true" sz="2273">
                <a:solidFill>
                  <a:srgbClr val="6E6E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Current status, transition to Phase 2(SAC), 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831" y="9328654"/>
            <a:ext cx="3657600" cy="742503"/>
            <a:chOff x="0" y="0"/>
            <a:chExt cx="4876800" cy="990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6" id="6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46" t="0" r="-134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8" id="8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46" t="0" r="-13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37025" y="9484062"/>
            <a:ext cx="1915278" cy="431686"/>
            <a:chOff x="0" y="0"/>
            <a:chExt cx="7805966" cy="17593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0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9769" y="247707"/>
            <a:ext cx="9144000" cy="873124"/>
            <a:chOff x="0" y="0"/>
            <a:chExt cx="12192000" cy="1164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1164165"/>
            </a:xfrm>
            <a:custGeom>
              <a:avLst/>
              <a:gdLst/>
              <a:ahLst/>
              <a:cxnLst/>
              <a:rect r="r" b="b" t="t" l="l"/>
              <a:pathLst>
                <a:path h="116416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164165"/>
                  </a:lnTo>
                  <a:lnTo>
                    <a:pt x="0" y="11641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879" r="0" b="-1302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2192000" cy="116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 spc="293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BACKGROUND &amp; CONTEXT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6127" y="812857"/>
            <a:ext cx="16642080" cy="1005840"/>
            <a:chOff x="0" y="0"/>
            <a:chExt cx="2218944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944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Bridging the Sim-to-Real Reality Gap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6127" y="1825681"/>
            <a:ext cx="17724753" cy="1824228"/>
            <a:chOff x="0" y="0"/>
            <a:chExt cx="23633005" cy="2432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633004" cy="2432304"/>
            </a:xfrm>
            <a:custGeom>
              <a:avLst/>
              <a:gdLst/>
              <a:ahLst/>
              <a:cxnLst/>
              <a:rect r="r" b="b" t="t" l="l"/>
              <a:pathLst>
                <a:path h="2432304" w="23633004">
                  <a:moveTo>
                    <a:pt x="0" y="0"/>
                  </a:moveTo>
                  <a:lnTo>
                    <a:pt x="23633004" y="0"/>
                  </a:lnTo>
                  <a:lnTo>
                    <a:pt x="23633004" y="2432304"/>
                  </a:lnTo>
                  <a:lnTo>
                    <a:pt x="0" y="24323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189" r="6108" b="-10532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3633005" cy="24989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39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Un-signaliz</a:t>
              </a:r>
              <a:r>
                <a:rPr lang="en-US" sz="239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ed and signalized roundabouts, and congested merging ramps, remain one of the hardest environments for autonomous navigation. Traditional Deep RL agents ingest raw, high-dimensional coordinate data — and that choice</a:t>
              </a:r>
            </a:p>
            <a:p>
              <a:pPr algn="l">
                <a:lnSpc>
                  <a:spcPts val="3599"/>
                </a:lnSpc>
              </a:pPr>
              <a:r>
                <a:rPr lang="en-US" sz="239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alone creates four compounding problems:</a:t>
              </a:r>
            </a:p>
            <a:p>
              <a:pPr algn="l">
                <a:lnSpc>
                  <a:spcPts val="3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9769" y="3694061"/>
            <a:ext cx="8300180" cy="2714742"/>
            <a:chOff x="0" y="0"/>
            <a:chExt cx="11066907" cy="36196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66996" cy="3619745"/>
            </a:xfrm>
            <a:custGeom>
              <a:avLst/>
              <a:gdLst/>
              <a:ahLst/>
              <a:cxnLst/>
              <a:rect r="r" b="b" t="t" l="l"/>
              <a:pathLst>
                <a:path h="3619745" w="11066996">
                  <a:moveTo>
                    <a:pt x="0" y="80509"/>
                  </a:moveTo>
                  <a:cubicBezTo>
                    <a:pt x="0" y="36006"/>
                    <a:pt x="142281" y="0"/>
                    <a:pt x="318137" y="0"/>
                  </a:cubicBezTo>
                  <a:lnTo>
                    <a:pt x="10748962" y="0"/>
                  </a:lnTo>
                  <a:cubicBezTo>
                    <a:pt x="10924543" y="0"/>
                    <a:pt x="11066996" y="36006"/>
                    <a:pt x="11066996" y="80509"/>
                  </a:cubicBezTo>
                  <a:lnTo>
                    <a:pt x="11066996" y="3539196"/>
                  </a:lnTo>
                  <a:cubicBezTo>
                    <a:pt x="11066996" y="3583629"/>
                    <a:pt x="10924818" y="3619745"/>
                    <a:pt x="10748962" y="3619745"/>
                  </a:cubicBezTo>
                  <a:lnTo>
                    <a:pt x="318137" y="3619745"/>
                  </a:lnTo>
                  <a:cubicBezTo>
                    <a:pt x="142281" y="3619636"/>
                    <a:pt x="0" y="3583629"/>
                    <a:pt x="0" y="3539196"/>
                  </a:cubicBezTo>
                  <a:close/>
                </a:path>
              </a:pathLst>
            </a:custGeom>
            <a:solidFill>
              <a:srgbClr val="F1D9E1"/>
            </a:solidFill>
            <a:ln w="12700" cap="sq">
              <a:solidFill>
                <a:srgbClr val="F1D9E1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410931" y="3694061"/>
            <a:ext cx="8300180" cy="2714742"/>
            <a:chOff x="0" y="0"/>
            <a:chExt cx="11066907" cy="36196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66996" cy="3619745"/>
            </a:xfrm>
            <a:custGeom>
              <a:avLst/>
              <a:gdLst/>
              <a:ahLst/>
              <a:cxnLst/>
              <a:rect r="r" b="b" t="t" l="l"/>
              <a:pathLst>
                <a:path h="3619745" w="11066996">
                  <a:moveTo>
                    <a:pt x="0" y="80509"/>
                  </a:moveTo>
                  <a:cubicBezTo>
                    <a:pt x="0" y="36006"/>
                    <a:pt x="142281" y="0"/>
                    <a:pt x="318137" y="0"/>
                  </a:cubicBezTo>
                  <a:lnTo>
                    <a:pt x="10748962" y="0"/>
                  </a:lnTo>
                  <a:cubicBezTo>
                    <a:pt x="10924543" y="0"/>
                    <a:pt x="11066996" y="36006"/>
                    <a:pt x="11066996" y="80509"/>
                  </a:cubicBezTo>
                  <a:lnTo>
                    <a:pt x="11066996" y="3539196"/>
                  </a:lnTo>
                  <a:cubicBezTo>
                    <a:pt x="11066996" y="3583629"/>
                    <a:pt x="10924818" y="3619745"/>
                    <a:pt x="10748962" y="3619745"/>
                  </a:cubicBezTo>
                  <a:lnTo>
                    <a:pt x="318137" y="3619745"/>
                  </a:lnTo>
                  <a:cubicBezTo>
                    <a:pt x="142281" y="3619636"/>
                    <a:pt x="0" y="3583629"/>
                    <a:pt x="0" y="3539196"/>
                  </a:cubicBezTo>
                  <a:close/>
                </a:path>
              </a:pathLst>
            </a:custGeom>
            <a:solidFill>
              <a:srgbClr val="F1D9E1"/>
            </a:solidFill>
            <a:ln w="12700" cap="sq">
              <a:solidFill>
                <a:srgbClr val="F1D9E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410931" y="6613912"/>
            <a:ext cx="8300180" cy="2714742"/>
            <a:chOff x="0" y="0"/>
            <a:chExt cx="11066907" cy="36196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66996" cy="3619745"/>
            </a:xfrm>
            <a:custGeom>
              <a:avLst/>
              <a:gdLst/>
              <a:ahLst/>
              <a:cxnLst/>
              <a:rect r="r" b="b" t="t" l="l"/>
              <a:pathLst>
                <a:path h="3619745" w="11066996">
                  <a:moveTo>
                    <a:pt x="0" y="80509"/>
                  </a:moveTo>
                  <a:cubicBezTo>
                    <a:pt x="0" y="36006"/>
                    <a:pt x="142281" y="0"/>
                    <a:pt x="318137" y="0"/>
                  </a:cubicBezTo>
                  <a:lnTo>
                    <a:pt x="10748962" y="0"/>
                  </a:lnTo>
                  <a:cubicBezTo>
                    <a:pt x="10924543" y="0"/>
                    <a:pt x="11066996" y="36006"/>
                    <a:pt x="11066996" y="80509"/>
                  </a:cubicBezTo>
                  <a:lnTo>
                    <a:pt x="11066996" y="3539196"/>
                  </a:lnTo>
                  <a:cubicBezTo>
                    <a:pt x="11066996" y="3583629"/>
                    <a:pt x="10924818" y="3619745"/>
                    <a:pt x="10748962" y="3619745"/>
                  </a:cubicBezTo>
                  <a:lnTo>
                    <a:pt x="318137" y="3619745"/>
                  </a:lnTo>
                  <a:cubicBezTo>
                    <a:pt x="142281" y="3619636"/>
                    <a:pt x="0" y="3583629"/>
                    <a:pt x="0" y="3539196"/>
                  </a:cubicBezTo>
                  <a:close/>
                </a:path>
              </a:pathLst>
            </a:custGeom>
            <a:solidFill>
              <a:srgbClr val="F1D9E1"/>
            </a:solidFill>
            <a:ln w="12700" cap="sq">
              <a:solidFill>
                <a:srgbClr val="F1D9E1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59769" y="6613912"/>
            <a:ext cx="8300180" cy="2714742"/>
            <a:chOff x="0" y="0"/>
            <a:chExt cx="11066907" cy="36196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66996" cy="3619745"/>
            </a:xfrm>
            <a:custGeom>
              <a:avLst/>
              <a:gdLst/>
              <a:ahLst/>
              <a:cxnLst/>
              <a:rect r="r" b="b" t="t" l="l"/>
              <a:pathLst>
                <a:path h="3619745" w="11066996">
                  <a:moveTo>
                    <a:pt x="0" y="80509"/>
                  </a:moveTo>
                  <a:cubicBezTo>
                    <a:pt x="0" y="36006"/>
                    <a:pt x="142281" y="0"/>
                    <a:pt x="318137" y="0"/>
                  </a:cubicBezTo>
                  <a:lnTo>
                    <a:pt x="10748962" y="0"/>
                  </a:lnTo>
                  <a:cubicBezTo>
                    <a:pt x="10924543" y="0"/>
                    <a:pt x="11066996" y="36006"/>
                    <a:pt x="11066996" y="80509"/>
                  </a:cubicBezTo>
                  <a:lnTo>
                    <a:pt x="11066996" y="3539196"/>
                  </a:lnTo>
                  <a:cubicBezTo>
                    <a:pt x="11066996" y="3583629"/>
                    <a:pt x="10924818" y="3619745"/>
                    <a:pt x="10748962" y="3619745"/>
                  </a:cubicBezTo>
                  <a:lnTo>
                    <a:pt x="318137" y="3619745"/>
                  </a:lnTo>
                  <a:cubicBezTo>
                    <a:pt x="142281" y="3619636"/>
                    <a:pt x="0" y="3583629"/>
                    <a:pt x="0" y="3539196"/>
                  </a:cubicBezTo>
                  <a:close/>
                </a:path>
              </a:pathLst>
            </a:custGeom>
            <a:solidFill>
              <a:srgbClr val="F1D9E1"/>
            </a:solidFill>
            <a:ln w="12700" cap="sq">
              <a:solidFill>
                <a:srgbClr val="F1D9E1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46127" y="3808316"/>
            <a:ext cx="4086899" cy="822960"/>
            <a:chOff x="0" y="0"/>
            <a:chExt cx="5449199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49199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49199">
                  <a:moveTo>
                    <a:pt x="0" y="0"/>
                  </a:moveTo>
                  <a:lnTo>
                    <a:pt x="5449199" y="0"/>
                  </a:lnTo>
                  <a:lnTo>
                    <a:pt x="544919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33" r="22250" b="-2523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449199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C</a:t>
              </a:r>
              <a:r>
                <a:rPr lang="en-US" sz="3099" b="true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ore Domain Scope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35440" y="3808316"/>
            <a:ext cx="4723849" cy="822960"/>
            <a:chOff x="0" y="0"/>
            <a:chExt cx="6298465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98465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98465">
                  <a:moveTo>
                    <a:pt x="0" y="0"/>
                  </a:moveTo>
                  <a:lnTo>
                    <a:pt x="6298465" y="0"/>
                  </a:lnTo>
                  <a:lnTo>
                    <a:pt x="6298465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33" r="32734" b="-2523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298465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719"/>
                </a:lnSpc>
                <a:spcBef>
                  <a:spcPct val="0"/>
                </a:spcBef>
              </a:pPr>
              <a:r>
                <a:rPr lang="en-US" b="true" sz="3099" strike="noStrike" u="none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The Sim-to-Real Gap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6716083"/>
            <a:ext cx="4495167" cy="822960"/>
            <a:chOff x="0" y="0"/>
            <a:chExt cx="5993555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93555" cy="1097280"/>
            </a:xfrm>
            <a:custGeom>
              <a:avLst/>
              <a:gdLst/>
              <a:ahLst/>
              <a:cxnLst/>
              <a:rect r="r" b="b" t="t" l="l"/>
              <a:pathLst>
                <a:path h="1097280" w="5993555">
                  <a:moveTo>
                    <a:pt x="0" y="0"/>
                  </a:moveTo>
                  <a:lnTo>
                    <a:pt x="5993555" y="0"/>
                  </a:lnTo>
                  <a:lnTo>
                    <a:pt x="5993555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33" r="29312" b="-2523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993555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719"/>
                </a:lnSpc>
                <a:spcBef>
                  <a:spcPct val="0"/>
                </a:spcBef>
              </a:pPr>
              <a:r>
                <a:rPr lang="en-US" b="true" sz="3099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 </a:t>
              </a:r>
              <a:r>
                <a:rPr lang="en-US" b="true" sz="3099" strike="noStrike" u="none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Dynamic Environments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29452" y="6716083"/>
            <a:ext cx="4135825" cy="822960"/>
            <a:chOff x="0" y="0"/>
            <a:chExt cx="5514433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14433" cy="1097280"/>
            </a:xfrm>
            <a:custGeom>
              <a:avLst/>
              <a:gdLst/>
              <a:ahLst/>
              <a:cxnLst/>
              <a:rect r="r" b="b" t="t" l="l"/>
              <a:pathLst>
                <a:path h="1097280" w="5514433">
                  <a:moveTo>
                    <a:pt x="0" y="0"/>
                  </a:moveTo>
                  <a:lnTo>
                    <a:pt x="5514433" y="0"/>
                  </a:lnTo>
                  <a:lnTo>
                    <a:pt x="5514433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33" r="23170" b="-2523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5514433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Bi</a:t>
              </a:r>
              <a:r>
                <a:rPr lang="en-US" sz="2899" b="true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o-Inspired Solution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8700" y="4198915"/>
            <a:ext cx="7738298" cy="2103120"/>
            <a:chOff x="0" y="0"/>
            <a:chExt cx="10317731" cy="2804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17731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317731">
                  <a:moveTo>
                    <a:pt x="0" y="0"/>
                  </a:moveTo>
                  <a:lnTo>
                    <a:pt x="10317731" y="0"/>
                  </a:lnTo>
                  <a:lnTo>
                    <a:pt x="10317731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930" t="0" r="4518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0317731" cy="2861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743"/>
                </a:lnSpc>
              </a:pPr>
              <a:r>
                <a:rPr lang="en-US" sz="25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Autonomous navigation via multi-objective RL + bio-inspired cognition.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704570" y="4532861"/>
            <a:ext cx="7684372" cy="44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43"/>
              </a:lnSpc>
              <a:spcBef>
                <a:spcPct val="0"/>
              </a:spcBef>
            </a:pPr>
            <a:r>
              <a:rPr lang="en-US" b="true" sz="2599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eterministic simulators 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.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noisy 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real 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sensors.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" y="7461677"/>
            <a:ext cx="7738298" cy="91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43"/>
              </a:lnSpc>
              <a:spcBef>
                <a:spcPct val="0"/>
              </a:spcBef>
            </a:pPr>
            <a:r>
              <a:rPr lang="en-US" b="true" sz="2599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ontinuous traffic, unpredictable drivers, rigid signal phases.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704570" y="7437504"/>
            <a:ext cx="7683637" cy="91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43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Hippocampal mapping 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+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Basal Ganglia gating 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=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stable decision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</a:t>
            </a:r>
            <a:r>
              <a:rPr lang="en-US" b="true" sz="25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002" y="9239085"/>
            <a:ext cx="3657600" cy="742503"/>
            <a:chOff x="0" y="0"/>
            <a:chExt cx="4876800" cy="990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6" id="6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46" t="0" r="-134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8" id="8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46" t="0" r="-13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6913" y="3733089"/>
            <a:ext cx="3830317" cy="5660568"/>
            <a:chOff x="0" y="0"/>
            <a:chExt cx="5107089" cy="75474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07178" cy="7547513"/>
            </a:xfrm>
            <a:custGeom>
              <a:avLst/>
              <a:gdLst/>
              <a:ahLst/>
              <a:cxnLst/>
              <a:rect r="r" b="b" t="t" l="l"/>
              <a:pathLst>
                <a:path h="7547513" w="5107178">
                  <a:moveTo>
                    <a:pt x="0" y="167871"/>
                  </a:moveTo>
                  <a:cubicBezTo>
                    <a:pt x="0" y="75077"/>
                    <a:pt x="65659" y="0"/>
                    <a:pt x="146812" y="0"/>
                  </a:cubicBezTo>
                  <a:lnTo>
                    <a:pt x="4960366" y="0"/>
                  </a:lnTo>
                  <a:cubicBezTo>
                    <a:pt x="5041392" y="0"/>
                    <a:pt x="5107178" y="75077"/>
                    <a:pt x="5107178" y="167871"/>
                  </a:cubicBezTo>
                  <a:lnTo>
                    <a:pt x="5107178" y="7379654"/>
                  </a:lnTo>
                  <a:cubicBezTo>
                    <a:pt x="5107178" y="7472303"/>
                    <a:pt x="5041519" y="7547513"/>
                    <a:pt x="4960366" y="7547513"/>
                  </a:cubicBezTo>
                  <a:lnTo>
                    <a:pt x="146812" y="7547513"/>
                  </a:lnTo>
                  <a:cubicBezTo>
                    <a:pt x="65659" y="7547380"/>
                    <a:pt x="0" y="7472303"/>
                    <a:pt x="0" y="7379654"/>
                  </a:cubicBezTo>
                  <a:close/>
                </a:path>
              </a:pathLst>
            </a:custGeom>
            <a:solidFill>
              <a:srgbClr val="FBEFF2"/>
            </a:solidFill>
            <a:ln w="12700" cap="sq">
              <a:solidFill>
                <a:srgbClr val="F1D9E1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307" y="5476802"/>
            <a:ext cx="3177540" cy="1027302"/>
            <a:chOff x="0" y="0"/>
            <a:chExt cx="4236720" cy="1369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36720" cy="1369736"/>
            </a:xfrm>
            <a:custGeom>
              <a:avLst/>
              <a:gdLst/>
              <a:ahLst/>
              <a:cxnLst/>
              <a:rect r="r" b="b" t="t" l="l"/>
              <a:pathLst>
                <a:path h="136973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1369736"/>
                  </a:lnTo>
                  <a:lnTo>
                    <a:pt x="0" y="1369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214" r="0" b="-32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236720" cy="1360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Poor Sample Efficiency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3307" y="6637454"/>
            <a:ext cx="3291835" cy="2292349"/>
            <a:chOff x="0" y="0"/>
            <a:chExt cx="4389114" cy="30564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13" cy="3056466"/>
            </a:xfrm>
            <a:custGeom>
              <a:avLst/>
              <a:gdLst/>
              <a:ahLst/>
              <a:cxnLst/>
              <a:rect r="r" b="b" t="t" l="l"/>
              <a:pathLst>
                <a:path h="3056466" w="4389113">
                  <a:moveTo>
                    <a:pt x="0" y="0"/>
                  </a:moveTo>
                  <a:lnTo>
                    <a:pt x="4389113" y="0"/>
                  </a:lnTo>
                  <a:lnTo>
                    <a:pt x="4389113" y="3056466"/>
                  </a:lnTo>
                  <a:lnTo>
                    <a:pt x="0" y="30564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096" t="0" r="-28846" b="82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389114" cy="3104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2B2B2E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Raw coordinate inputs slow convergence and require excessive training episodes.</a:t>
              </a:r>
            </a:p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91733" y="3733089"/>
            <a:ext cx="3830317" cy="5660568"/>
            <a:chOff x="0" y="0"/>
            <a:chExt cx="5107089" cy="75474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07178" cy="7547513"/>
            </a:xfrm>
            <a:custGeom>
              <a:avLst/>
              <a:gdLst/>
              <a:ahLst/>
              <a:cxnLst/>
              <a:rect r="r" b="b" t="t" l="l"/>
              <a:pathLst>
                <a:path h="7547513" w="5107178">
                  <a:moveTo>
                    <a:pt x="0" y="167871"/>
                  </a:moveTo>
                  <a:cubicBezTo>
                    <a:pt x="0" y="75077"/>
                    <a:pt x="65659" y="0"/>
                    <a:pt x="146812" y="0"/>
                  </a:cubicBezTo>
                  <a:lnTo>
                    <a:pt x="4960366" y="0"/>
                  </a:lnTo>
                  <a:cubicBezTo>
                    <a:pt x="5041392" y="0"/>
                    <a:pt x="5107178" y="75077"/>
                    <a:pt x="5107178" y="167871"/>
                  </a:cubicBezTo>
                  <a:lnTo>
                    <a:pt x="5107178" y="7379654"/>
                  </a:lnTo>
                  <a:cubicBezTo>
                    <a:pt x="5107178" y="7472303"/>
                    <a:pt x="5041519" y="7547513"/>
                    <a:pt x="4960366" y="7547513"/>
                  </a:cubicBezTo>
                  <a:lnTo>
                    <a:pt x="146812" y="7547513"/>
                  </a:lnTo>
                  <a:cubicBezTo>
                    <a:pt x="65659" y="7547380"/>
                    <a:pt x="0" y="7472303"/>
                    <a:pt x="0" y="7379654"/>
                  </a:cubicBezTo>
                  <a:close/>
                </a:path>
              </a:pathLst>
            </a:custGeom>
            <a:solidFill>
              <a:srgbClr val="FBEFF2"/>
            </a:solidFill>
            <a:ln w="12700" cap="sq">
              <a:solidFill>
                <a:srgbClr val="F1D9E1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028267" y="4083953"/>
            <a:ext cx="1665819" cy="1277866"/>
            <a:chOff x="0" y="0"/>
            <a:chExt cx="3820694" cy="29308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20694" cy="2930892"/>
            </a:xfrm>
            <a:custGeom>
              <a:avLst/>
              <a:gdLst/>
              <a:ahLst/>
              <a:cxnLst/>
              <a:rect r="r" b="b" t="t" l="l"/>
              <a:pathLst>
                <a:path h="2930892" w="3820694">
                  <a:moveTo>
                    <a:pt x="0" y="0"/>
                  </a:moveTo>
                  <a:lnTo>
                    <a:pt x="3820694" y="0"/>
                  </a:lnTo>
                  <a:lnTo>
                    <a:pt x="3820694" y="2930892"/>
                  </a:lnTo>
                  <a:lnTo>
                    <a:pt x="0" y="2930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66" r="0" b="-116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318127" y="5476802"/>
            <a:ext cx="3177540" cy="1027302"/>
            <a:chOff x="0" y="0"/>
            <a:chExt cx="4236720" cy="13697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6720" cy="1369736"/>
            </a:xfrm>
            <a:custGeom>
              <a:avLst/>
              <a:gdLst/>
              <a:ahLst/>
              <a:cxnLst/>
              <a:rect r="r" b="b" t="t" l="l"/>
              <a:pathLst>
                <a:path h="136973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1369736"/>
                  </a:lnTo>
                  <a:lnTo>
                    <a:pt x="0" y="1369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214" r="0" b="-32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4236720" cy="1360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Structural Instability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18127" y="6637454"/>
            <a:ext cx="3086100" cy="2292349"/>
            <a:chOff x="0" y="0"/>
            <a:chExt cx="4114800" cy="30564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14800" cy="3056466"/>
            </a:xfrm>
            <a:custGeom>
              <a:avLst/>
              <a:gdLst/>
              <a:ahLst/>
              <a:cxnLst/>
              <a:rect r="r" b="b" t="t" l="l"/>
              <a:pathLst>
                <a:path h="305646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3056466"/>
                  </a:lnTo>
                  <a:lnTo>
                    <a:pt x="0" y="30564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436" t="0" r="-37436" b="82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114800" cy="3104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2B2B2E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Ac</a:t>
              </a:r>
              <a:r>
                <a:rPr lang="en-US" sz="2499">
                  <a:solidFill>
                    <a:srgbClr val="2B2B2E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tion outputs become unstable in high-density, high-traffic conditions.</a:t>
              </a:r>
            </a:p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69725" y="3733925"/>
            <a:ext cx="3830317" cy="5660568"/>
            <a:chOff x="0" y="0"/>
            <a:chExt cx="5107089" cy="75474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07178" cy="7547513"/>
            </a:xfrm>
            <a:custGeom>
              <a:avLst/>
              <a:gdLst/>
              <a:ahLst/>
              <a:cxnLst/>
              <a:rect r="r" b="b" t="t" l="l"/>
              <a:pathLst>
                <a:path h="7547513" w="5107178">
                  <a:moveTo>
                    <a:pt x="0" y="167871"/>
                  </a:moveTo>
                  <a:cubicBezTo>
                    <a:pt x="0" y="75077"/>
                    <a:pt x="65659" y="0"/>
                    <a:pt x="146812" y="0"/>
                  </a:cubicBezTo>
                  <a:lnTo>
                    <a:pt x="4960366" y="0"/>
                  </a:lnTo>
                  <a:cubicBezTo>
                    <a:pt x="5041392" y="0"/>
                    <a:pt x="5107178" y="75077"/>
                    <a:pt x="5107178" y="167871"/>
                  </a:cubicBezTo>
                  <a:lnTo>
                    <a:pt x="5107178" y="7379654"/>
                  </a:lnTo>
                  <a:cubicBezTo>
                    <a:pt x="5107178" y="7472303"/>
                    <a:pt x="5041519" y="7547513"/>
                    <a:pt x="4960366" y="7547513"/>
                  </a:cubicBezTo>
                  <a:lnTo>
                    <a:pt x="146812" y="7547513"/>
                  </a:lnTo>
                  <a:cubicBezTo>
                    <a:pt x="65659" y="7547380"/>
                    <a:pt x="0" y="7472303"/>
                    <a:pt x="0" y="7379654"/>
                  </a:cubicBezTo>
                  <a:close/>
                </a:path>
              </a:pathLst>
            </a:custGeom>
            <a:solidFill>
              <a:srgbClr val="FBEFF2"/>
            </a:solidFill>
            <a:ln w="12700" cap="sq">
              <a:solidFill>
                <a:srgbClr val="F1D9E1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601559" y="4361672"/>
            <a:ext cx="936851" cy="1000148"/>
            <a:chOff x="0" y="0"/>
            <a:chExt cx="1525122" cy="16281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5122" cy="1628164"/>
            </a:xfrm>
            <a:custGeom>
              <a:avLst/>
              <a:gdLst/>
              <a:ahLst/>
              <a:cxnLst/>
              <a:rect r="r" b="b" t="t" l="l"/>
              <a:pathLst>
                <a:path h="1628164" w="1525122">
                  <a:moveTo>
                    <a:pt x="0" y="0"/>
                  </a:moveTo>
                  <a:lnTo>
                    <a:pt x="1525122" y="0"/>
                  </a:lnTo>
                  <a:lnTo>
                    <a:pt x="1525122" y="1628164"/>
                  </a:lnTo>
                  <a:lnTo>
                    <a:pt x="0" y="1628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1" r="0" b="-9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92947" y="5476802"/>
            <a:ext cx="3177540" cy="1027302"/>
            <a:chOff x="0" y="0"/>
            <a:chExt cx="4236720" cy="13697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36720" cy="1369736"/>
            </a:xfrm>
            <a:custGeom>
              <a:avLst/>
              <a:gdLst/>
              <a:ahLst/>
              <a:cxnLst/>
              <a:rect r="r" b="b" t="t" l="l"/>
              <a:pathLst>
                <a:path h="136973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1369736"/>
                  </a:lnTo>
                  <a:lnTo>
                    <a:pt x="0" y="1369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214" r="0" b="-32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4236720" cy="1360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Black-Box Behaviour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38667" y="6637454"/>
            <a:ext cx="3086100" cy="2292349"/>
            <a:chOff x="0" y="0"/>
            <a:chExt cx="4114800" cy="30564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14800" cy="3056466"/>
            </a:xfrm>
            <a:custGeom>
              <a:avLst/>
              <a:gdLst/>
              <a:ahLst/>
              <a:cxnLst/>
              <a:rect r="r" b="b" t="t" l="l"/>
              <a:pathLst>
                <a:path h="305646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3056466"/>
                  </a:lnTo>
                  <a:lnTo>
                    <a:pt x="0" y="30564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436" t="0" r="-37436" b="825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114800" cy="3104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2B2B2E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L</a:t>
              </a:r>
              <a:r>
                <a:rPr lang="en-US" sz="2499">
                  <a:solidFill>
                    <a:srgbClr val="2B2B2E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ow interpretability of the policy's decision-making process.</a:t>
              </a:r>
            </a:p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541373" y="3733089"/>
            <a:ext cx="3830317" cy="5660568"/>
            <a:chOff x="0" y="0"/>
            <a:chExt cx="5107089" cy="75474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07178" cy="7547513"/>
            </a:xfrm>
            <a:custGeom>
              <a:avLst/>
              <a:gdLst/>
              <a:ahLst/>
              <a:cxnLst/>
              <a:rect r="r" b="b" t="t" l="l"/>
              <a:pathLst>
                <a:path h="7547513" w="5107178">
                  <a:moveTo>
                    <a:pt x="0" y="167871"/>
                  </a:moveTo>
                  <a:cubicBezTo>
                    <a:pt x="0" y="75077"/>
                    <a:pt x="65659" y="0"/>
                    <a:pt x="146812" y="0"/>
                  </a:cubicBezTo>
                  <a:lnTo>
                    <a:pt x="4960366" y="0"/>
                  </a:lnTo>
                  <a:cubicBezTo>
                    <a:pt x="5041392" y="0"/>
                    <a:pt x="5107178" y="75077"/>
                    <a:pt x="5107178" y="167871"/>
                  </a:cubicBezTo>
                  <a:lnTo>
                    <a:pt x="5107178" y="7379654"/>
                  </a:lnTo>
                  <a:cubicBezTo>
                    <a:pt x="5107178" y="7472303"/>
                    <a:pt x="5041519" y="7547513"/>
                    <a:pt x="4960366" y="7547513"/>
                  </a:cubicBezTo>
                  <a:lnTo>
                    <a:pt x="146812" y="7547513"/>
                  </a:lnTo>
                  <a:cubicBezTo>
                    <a:pt x="65659" y="7547380"/>
                    <a:pt x="0" y="7472303"/>
                    <a:pt x="0" y="7379654"/>
                  </a:cubicBezTo>
                  <a:close/>
                </a:path>
              </a:pathLst>
            </a:custGeom>
            <a:solidFill>
              <a:srgbClr val="FBEFF2"/>
            </a:solidFill>
            <a:ln w="12700" cap="sq">
              <a:solidFill>
                <a:srgbClr val="F1D9E1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6301661" y="9455874"/>
            <a:ext cx="1915278" cy="431686"/>
            <a:chOff x="0" y="0"/>
            <a:chExt cx="7805966" cy="175939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03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953617" y="4361672"/>
            <a:ext cx="1005840" cy="1005840"/>
            <a:chOff x="0" y="0"/>
            <a:chExt cx="1341120" cy="1341120"/>
          </a:xfrm>
        </p:grpSpPr>
        <p:sp>
          <p:nvSpPr>
            <p:cNvPr name="Freeform 42" id="42" descr="/home/claude/assets/icon_compare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867767" y="5476802"/>
            <a:ext cx="3177540" cy="1027302"/>
            <a:chOff x="0" y="0"/>
            <a:chExt cx="4236720" cy="1369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36720" cy="1369736"/>
            </a:xfrm>
            <a:custGeom>
              <a:avLst/>
              <a:gdLst/>
              <a:ahLst/>
              <a:cxnLst/>
              <a:rect r="r" b="b" t="t" l="l"/>
              <a:pathLst>
                <a:path h="1369736" w="4236720">
                  <a:moveTo>
                    <a:pt x="0" y="0"/>
                  </a:moveTo>
                  <a:lnTo>
                    <a:pt x="4236720" y="0"/>
                  </a:lnTo>
                  <a:lnTo>
                    <a:pt x="4236720" y="1369736"/>
                  </a:lnTo>
                  <a:lnTo>
                    <a:pt x="0" y="1369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214" r="0" b="-32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4236720" cy="1360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7A0E38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Poor Generalization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919192" y="6637454"/>
            <a:ext cx="3086100" cy="2292349"/>
            <a:chOff x="0" y="0"/>
            <a:chExt cx="4114800" cy="305646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14800" cy="3056466"/>
            </a:xfrm>
            <a:custGeom>
              <a:avLst/>
              <a:gdLst/>
              <a:ahLst/>
              <a:cxnLst/>
              <a:rect r="r" b="b" t="t" l="l"/>
              <a:pathLst>
                <a:path h="305646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3056466"/>
                  </a:lnTo>
                  <a:lnTo>
                    <a:pt x="0" y="30564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436" t="0" r="-37436" b="825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4114800" cy="3104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2B2B2E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Perf</a:t>
              </a:r>
              <a:r>
                <a:rPr lang="en-US" sz="2499">
                  <a:solidFill>
                    <a:srgbClr val="2B2B2E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ormance degrades across different junction and road geometries.</a:t>
              </a:r>
            </a:p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2015535" y="4106349"/>
            <a:ext cx="1233075" cy="1233075"/>
          </a:xfrm>
          <a:custGeom>
            <a:avLst/>
            <a:gdLst/>
            <a:ahLst/>
            <a:cxnLst/>
            <a:rect r="r" b="b" t="t" l="l"/>
            <a:pathLst>
              <a:path h="1233075" w="1233075">
                <a:moveTo>
                  <a:pt x="0" y="0"/>
                </a:moveTo>
                <a:lnTo>
                  <a:pt x="1233074" y="0"/>
                </a:lnTo>
                <a:lnTo>
                  <a:pt x="1233074" y="1233075"/>
                </a:lnTo>
                <a:lnTo>
                  <a:pt x="0" y="12330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1552698" y="4686250"/>
            <a:ext cx="816348" cy="228578"/>
          </a:xfrm>
          <a:custGeom>
            <a:avLst/>
            <a:gdLst/>
            <a:ahLst/>
            <a:cxnLst/>
            <a:rect r="r" b="b" t="t" l="l"/>
            <a:pathLst>
              <a:path h="228578" w="816348">
                <a:moveTo>
                  <a:pt x="0" y="0"/>
                </a:moveTo>
                <a:lnTo>
                  <a:pt x="816348" y="0"/>
                </a:lnTo>
                <a:lnTo>
                  <a:pt x="816348" y="228577"/>
                </a:lnTo>
                <a:lnTo>
                  <a:pt x="0" y="2285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758557" y="4686250"/>
            <a:ext cx="816348" cy="228578"/>
          </a:xfrm>
          <a:custGeom>
            <a:avLst/>
            <a:gdLst/>
            <a:ahLst/>
            <a:cxnLst/>
            <a:rect r="r" b="b" t="t" l="l"/>
            <a:pathLst>
              <a:path h="228578" w="816348">
                <a:moveTo>
                  <a:pt x="0" y="0"/>
                </a:moveTo>
                <a:lnTo>
                  <a:pt x="816348" y="0"/>
                </a:lnTo>
                <a:lnTo>
                  <a:pt x="816348" y="228577"/>
                </a:lnTo>
                <a:lnTo>
                  <a:pt x="0" y="2285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0946390" y="4838924"/>
            <a:ext cx="247189" cy="389274"/>
          </a:xfrm>
          <a:custGeom>
            <a:avLst/>
            <a:gdLst/>
            <a:ahLst/>
            <a:cxnLst/>
            <a:rect r="r" b="b" t="t" l="l"/>
            <a:pathLst>
              <a:path h="389274" w="247189">
                <a:moveTo>
                  <a:pt x="0" y="0"/>
                </a:moveTo>
                <a:lnTo>
                  <a:pt x="247189" y="0"/>
                </a:lnTo>
                <a:lnTo>
                  <a:pt x="247189" y="389274"/>
                </a:lnTo>
                <a:lnTo>
                  <a:pt x="0" y="3892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9453991" y="4510311"/>
            <a:ext cx="27791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5A0A2B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In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383334" y="4505447"/>
            <a:ext cx="57497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5A0A2B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Out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723262" y="1819996"/>
            <a:ext cx="16642080" cy="1669288"/>
            <a:chOff x="0" y="0"/>
            <a:chExt cx="22189440" cy="222571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189439" cy="2225717"/>
            </a:xfrm>
            <a:custGeom>
              <a:avLst/>
              <a:gdLst/>
              <a:ahLst/>
              <a:cxnLst/>
              <a:rect r="r" b="b" t="t" l="l"/>
              <a:pathLst>
                <a:path h="2225717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225717"/>
                  </a:lnTo>
                  <a:lnTo>
                    <a:pt x="0" y="22257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29" r="0" b="-12438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22189440" cy="2301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49"/>
                </a:lnSpc>
              </a:pPr>
              <a:r>
                <a:rPr lang="en-US" sz="2899" b="true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Un-signalized and signalized roundabouts, and congested merging ramps, remain one of the hardest environments for autonomous navigation. Traditional Deep RL agents ingest raw, high-dimensional coordinate data — and that choice alone creates four compounding problems: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46127" y="812857"/>
            <a:ext cx="16642080" cy="1005840"/>
            <a:chOff x="0" y="0"/>
            <a:chExt cx="22189440" cy="1341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218944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Why Roundabouts Break Conventional RL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46127" y="299172"/>
            <a:ext cx="9144000" cy="873124"/>
            <a:chOff x="0" y="0"/>
            <a:chExt cx="12192000" cy="116416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192000" cy="1164165"/>
            </a:xfrm>
            <a:custGeom>
              <a:avLst/>
              <a:gdLst/>
              <a:ahLst/>
              <a:cxnLst/>
              <a:rect r="r" b="b" t="t" l="l"/>
              <a:pathLst>
                <a:path h="116416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164165"/>
                  </a:lnTo>
                  <a:lnTo>
                    <a:pt x="0" y="11641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879" r="0" b="-13024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2192000" cy="116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 spc="293" strike="noStrike" u="non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PROBLEM STATEMENT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3" id="3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46" t="0" r="-134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5" id="5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46" t="0" r="-134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090" y="396849"/>
            <a:ext cx="8252922" cy="817880"/>
            <a:chOff x="0" y="0"/>
            <a:chExt cx="18053137" cy="178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53137" cy="1789100"/>
            </a:xfrm>
            <a:custGeom>
              <a:avLst/>
              <a:gdLst/>
              <a:ahLst/>
              <a:cxnLst/>
              <a:rect r="r" b="b" t="t" l="l"/>
              <a:pathLst>
                <a:path h="1789100" w="18053137">
                  <a:moveTo>
                    <a:pt x="0" y="0"/>
                  </a:moveTo>
                  <a:lnTo>
                    <a:pt x="18053137" y="0"/>
                  </a:lnTo>
                  <a:lnTo>
                    <a:pt x="18053137" y="1789100"/>
                  </a:lnTo>
                  <a:lnTo>
                    <a:pt x="0" y="1789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562" r="5452" b="-10122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8053137" cy="178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800"/>
                </a:lnSpc>
                <a:spcBef>
                  <a:spcPct val="0"/>
                </a:spcBef>
              </a:pP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Literature Review</a:t>
              </a:r>
            </a:p>
          </p:txBody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36090" y="1214729"/>
          <a:ext cx="17632940" cy="8321827"/>
        </p:xfrm>
        <a:graphic>
          <a:graphicData uri="http://schemas.openxmlformats.org/drawingml/2006/table">
            <a:tbl>
              <a:tblPr/>
              <a:tblGrid>
                <a:gridCol w="2306562"/>
                <a:gridCol w="4639553"/>
                <a:gridCol w="3150442"/>
                <a:gridCol w="2201387"/>
                <a:gridCol w="2271310"/>
                <a:gridCol w="3063686"/>
              </a:tblGrid>
              <a:tr h="75566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33" strike="noStrike" u="non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Author &amp; Year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5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33" strike="noStrike" u="non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Paper Title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5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33" strike="noStrike" u="non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Methodology &amp; Summary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5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33" strike="noStrike" u="non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Our Proposed Novelty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5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33" strike="noStrike" u="non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Environment Handling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5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33" strike="noStrike" u="non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Identified Limitations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548"/>
                    </a:solidFill>
                  </a:tcPr>
                </a:tc>
              </a:tr>
              <a:tr h="14443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Y. Liao et al. (2026)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 brain-inspired framework integrating Entorhinal-HippocampalPrefrontal circuits for adaptive navigation in mobile robots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B</a:t>
                      </a: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io-inspired nav framework maps environments with spatial memory.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Replay Buffer: Stabilizes spatial awareness; breaks temporal noise.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High (Obstacles)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Spatial mapping is very sensitive to continuous sensor noise.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</a:tr>
              <a:tr h="14443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D. Pedamonti et al. (2025)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Hippocampus supports multi-task reinforcement learning under partial observability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</a:t>
                      </a: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imulated Hippocampus enables RL agents to solve hidden-data tasks.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5-D Gaussian RBF Encoder: Continuous, multi-dim topological state.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Partially observable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Struggles to balance multiple objectives (e.g., speed vs. safety) safely.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871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Z. Lin et al. (2026)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Hierarchical Multi-Agent MCTS for Safety-Critical Coordination in Mixed-Autonomy Roundabouts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MCTS uses heuristic rollouts to predict and evaluate multi-agent trajectories for safe roundabout navigation.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Basal Ganglia Gating: Replaces tree-search with rapid action arbitration (SAC).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High (Mixed-autonomy roundabouts)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Dense traffic causes severe latency due to exponential heuristic search tree expansion.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</a:tr>
              <a:tr h="14443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J. Jin et al. (2026)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Hybrid action space approach to traffic signal optimization using deep RL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O</a:t>
                      </a: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ptimizes vehicle speed and traffic signal interaction via combined action spaces.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Signal-Aware SAC Agent: Directly feeds traffic light states into observation vector.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Signalized intersections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6"/>
                        </a:lnSpc>
                        <a:defRPr/>
                      </a:pPr>
                      <a:r>
                        <a:rPr lang="en-US" sz="1933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Slow to adapt to sudden, real-time signal changes in chaotic traffic.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436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J. Choi &amp; S. Kim (2025)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Predictive Risk-Aware Reinforcement Learning for Autonomous Vehicles Using Safety Potential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Risk-aware RL repels ego vehicles from hazards using artificial potential fields.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Adaptive fields are integrated into the composite reward for dynamic safety.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Standard highway driving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33" strike="noStrike" u="none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Fixed safety limits paralyze dense, dynamic intersections.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0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F5"/>
                    </a:solidFill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16814378" y="9577096"/>
            <a:ext cx="1473622" cy="332141"/>
            <a:chOff x="0" y="0"/>
            <a:chExt cx="7805966" cy="17593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0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2002" y="9239085"/>
            <a:ext cx="3657600" cy="742503"/>
            <a:chOff x="0" y="0"/>
            <a:chExt cx="4876800" cy="9900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2010" y="890270"/>
            <a:ext cx="16642080" cy="1005840"/>
            <a:chOff x="0" y="0"/>
            <a:chExt cx="2218944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18944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800"/>
                </a:lnSpc>
                <a:spcBef>
                  <a:spcPct val="0"/>
                </a:spcBef>
              </a:pP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Identified Research Gaps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3132" y="6630449"/>
            <a:ext cx="16872553" cy="1733253"/>
            <a:chOff x="0" y="0"/>
            <a:chExt cx="2517117" cy="2585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17117" cy="258574"/>
            </a:xfrm>
            <a:custGeom>
              <a:avLst/>
              <a:gdLst/>
              <a:ahLst/>
              <a:cxnLst/>
              <a:rect r="r" b="b" t="t" l="l"/>
              <a:pathLst>
                <a:path h="258574" w="2517117">
                  <a:moveTo>
                    <a:pt x="2517117" y="15601"/>
                  </a:moveTo>
                  <a:lnTo>
                    <a:pt x="2517117" y="242973"/>
                  </a:lnTo>
                  <a:cubicBezTo>
                    <a:pt x="2517117" y="251589"/>
                    <a:pt x="2510133" y="258574"/>
                    <a:pt x="2501517" y="258574"/>
                  </a:cubicBezTo>
                  <a:lnTo>
                    <a:pt x="15601" y="258574"/>
                  </a:lnTo>
                  <a:cubicBezTo>
                    <a:pt x="11463" y="258574"/>
                    <a:pt x="7495" y="256930"/>
                    <a:pt x="4569" y="254005"/>
                  </a:cubicBezTo>
                  <a:cubicBezTo>
                    <a:pt x="1644" y="251079"/>
                    <a:pt x="0" y="247111"/>
                    <a:pt x="0" y="242973"/>
                  </a:cubicBezTo>
                  <a:lnTo>
                    <a:pt x="0" y="15601"/>
                  </a:lnTo>
                  <a:cubicBezTo>
                    <a:pt x="0" y="6985"/>
                    <a:pt x="6985" y="0"/>
                    <a:pt x="15601" y="0"/>
                  </a:cubicBezTo>
                  <a:lnTo>
                    <a:pt x="2501517" y="0"/>
                  </a:lnTo>
                  <a:cubicBezTo>
                    <a:pt x="2505654" y="0"/>
                    <a:pt x="2509622" y="1644"/>
                    <a:pt x="2512548" y="4569"/>
                  </a:cubicBezTo>
                  <a:cubicBezTo>
                    <a:pt x="2515474" y="7495"/>
                    <a:pt x="2517117" y="11463"/>
                    <a:pt x="2517117" y="15601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517117" cy="287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3132" y="4382846"/>
            <a:ext cx="16872553" cy="1733253"/>
            <a:chOff x="0" y="0"/>
            <a:chExt cx="2517117" cy="2585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7117" cy="258574"/>
            </a:xfrm>
            <a:custGeom>
              <a:avLst/>
              <a:gdLst/>
              <a:ahLst/>
              <a:cxnLst/>
              <a:rect r="r" b="b" t="t" l="l"/>
              <a:pathLst>
                <a:path h="258574" w="2517117">
                  <a:moveTo>
                    <a:pt x="2517117" y="15601"/>
                  </a:moveTo>
                  <a:lnTo>
                    <a:pt x="2517117" y="242973"/>
                  </a:lnTo>
                  <a:cubicBezTo>
                    <a:pt x="2517117" y="251589"/>
                    <a:pt x="2510133" y="258574"/>
                    <a:pt x="2501517" y="258574"/>
                  </a:cubicBezTo>
                  <a:lnTo>
                    <a:pt x="15601" y="258574"/>
                  </a:lnTo>
                  <a:cubicBezTo>
                    <a:pt x="11463" y="258574"/>
                    <a:pt x="7495" y="256930"/>
                    <a:pt x="4569" y="254005"/>
                  </a:cubicBezTo>
                  <a:cubicBezTo>
                    <a:pt x="1644" y="251079"/>
                    <a:pt x="0" y="247111"/>
                    <a:pt x="0" y="242973"/>
                  </a:cubicBezTo>
                  <a:lnTo>
                    <a:pt x="0" y="15601"/>
                  </a:lnTo>
                  <a:cubicBezTo>
                    <a:pt x="0" y="6985"/>
                    <a:pt x="6985" y="0"/>
                    <a:pt x="15601" y="0"/>
                  </a:cubicBezTo>
                  <a:lnTo>
                    <a:pt x="2501517" y="0"/>
                  </a:lnTo>
                  <a:cubicBezTo>
                    <a:pt x="2505654" y="0"/>
                    <a:pt x="2509622" y="1644"/>
                    <a:pt x="2512548" y="4569"/>
                  </a:cubicBezTo>
                  <a:cubicBezTo>
                    <a:pt x="2515474" y="7495"/>
                    <a:pt x="2517117" y="11463"/>
                    <a:pt x="2517117" y="15601"/>
                  </a:cubicBezTo>
                  <a:close/>
                </a:path>
              </a:pathLst>
            </a:custGeom>
            <a:solidFill>
              <a:srgbClr val="5A0A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517117" cy="287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8365" y="2131285"/>
            <a:ext cx="16872553" cy="1733253"/>
            <a:chOff x="0" y="0"/>
            <a:chExt cx="2517117" cy="2585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17117" cy="258574"/>
            </a:xfrm>
            <a:custGeom>
              <a:avLst/>
              <a:gdLst/>
              <a:ahLst/>
              <a:cxnLst/>
              <a:rect r="r" b="b" t="t" l="l"/>
              <a:pathLst>
                <a:path h="258574" w="2517117">
                  <a:moveTo>
                    <a:pt x="2517117" y="15601"/>
                  </a:moveTo>
                  <a:lnTo>
                    <a:pt x="2517117" y="242973"/>
                  </a:lnTo>
                  <a:cubicBezTo>
                    <a:pt x="2517117" y="251589"/>
                    <a:pt x="2510133" y="258574"/>
                    <a:pt x="2501517" y="258574"/>
                  </a:cubicBezTo>
                  <a:lnTo>
                    <a:pt x="15601" y="258574"/>
                  </a:lnTo>
                  <a:cubicBezTo>
                    <a:pt x="11463" y="258574"/>
                    <a:pt x="7495" y="256930"/>
                    <a:pt x="4569" y="254005"/>
                  </a:cubicBezTo>
                  <a:cubicBezTo>
                    <a:pt x="1644" y="251079"/>
                    <a:pt x="0" y="247111"/>
                    <a:pt x="0" y="242973"/>
                  </a:cubicBezTo>
                  <a:lnTo>
                    <a:pt x="0" y="15601"/>
                  </a:lnTo>
                  <a:cubicBezTo>
                    <a:pt x="0" y="6985"/>
                    <a:pt x="6985" y="0"/>
                    <a:pt x="15601" y="0"/>
                  </a:cubicBezTo>
                  <a:lnTo>
                    <a:pt x="2501517" y="0"/>
                  </a:lnTo>
                  <a:cubicBezTo>
                    <a:pt x="2505654" y="0"/>
                    <a:pt x="2509622" y="1644"/>
                    <a:pt x="2512548" y="4569"/>
                  </a:cubicBezTo>
                  <a:cubicBezTo>
                    <a:pt x="2515474" y="7495"/>
                    <a:pt x="2517117" y="11463"/>
                    <a:pt x="2517117" y="15601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517117" cy="287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2658" y="2171944"/>
            <a:ext cx="3825035" cy="962341"/>
            <a:chOff x="0" y="0"/>
            <a:chExt cx="5100047" cy="12831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00047" cy="1283122"/>
            </a:xfrm>
            <a:custGeom>
              <a:avLst/>
              <a:gdLst/>
              <a:ahLst/>
              <a:cxnLst/>
              <a:rect r="r" b="b" t="t" l="l"/>
              <a:pathLst>
                <a:path h="1283122" w="5100047">
                  <a:moveTo>
                    <a:pt x="0" y="0"/>
                  </a:moveTo>
                  <a:lnTo>
                    <a:pt x="5100047" y="0"/>
                  </a:lnTo>
                  <a:lnTo>
                    <a:pt x="5100047" y="1283122"/>
                  </a:lnTo>
                  <a:lnTo>
                    <a:pt x="0" y="12831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04" r="14537" b="-160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100047" cy="1283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9"/>
                </a:lnSpc>
              </a:pPr>
              <a:r>
                <a:rPr lang="en-US" sz="2749" b="tru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Lack </a:t>
              </a:r>
              <a:r>
                <a:rPr lang="en-US" sz="2749" b="tru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of Spatial Context</a:t>
              </a:r>
            </a:p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7268" y="4515095"/>
            <a:ext cx="4583570" cy="962341"/>
            <a:chOff x="0" y="0"/>
            <a:chExt cx="6111427" cy="12831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11427" cy="1283122"/>
            </a:xfrm>
            <a:custGeom>
              <a:avLst/>
              <a:gdLst/>
              <a:ahLst/>
              <a:cxnLst/>
              <a:rect r="r" b="b" t="t" l="l"/>
              <a:pathLst>
                <a:path h="1283122" w="6111427">
                  <a:moveTo>
                    <a:pt x="0" y="0"/>
                  </a:moveTo>
                  <a:lnTo>
                    <a:pt x="6111427" y="0"/>
                  </a:lnTo>
                  <a:lnTo>
                    <a:pt x="6111427" y="1283122"/>
                  </a:lnTo>
                  <a:lnTo>
                    <a:pt x="0" y="12831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04" r="28680" b="-160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111427" cy="1283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Br</a:t>
              </a:r>
              <a:r>
                <a:rPr lang="en-US" sz="2749" b="tru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ittleness Under Sensor Noise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3928" y="6630449"/>
            <a:ext cx="4382495" cy="960120"/>
            <a:chOff x="0" y="0"/>
            <a:chExt cx="5843327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43327" cy="1280160"/>
            </a:xfrm>
            <a:custGeom>
              <a:avLst/>
              <a:gdLst/>
              <a:ahLst/>
              <a:cxnLst/>
              <a:rect r="r" b="b" t="t" l="l"/>
              <a:pathLst>
                <a:path h="1280160" w="5843327">
                  <a:moveTo>
                    <a:pt x="0" y="0"/>
                  </a:moveTo>
                  <a:lnTo>
                    <a:pt x="5843327" y="0"/>
                  </a:lnTo>
                  <a:lnTo>
                    <a:pt x="5843327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1" r="25408" b="-163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5843327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9"/>
                </a:lnSpc>
              </a:pPr>
              <a:r>
                <a:rPr lang="en-US" sz="2749" b="tru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</a:t>
              </a:r>
              <a:r>
                <a:rPr lang="en-US" sz="2749" b="tru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bsence of Action Gating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23717" y="6196302"/>
            <a:ext cx="11385961" cy="2601546"/>
            <a:chOff x="0" y="0"/>
            <a:chExt cx="15181281" cy="34687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181281" cy="3468728"/>
            </a:xfrm>
            <a:custGeom>
              <a:avLst/>
              <a:gdLst/>
              <a:ahLst/>
              <a:cxnLst/>
              <a:rect r="r" b="b" t="t" l="l"/>
              <a:pathLst>
                <a:path h="3468728" w="15181281">
                  <a:moveTo>
                    <a:pt x="0" y="0"/>
                  </a:moveTo>
                  <a:lnTo>
                    <a:pt x="15181281" y="0"/>
                  </a:lnTo>
                  <a:lnTo>
                    <a:pt x="15181281" y="3468728"/>
                  </a:lnTo>
                  <a:lnTo>
                    <a:pt x="0" y="34687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110" t="0" r="49982" b="-2301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5181281" cy="354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Standard robotic action-selection lacks </a:t>
              </a: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the </a:t>
              </a: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hierarchical, brain-like gating mechanisms</a:t>
              </a: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required</a:t>
              </a: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to safely arbitrate between competing maneuvers in high-density traffic.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6193" y="9258300"/>
            <a:ext cx="3657600" cy="1116518"/>
            <a:chOff x="0" y="0"/>
            <a:chExt cx="4876800" cy="14886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76800" cy="1488691"/>
            </a:xfrm>
            <a:custGeom>
              <a:avLst/>
              <a:gdLst/>
              <a:ahLst/>
              <a:cxnLst/>
              <a:rect r="r" b="b" t="t" l="l"/>
              <a:pathLst>
                <a:path h="148869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88691"/>
                  </a:lnTo>
                  <a:lnTo>
                    <a:pt x="0" y="14886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51" r="0" b="1978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876800" cy="1488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6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301661" y="9516427"/>
            <a:ext cx="1915278" cy="431686"/>
            <a:chOff x="0" y="0"/>
            <a:chExt cx="7805966" cy="17593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34307" y="8913120"/>
            <a:ext cx="1483352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Together, these gaps motivate a hippocampus-inspired spatial encoder paired with a basal-ganglia-style gating policy, optimized via maximum-entropy learning.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42010" y="523558"/>
            <a:ext cx="9144000" cy="781303"/>
            <a:chOff x="0" y="0"/>
            <a:chExt cx="12192000" cy="10417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0" cy="1041737"/>
            </a:xfrm>
            <a:custGeom>
              <a:avLst/>
              <a:gdLst/>
              <a:ahLst/>
              <a:cxnLst/>
              <a:rect r="r" b="b" t="t" l="l"/>
              <a:pathLst>
                <a:path h="1041737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41737"/>
                  </a:lnTo>
                  <a:lnTo>
                    <a:pt x="0" y="10417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784" r="0" b="-15730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2192000" cy="1041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 spc="293" strike="noStrike" u="non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RESEARCH GAPS</a:t>
              </a:r>
            </a:p>
            <a:p>
              <a:pPr algn="l" marL="0" indent="0" lvl="0">
                <a:lnSpc>
                  <a:spcPts val="2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36" id="36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38" id="38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623717" y="1489152"/>
            <a:ext cx="10410938" cy="3017520"/>
            <a:chOff x="0" y="0"/>
            <a:chExt cx="10813924" cy="313432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813924" cy="3134322"/>
            </a:xfrm>
            <a:custGeom>
              <a:avLst/>
              <a:gdLst/>
              <a:ahLst/>
              <a:cxnLst/>
              <a:rect r="r" b="b" t="t" l="l"/>
              <a:pathLst>
                <a:path h="3134322" w="10813924">
                  <a:moveTo>
                    <a:pt x="0" y="0"/>
                  </a:moveTo>
                  <a:lnTo>
                    <a:pt x="10813924" y="0"/>
                  </a:lnTo>
                  <a:lnTo>
                    <a:pt x="10813924" y="3134322"/>
                  </a:lnTo>
                  <a:lnTo>
                    <a:pt x="0" y="31343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039" t="0" r="29781" b="-3614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10813924" cy="3210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699" b="tru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RL agents struggle to learn road geometry directly from raw (x, y) coordinates.</a:t>
              </a:r>
            </a:p>
            <a:p>
              <a:pPr algn="l">
                <a:lnSpc>
                  <a:spcPts val="404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623717" y="3649272"/>
            <a:ext cx="11938271" cy="3200400"/>
            <a:chOff x="0" y="0"/>
            <a:chExt cx="15917694" cy="4267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917695" cy="4267200"/>
            </a:xfrm>
            <a:custGeom>
              <a:avLst/>
              <a:gdLst/>
              <a:ahLst/>
              <a:cxnLst/>
              <a:rect r="r" b="b" t="t" l="l"/>
              <a:pathLst>
                <a:path h="4267200" w="15917695">
                  <a:moveTo>
                    <a:pt x="0" y="0"/>
                  </a:moveTo>
                  <a:lnTo>
                    <a:pt x="15917695" y="0"/>
                  </a:lnTo>
                  <a:lnTo>
                    <a:pt x="15917695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87" t="0" r="52296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15917694" cy="434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699" b="tru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Standard on-policy RL agents suffer from catastrophic forgetting and policy collapse when exposed to continuous, real-world sensor inaccuracies.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"/>
            <a:ext cx="16642080" cy="1005840"/>
            <a:chOff x="0" y="0"/>
            <a:chExt cx="2218944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2189440" cy="1331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Core Research Questions </a:t>
              </a: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(RQ1 – RQ3)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03025" y="2034898"/>
            <a:ext cx="5249320" cy="5304770"/>
            <a:chOff x="0" y="0"/>
            <a:chExt cx="783115" cy="7913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3115" cy="791388"/>
            </a:xfrm>
            <a:custGeom>
              <a:avLst/>
              <a:gdLst/>
              <a:ahLst/>
              <a:cxnLst/>
              <a:rect r="r" b="b" t="t" l="l"/>
              <a:pathLst>
                <a:path h="791388" w="783115">
                  <a:moveTo>
                    <a:pt x="783115" y="50145"/>
                  </a:moveTo>
                  <a:lnTo>
                    <a:pt x="783115" y="741243"/>
                  </a:lnTo>
                  <a:cubicBezTo>
                    <a:pt x="783115" y="768937"/>
                    <a:pt x="760665" y="791388"/>
                    <a:pt x="732971" y="791388"/>
                  </a:cubicBezTo>
                  <a:lnTo>
                    <a:pt x="50145" y="791388"/>
                  </a:lnTo>
                  <a:cubicBezTo>
                    <a:pt x="22451" y="791388"/>
                    <a:pt x="0" y="768937"/>
                    <a:pt x="0" y="741243"/>
                  </a:cubicBezTo>
                  <a:lnTo>
                    <a:pt x="0" y="50145"/>
                  </a:lnTo>
                  <a:cubicBezTo>
                    <a:pt x="0" y="22451"/>
                    <a:pt x="22451" y="0"/>
                    <a:pt x="50145" y="0"/>
                  </a:cubicBezTo>
                  <a:lnTo>
                    <a:pt x="732971" y="0"/>
                  </a:lnTo>
                  <a:cubicBezTo>
                    <a:pt x="760665" y="0"/>
                    <a:pt x="783115" y="22451"/>
                    <a:pt x="783115" y="50145"/>
                  </a:cubicBezTo>
                  <a:close/>
                </a:path>
              </a:pathLst>
            </a:custGeom>
            <a:solidFill>
              <a:srgbClr val="B8114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83115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10780" y="4295477"/>
            <a:ext cx="5249320" cy="5304770"/>
            <a:chOff x="0" y="0"/>
            <a:chExt cx="783115" cy="7913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3115" cy="791388"/>
            </a:xfrm>
            <a:custGeom>
              <a:avLst/>
              <a:gdLst/>
              <a:ahLst/>
              <a:cxnLst/>
              <a:rect r="r" b="b" t="t" l="l"/>
              <a:pathLst>
                <a:path h="791388" w="783115">
                  <a:moveTo>
                    <a:pt x="783115" y="50145"/>
                  </a:moveTo>
                  <a:lnTo>
                    <a:pt x="783115" y="741243"/>
                  </a:lnTo>
                  <a:cubicBezTo>
                    <a:pt x="783115" y="768937"/>
                    <a:pt x="760665" y="791388"/>
                    <a:pt x="732971" y="791388"/>
                  </a:cubicBezTo>
                  <a:lnTo>
                    <a:pt x="50145" y="791388"/>
                  </a:lnTo>
                  <a:cubicBezTo>
                    <a:pt x="22451" y="791388"/>
                    <a:pt x="0" y="768937"/>
                    <a:pt x="0" y="741243"/>
                  </a:cubicBezTo>
                  <a:lnTo>
                    <a:pt x="0" y="50145"/>
                  </a:lnTo>
                  <a:cubicBezTo>
                    <a:pt x="0" y="22451"/>
                    <a:pt x="22451" y="0"/>
                    <a:pt x="50145" y="0"/>
                  </a:cubicBezTo>
                  <a:lnTo>
                    <a:pt x="732971" y="0"/>
                  </a:lnTo>
                  <a:cubicBezTo>
                    <a:pt x="760665" y="0"/>
                    <a:pt x="783115" y="22451"/>
                    <a:pt x="783115" y="50145"/>
                  </a:cubicBezTo>
                  <a:close/>
                </a:path>
              </a:pathLst>
            </a:custGeom>
            <a:solidFill>
              <a:srgbClr val="5A0A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83115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034898"/>
            <a:ext cx="5249320" cy="5304770"/>
            <a:chOff x="0" y="0"/>
            <a:chExt cx="783115" cy="7913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3115" cy="791388"/>
            </a:xfrm>
            <a:custGeom>
              <a:avLst/>
              <a:gdLst/>
              <a:ahLst/>
              <a:cxnLst/>
              <a:rect r="r" b="b" t="t" l="l"/>
              <a:pathLst>
                <a:path h="791388" w="783115">
                  <a:moveTo>
                    <a:pt x="783115" y="50145"/>
                  </a:moveTo>
                  <a:lnTo>
                    <a:pt x="783115" y="741243"/>
                  </a:lnTo>
                  <a:cubicBezTo>
                    <a:pt x="783115" y="768937"/>
                    <a:pt x="760665" y="791388"/>
                    <a:pt x="732971" y="791388"/>
                  </a:cubicBezTo>
                  <a:lnTo>
                    <a:pt x="50145" y="791388"/>
                  </a:lnTo>
                  <a:cubicBezTo>
                    <a:pt x="22451" y="791388"/>
                    <a:pt x="0" y="768937"/>
                    <a:pt x="0" y="741243"/>
                  </a:cubicBezTo>
                  <a:lnTo>
                    <a:pt x="0" y="50145"/>
                  </a:lnTo>
                  <a:cubicBezTo>
                    <a:pt x="0" y="22451"/>
                    <a:pt x="22451" y="0"/>
                    <a:pt x="50145" y="0"/>
                  </a:cubicBezTo>
                  <a:lnTo>
                    <a:pt x="732971" y="0"/>
                  </a:lnTo>
                  <a:cubicBezTo>
                    <a:pt x="760665" y="0"/>
                    <a:pt x="783115" y="22451"/>
                    <a:pt x="783115" y="50145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83115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35103" y="2228296"/>
            <a:ext cx="3825035" cy="960120"/>
            <a:chOff x="0" y="0"/>
            <a:chExt cx="5100047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00047" cy="1280160"/>
            </a:xfrm>
            <a:custGeom>
              <a:avLst/>
              <a:gdLst/>
              <a:ahLst/>
              <a:cxnLst/>
              <a:rect r="r" b="b" t="t" l="l"/>
              <a:pathLst>
                <a:path h="1280160" w="5100047">
                  <a:moveTo>
                    <a:pt x="0" y="0"/>
                  </a:moveTo>
                  <a:lnTo>
                    <a:pt x="5100047" y="0"/>
                  </a:lnTo>
                  <a:lnTo>
                    <a:pt x="5100047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1" r="14537" b="-163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100047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9"/>
                </a:lnSpc>
              </a:pPr>
              <a:r>
                <a:rPr lang="en-US" sz="3349" b="tru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</a:t>
              </a:r>
              <a:r>
                <a:rPr lang="en-US" sz="3349" b="tru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ample Efficiency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0648" y="4047827"/>
            <a:ext cx="4593944" cy="3017520"/>
            <a:chOff x="0" y="0"/>
            <a:chExt cx="4771766" cy="31343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71766" cy="3134322"/>
            </a:xfrm>
            <a:custGeom>
              <a:avLst/>
              <a:gdLst/>
              <a:ahLst/>
              <a:cxnLst/>
              <a:rect r="r" b="b" t="t" l="l"/>
              <a:pathLst>
                <a:path h="3134322" w="4771766">
                  <a:moveTo>
                    <a:pt x="0" y="0"/>
                  </a:moveTo>
                  <a:lnTo>
                    <a:pt x="4771766" y="0"/>
                  </a:lnTo>
                  <a:lnTo>
                    <a:pt x="4771766" y="3134322"/>
                  </a:lnTo>
                  <a:lnTo>
                    <a:pt x="0" y="31343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343" t="0" r="-59130" b="-361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771766" cy="3210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Evaluate sample-efficiency gains of hippocampal spatial representation vs. raw coordinates.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83625" y="4417111"/>
            <a:ext cx="4583570" cy="960120"/>
            <a:chOff x="0" y="0"/>
            <a:chExt cx="6111427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11427" cy="1280160"/>
            </a:xfrm>
            <a:custGeom>
              <a:avLst/>
              <a:gdLst/>
              <a:ahLst/>
              <a:cxnLst/>
              <a:rect r="r" b="b" t="t" l="l"/>
              <a:pathLst>
                <a:path h="1280160" w="6111427">
                  <a:moveTo>
                    <a:pt x="0" y="0"/>
                  </a:moveTo>
                  <a:lnTo>
                    <a:pt x="6111427" y="0"/>
                  </a:lnTo>
                  <a:lnTo>
                    <a:pt x="6111427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1" r="28680" b="-163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111427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19"/>
                </a:lnSpc>
                <a:spcBef>
                  <a:spcPct val="0"/>
                </a:spcBef>
              </a:pPr>
              <a:r>
                <a:rPr lang="en-US" b="true" sz="3349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Action Stability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22454" y="6167079"/>
            <a:ext cx="4643091" cy="3200400"/>
            <a:chOff x="0" y="0"/>
            <a:chExt cx="6190788" cy="426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90788" cy="4267200"/>
            </a:xfrm>
            <a:custGeom>
              <a:avLst/>
              <a:gdLst/>
              <a:ahLst/>
              <a:cxnLst/>
              <a:rect r="r" b="b" t="t" l="l"/>
              <a:pathLst>
                <a:path h="4267200" w="6190788">
                  <a:moveTo>
                    <a:pt x="0" y="0"/>
                  </a:moveTo>
                  <a:lnTo>
                    <a:pt x="6190788" y="0"/>
                  </a:lnTo>
                  <a:lnTo>
                    <a:pt x="6190788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219" t="0" r="-22655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6190788" cy="434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Measure action-stability </a:t>
              </a:r>
            </a:p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contribution of Basal Ganglia gating in high-density </a:t>
              </a:r>
            </a:p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signalized roundabouts.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36437" y="2228296"/>
            <a:ext cx="4382495" cy="960120"/>
            <a:chOff x="0" y="0"/>
            <a:chExt cx="5843327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43327" cy="1280160"/>
            </a:xfrm>
            <a:custGeom>
              <a:avLst/>
              <a:gdLst/>
              <a:ahLst/>
              <a:cxnLst/>
              <a:rect r="r" b="b" t="t" l="l"/>
              <a:pathLst>
                <a:path h="1280160" w="5843327">
                  <a:moveTo>
                    <a:pt x="0" y="0"/>
                  </a:moveTo>
                  <a:lnTo>
                    <a:pt x="5843327" y="0"/>
                  </a:lnTo>
                  <a:lnTo>
                    <a:pt x="5843327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1" r="25408" b="-1634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843327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19"/>
                </a:lnSpc>
                <a:spcBef>
                  <a:spcPct val="0"/>
                </a:spcBef>
              </a:pPr>
              <a:r>
                <a:rPr lang="en-US" b="true" sz="3349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Safety &amp; Efficiency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98325" y="3864691"/>
            <a:ext cx="4336775" cy="3200400"/>
            <a:chOff x="0" y="0"/>
            <a:chExt cx="5782367" cy="426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82367" cy="4267200"/>
            </a:xfrm>
            <a:custGeom>
              <a:avLst/>
              <a:gdLst/>
              <a:ahLst/>
              <a:cxnLst/>
              <a:rect r="r" b="b" t="t" l="l"/>
              <a:pathLst>
                <a:path h="4267200" w="5782367">
                  <a:moveTo>
                    <a:pt x="0" y="0"/>
                  </a:moveTo>
                  <a:lnTo>
                    <a:pt x="5782367" y="0"/>
                  </a:lnTo>
                  <a:lnTo>
                    <a:pt x="5782367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049" t="0" r="-3131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5782367" cy="434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Assess navigational safety and efficiency under varying traffic inflow rates in ROS 2.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12557" y="9170482"/>
            <a:ext cx="3657600" cy="1116518"/>
            <a:chOff x="0" y="0"/>
            <a:chExt cx="4876800" cy="14886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1488691"/>
            </a:xfrm>
            <a:custGeom>
              <a:avLst/>
              <a:gdLst/>
              <a:ahLst/>
              <a:cxnLst/>
              <a:rect r="r" b="b" t="t" l="l"/>
              <a:pathLst>
                <a:path h="148869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88691"/>
                  </a:lnTo>
                  <a:lnTo>
                    <a:pt x="0" y="14886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51" r="0" b="197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876800" cy="1488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7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144954" y="9297055"/>
            <a:ext cx="1915278" cy="431686"/>
            <a:chOff x="0" y="0"/>
            <a:chExt cx="7805966" cy="17593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594360"/>
            <a:ext cx="9144000" cy="457200"/>
            <a:chOff x="0" y="0"/>
            <a:chExt cx="121920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RESEARCH OBJECTIVES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869327" y="3221884"/>
            <a:ext cx="1156586" cy="1156586"/>
            <a:chOff x="0" y="0"/>
            <a:chExt cx="1950720" cy="1950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657147" y="5322177"/>
            <a:ext cx="1156586" cy="1156586"/>
            <a:chOff x="0" y="0"/>
            <a:chExt cx="195072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615490" y="3138892"/>
            <a:ext cx="1156586" cy="1156586"/>
            <a:chOff x="0" y="0"/>
            <a:chExt cx="1950720" cy="1950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716100" y="3224242"/>
            <a:ext cx="1463040" cy="1463040"/>
            <a:chOff x="0" y="0"/>
            <a:chExt cx="1950720" cy="1950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9507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59"/>
                </a:lnSpc>
              </a:pPr>
              <a:r>
                <a:rPr lang="en-US" sz="3299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RQ</a:t>
              </a:r>
              <a:r>
                <a:rPr lang="en-US" b="true" sz="3299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1</a:t>
              </a:r>
            </a:p>
            <a:p>
              <a:pPr algn="ctr">
                <a:lnSpc>
                  <a:spcPts val="395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7326630" y="5652820"/>
            <a:ext cx="38176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RQ2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284972" y="3469534"/>
            <a:ext cx="38176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RQ3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52" id="52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54" id="54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2010" y="960120"/>
            <a:ext cx="16642080" cy="1005840"/>
            <a:chOff x="0" y="0"/>
            <a:chExt cx="2218944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2189440" cy="1331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Data</a:t>
              </a: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set &amp; Experimental Setup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1537" y="2462510"/>
            <a:ext cx="5249320" cy="5304770"/>
            <a:chOff x="0" y="0"/>
            <a:chExt cx="783115" cy="7913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3115" cy="791388"/>
            </a:xfrm>
            <a:custGeom>
              <a:avLst/>
              <a:gdLst/>
              <a:ahLst/>
              <a:cxnLst/>
              <a:rect r="r" b="b" t="t" l="l"/>
              <a:pathLst>
                <a:path h="791388" w="783115">
                  <a:moveTo>
                    <a:pt x="783115" y="50145"/>
                  </a:moveTo>
                  <a:lnTo>
                    <a:pt x="783115" y="741243"/>
                  </a:lnTo>
                  <a:cubicBezTo>
                    <a:pt x="783115" y="768937"/>
                    <a:pt x="760665" y="791388"/>
                    <a:pt x="732971" y="791388"/>
                  </a:cubicBezTo>
                  <a:lnTo>
                    <a:pt x="50145" y="791388"/>
                  </a:lnTo>
                  <a:cubicBezTo>
                    <a:pt x="22451" y="791388"/>
                    <a:pt x="0" y="768937"/>
                    <a:pt x="0" y="741243"/>
                  </a:cubicBezTo>
                  <a:lnTo>
                    <a:pt x="0" y="50145"/>
                  </a:lnTo>
                  <a:cubicBezTo>
                    <a:pt x="0" y="22451"/>
                    <a:pt x="22451" y="0"/>
                    <a:pt x="50145" y="0"/>
                  </a:cubicBezTo>
                  <a:lnTo>
                    <a:pt x="732971" y="0"/>
                  </a:lnTo>
                  <a:cubicBezTo>
                    <a:pt x="760665" y="0"/>
                    <a:pt x="783115" y="22451"/>
                    <a:pt x="783115" y="50145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83115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3680" y="2835137"/>
            <a:ext cx="3825035" cy="1140776"/>
            <a:chOff x="0" y="0"/>
            <a:chExt cx="5100047" cy="1521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00047" cy="1521034"/>
            </a:xfrm>
            <a:custGeom>
              <a:avLst/>
              <a:gdLst/>
              <a:ahLst/>
              <a:cxnLst/>
              <a:rect r="r" b="b" t="t" l="l"/>
              <a:pathLst>
                <a:path h="1521034" w="5100047">
                  <a:moveTo>
                    <a:pt x="0" y="0"/>
                  </a:moveTo>
                  <a:lnTo>
                    <a:pt x="5100047" y="0"/>
                  </a:lnTo>
                  <a:lnTo>
                    <a:pt x="5100047" y="1521034"/>
                  </a:lnTo>
                  <a:lnTo>
                    <a:pt x="0" y="15210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3" r="14537" b="20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5100047" cy="1511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99"/>
                </a:lnSpc>
              </a:pPr>
              <a:r>
                <a:rPr lang="en-US" sz="3249" b="tru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Simulator</a:t>
              </a:r>
            </a:p>
            <a:p>
              <a:pPr algn="ctr">
                <a:lnSpc>
                  <a:spcPts val="38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9225" y="4626120"/>
            <a:ext cx="4593944" cy="3017520"/>
            <a:chOff x="0" y="0"/>
            <a:chExt cx="4771766" cy="3134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71766" cy="3134322"/>
            </a:xfrm>
            <a:custGeom>
              <a:avLst/>
              <a:gdLst/>
              <a:ahLst/>
              <a:cxnLst/>
              <a:rect r="r" b="b" t="t" l="l"/>
              <a:pathLst>
                <a:path h="3134322" w="4771766">
                  <a:moveTo>
                    <a:pt x="0" y="0"/>
                  </a:moveTo>
                  <a:lnTo>
                    <a:pt x="4771766" y="0"/>
                  </a:lnTo>
                  <a:lnTo>
                    <a:pt x="4771766" y="3134322"/>
                  </a:lnTo>
                  <a:lnTo>
                    <a:pt x="0" y="31343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343" t="0" r="-59130" b="-361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4771766" cy="3210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4349"/>
                </a:lnSpc>
                <a:spcBef>
                  <a:spcPct val="0"/>
                </a:spcBef>
              </a:pPr>
              <a:r>
                <a:rPr lang="en-US" sz="2899" strike="noStrike" u="none">
                  <a:solidFill>
                    <a:srgbClr val="F3DDE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Eclipse SUMO (Simulation of Urban MObility) with the TraCI real-time control interface.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03019" y="2534275"/>
            <a:ext cx="5249320" cy="5304770"/>
            <a:chOff x="0" y="0"/>
            <a:chExt cx="783115" cy="7913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3115" cy="791388"/>
            </a:xfrm>
            <a:custGeom>
              <a:avLst/>
              <a:gdLst/>
              <a:ahLst/>
              <a:cxnLst/>
              <a:rect r="r" b="b" t="t" l="l"/>
              <a:pathLst>
                <a:path h="791388" w="783115">
                  <a:moveTo>
                    <a:pt x="783115" y="50145"/>
                  </a:moveTo>
                  <a:lnTo>
                    <a:pt x="783115" y="741243"/>
                  </a:lnTo>
                  <a:cubicBezTo>
                    <a:pt x="783115" y="768937"/>
                    <a:pt x="760665" y="791388"/>
                    <a:pt x="732971" y="791388"/>
                  </a:cubicBezTo>
                  <a:lnTo>
                    <a:pt x="50145" y="791388"/>
                  </a:lnTo>
                  <a:cubicBezTo>
                    <a:pt x="22451" y="791388"/>
                    <a:pt x="0" y="768937"/>
                    <a:pt x="0" y="741243"/>
                  </a:cubicBezTo>
                  <a:lnTo>
                    <a:pt x="0" y="50145"/>
                  </a:lnTo>
                  <a:cubicBezTo>
                    <a:pt x="0" y="22451"/>
                    <a:pt x="22451" y="0"/>
                    <a:pt x="50145" y="0"/>
                  </a:cubicBezTo>
                  <a:lnTo>
                    <a:pt x="732971" y="0"/>
                  </a:lnTo>
                  <a:cubicBezTo>
                    <a:pt x="760665" y="0"/>
                    <a:pt x="783115" y="22451"/>
                    <a:pt x="783115" y="50145"/>
                  </a:cubicBezTo>
                  <a:close/>
                </a:path>
              </a:pathLst>
            </a:custGeom>
            <a:solidFill>
              <a:srgbClr val="B8114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83115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19340" y="2534275"/>
            <a:ext cx="5249320" cy="5304770"/>
            <a:chOff x="0" y="0"/>
            <a:chExt cx="783115" cy="7913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3115" cy="791388"/>
            </a:xfrm>
            <a:custGeom>
              <a:avLst/>
              <a:gdLst/>
              <a:ahLst/>
              <a:cxnLst/>
              <a:rect r="r" b="b" t="t" l="l"/>
              <a:pathLst>
                <a:path h="791388" w="783115">
                  <a:moveTo>
                    <a:pt x="783115" y="50145"/>
                  </a:moveTo>
                  <a:lnTo>
                    <a:pt x="783115" y="741243"/>
                  </a:lnTo>
                  <a:cubicBezTo>
                    <a:pt x="783115" y="768937"/>
                    <a:pt x="760665" y="791388"/>
                    <a:pt x="732971" y="791388"/>
                  </a:cubicBezTo>
                  <a:lnTo>
                    <a:pt x="50145" y="791388"/>
                  </a:lnTo>
                  <a:cubicBezTo>
                    <a:pt x="22451" y="791388"/>
                    <a:pt x="0" y="768937"/>
                    <a:pt x="0" y="741243"/>
                  </a:cubicBezTo>
                  <a:lnTo>
                    <a:pt x="0" y="50145"/>
                  </a:lnTo>
                  <a:cubicBezTo>
                    <a:pt x="0" y="22451"/>
                    <a:pt x="22451" y="0"/>
                    <a:pt x="50145" y="0"/>
                  </a:cubicBezTo>
                  <a:lnTo>
                    <a:pt x="732971" y="0"/>
                  </a:lnTo>
                  <a:cubicBezTo>
                    <a:pt x="760665" y="0"/>
                    <a:pt x="783115" y="22451"/>
                    <a:pt x="783115" y="50145"/>
                  </a:cubicBezTo>
                  <a:close/>
                </a:path>
              </a:pathLst>
            </a:custGeom>
            <a:solidFill>
              <a:srgbClr val="5A0A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83115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60775" y="2802266"/>
            <a:ext cx="4583570" cy="1140776"/>
            <a:chOff x="0" y="0"/>
            <a:chExt cx="6111427" cy="15210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11427" cy="1521034"/>
            </a:xfrm>
            <a:custGeom>
              <a:avLst/>
              <a:gdLst/>
              <a:ahLst/>
              <a:cxnLst/>
              <a:rect r="r" b="b" t="t" l="l"/>
              <a:pathLst>
                <a:path h="1521034" w="6111427">
                  <a:moveTo>
                    <a:pt x="0" y="0"/>
                  </a:moveTo>
                  <a:lnTo>
                    <a:pt x="6111427" y="0"/>
                  </a:lnTo>
                  <a:lnTo>
                    <a:pt x="6111427" y="1521034"/>
                  </a:lnTo>
                  <a:lnTo>
                    <a:pt x="0" y="15210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3" r="28680" b="20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6111427" cy="1511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b="true" sz="3249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Frameworks</a:t>
              </a:r>
            </a:p>
            <a:p>
              <a:pPr algn="ctr" marL="0" indent="0" lvl="0">
                <a:lnSpc>
                  <a:spcPts val="38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60730" y="4779347"/>
            <a:ext cx="4367369" cy="3200400"/>
            <a:chOff x="0" y="0"/>
            <a:chExt cx="5823159" cy="426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23159" cy="4267200"/>
            </a:xfrm>
            <a:custGeom>
              <a:avLst/>
              <a:gdLst/>
              <a:ahLst/>
              <a:cxnLst/>
              <a:rect r="r" b="b" t="t" l="l"/>
              <a:pathLst>
                <a:path h="4267200" w="5823159">
                  <a:moveTo>
                    <a:pt x="0" y="0"/>
                  </a:moveTo>
                  <a:lnTo>
                    <a:pt x="5823159" y="0"/>
                  </a:lnTo>
                  <a:lnTo>
                    <a:pt x="5823159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642" t="0" r="-3039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5823159" cy="434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349"/>
                </a:lnSpc>
              </a:pPr>
              <a:r>
                <a:rPr lang="en-US" sz="2899">
                  <a:solidFill>
                    <a:srgbClr val="F3DDE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PyTorch</a:t>
              </a:r>
              <a:r>
                <a:rPr lang="en-US" sz="2899">
                  <a:solidFill>
                    <a:srgbClr val="F3DDE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 (PPO / SAC algorithms), Gymnasium environment API, ROS 2 middleware.</a:t>
              </a:r>
            </a:p>
            <a:p>
              <a:pPr algn="just">
                <a:lnSpc>
                  <a:spcPts val="434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36431" y="2835137"/>
            <a:ext cx="4382495" cy="1140776"/>
            <a:chOff x="0" y="0"/>
            <a:chExt cx="5843327" cy="15210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43327" cy="1521034"/>
            </a:xfrm>
            <a:custGeom>
              <a:avLst/>
              <a:gdLst/>
              <a:ahLst/>
              <a:cxnLst/>
              <a:rect r="r" b="b" t="t" l="l"/>
              <a:pathLst>
                <a:path h="1521034" w="5843327">
                  <a:moveTo>
                    <a:pt x="0" y="0"/>
                  </a:moveTo>
                  <a:lnTo>
                    <a:pt x="5843327" y="0"/>
                  </a:lnTo>
                  <a:lnTo>
                    <a:pt x="5843327" y="1521034"/>
                  </a:lnTo>
                  <a:lnTo>
                    <a:pt x="0" y="15210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3" r="25408" b="20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5843327" cy="1511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b="true" sz="3249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Hardware</a:t>
              </a:r>
            </a:p>
            <a:p>
              <a:pPr algn="ctr" marL="0" indent="0" lvl="0">
                <a:lnSpc>
                  <a:spcPts val="38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768785" y="4357669"/>
            <a:ext cx="4626944" cy="3200400"/>
            <a:chOff x="0" y="0"/>
            <a:chExt cx="6169259" cy="426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69259" cy="4267200"/>
            </a:xfrm>
            <a:custGeom>
              <a:avLst/>
              <a:gdLst/>
              <a:ahLst/>
              <a:cxnLst/>
              <a:rect r="r" b="b" t="t" l="l"/>
              <a:pathLst>
                <a:path h="4267200" w="6169259">
                  <a:moveTo>
                    <a:pt x="0" y="0"/>
                  </a:moveTo>
                  <a:lnTo>
                    <a:pt x="6169259" y="0"/>
                  </a:lnTo>
                  <a:lnTo>
                    <a:pt x="6169259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408" t="0" r="-2308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6169259" cy="434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4349"/>
                </a:lnSpc>
                <a:spcBef>
                  <a:spcPct val="0"/>
                </a:spcBef>
              </a:pPr>
              <a:r>
                <a:rPr lang="en-US" sz="2899" strike="noStrike" u="none">
                  <a:solidFill>
                    <a:srgbClr val="F3DDE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Quad-core x86-64 CPU, 8 GB RAM minimum; NVIDIA GPU recommended for training.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12557" y="9170482"/>
            <a:ext cx="3657600" cy="1116518"/>
            <a:chOff x="0" y="0"/>
            <a:chExt cx="4876800" cy="14886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1488691"/>
            </a:xfrm>
            <a:custGeom>
              <a:avLst/>
              <a:gdLst/>
              <a:ahLst/>
              <a:cxnLst/>
              <a:rect r="r" b="b" t="t" l="l"/>
              <a:pathLst>
                <a:path h="148869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88691"/>
                  </a:lnTo>
                  <a:lnTo>
                    <a:pt x="0" y="14886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51" r="0" b="197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876800" cy="1488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8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144954" y="9297055"/>
            <a:ext cx="1915278" cy="431686"/>
            <a:chOff x="0" y="0"/>
            <a:chExt cx="7805966" cy="17593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42010" y="594360"/>
            <a:ext cx="9144000" cy="457200"/>
            <a:chOff x="0" y="0"/>
            <a:chExt cx="121920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EXPE</a:t>
              </a: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RIMENTAL SETUP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657904" y="3622762"/>
            <a:ext cx="1156586" cy="1156586"/>
            <a:chOff x="0" y="0"/>
            <a:chExt cx="1950720" cy="1950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474267" y="3625744"/>
            <a:ext cx="1156586" cy="1156586"/>
            <a:chOff x="0" y="0"/>
            <a:chExt cx="195072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615490" y="3525881"/>
            <a:ext cx="1156586" cy="1156586"/>
            <a:chOff x="0" y="0"/>
            <a:chExt cx="1950720" cy="1950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47" id="47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49" id="49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504677" y="3316307"/>
            <a:ext cx="1463040" cy="1463040"/>
            <a:chOff x="0" y="0"/>
            <a:chExt cx="1950720" cy="1950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9507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59"/>
                </a:lnSpc>
              </a:pPr>
              <a:r>
                <a:rPr lang="en-US" sz="5299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312894" y="3372654"/>
            <a:ext cx="1463040" cy="1463040"/>
            <a:chOff x="0" y="0"/>
            <a:chExt cx="1950720" cy="1950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9507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59"/>
                </a:lnSpc>
              </a:pPr>
              <a:r>
                <a:rPr lang="en-US" sz="5299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462262" y="3211522"/>
            <a:ext cx="1463040" cy="1463040"/>
            <a:chOff x="0" y="0"/>
            <a:chExt cx="1950720" cy="1950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9507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59"/>
                </a:lnSpc>
              </a:pPr>
              <a:r>
                <a:rPr lang="en-US" sz="5299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89673" y="1543919"/>
            <a:ext cx="5025078" cy="763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4349"/>
              </a:lnSpc>
              <a:buFont typeface="Arial"/>
              <a:buChar char="•"/>
            </a:pPr>
            <a:r>
              <a:rPr lang="en-US" sz="28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Simulator: Eclipse SUMO with TraCI real-time API.</a:t>
            </a:r>
          </a:p>
          <a:p>
            <a:pPr algn="l" marL="626102" indent="-313051" lvl="1">
              <a:lnSpc>
                <a:spcPts val="4349"/>
              </a:lnSpc>
              <a:buFont typeface="Arial"/>
              <a:buChar char="•"/>
            </a:pPr>
            <a:r>
              <a:rPr lang="en-US" sz="28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Traffic Injection: Dynamic, heterogeneous models (aggressive, passive, heavy transport).</a:t>
            </a:r>
          </a:p>
          <a:p>
            <a:pPr algn="l" marL="626102" indent="-313051" lvl="1">
              <a:lnSpc>
                <a:spcPts val="4349"/>
              </a:lnSpc>
              <a:buFont typeface="Arial"/>
              <a:buChar char="•"/>
            </a:pPr>
            <a:r>
              <a:rPr lang="en-US" sz="28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Deadlock Prevention: "Traffic Cop" routing script (forces 15s max signal phase).</a:t>
            </a:r>
          </a:p>
          <a:p>
            <a:pPr algn="l" marL="626102" indent="-313051" lvl="1">
              <a:lnSpc>
                <a:spcPts val="4349"/>
              </a:lnSpc>
              <a:buFont typeface="Arial"/>
              <a:buChar char="•"/>
            </a:pPr>
            <a:r>
              <a:rPr lang="en-US" sz="28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Sensor Emulation: Gaussian noise (     =0,              </a:t>
            </a:r>
            <a:r>
              <a:rPr lang="en-US" sz="2899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cgf</a:t>
            </a:r>
            <a:r>
              <a:rPr lang="en-US" sz="28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= 0.02) injected into kinematic arrays.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14581" y="5670660"/>
            <a:ext cx="6726917" cy="4121587"/>
            <a:chOff x="0" y="0"/>
            <a:chExt cx="1003549" cy="6148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3549" cy="614876"/>
            </a:xfrm>
            <a:custGeom>
              <a:avLst/>
              <a:gdLst/>
              <a:ahLst/>
              <a:cxnLst/>
              <a:rect r="r" b="b" t="t" l="l"/>
              <a:pathLst>
                <a:path h="614876" w="1003549">
                  <a:moveTo>
                    <a:pt x="1003549" y="39130"/>
                  </a:moveTo>
                  <a:lnTo>
                    <a:pt x="1003549" y="575745"/>
                  </a:lnTo>
                  <a:cubicBezTo>
                    <a:pt x="1003549" y="586123"/>
                    <a:pt x="999427" y="596076"/>
                    <a:pt x="992088" y="603415"/>
                  </a:cubicBezTo>
                  <a:cubicBezTo>
                    <a:pt x="984750" y="610753"/>
                    <a:pt x="974797" y="614876"/>
                    <a:pt x="964419" y="614876"/>
                  </a:cubicBezTo>
                  <a:lnTo>
                    <a:pt x="39130" y="614876"/>
                  </a:lnTo>
                  <a:cubicBezTo>
                    <a:pt x="28752" y="614876"/>
                    <a:pt x="18799" y="610753"/>
                    <a:pt x="11461" y="603415"/>
                  </a:cubicBezTo>
                  <a:cubicBezTo>
                    <a:pt x="4123" y="596076"/>
                    <a:pt x="0" y="586123"/>
                    <a:pt x="0" y="575745"/>
                  </a:cubicBezTo>
                  <a:lnTo>
                    <a:pt x="0" y="39130"/>
                  </a:lnTo>
                  <a:cubicBezTo>
                    <a:pt x="0" y="28752"/>
                    <a:pt x="4123" y="18799"/>
                    <a:pt x="11461" y="11461"/>
                  </a:cubicBezTo>
                  <a:cubicBezTo>
                    <a:pt x="18799" y="4123"/>
                    <a:pt x="28752" y="0"/>
                    <a:pt x="39130" y="0"/>
                  </a:cubicBezTo>
                  <a:lnTo>
                    <a:pt x="964419" y="0"/>
                  </a:lnTo>
                  <a:cubicBezTo>
                    <a:pt x="986030" y="0"/>
                    <a:pt x="1003549" y="17519"/>
                    <a:pt x="1003549" y="3913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003549" cy="643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61450" y="1828174"/>
            <a:ext cx="3939423" cy="3403727"/>
            <a:chOff x="0" y="0"/>
            <a:chExt cx="596708" cy="5155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708" cy="515566"/>
            </a:xfrm>
            <a:custGeom>
              <a:avLst/>
              <a:gdLst/>
              <a:ahLst/>
              <a:cxnLst/>
              <a:rect r="r" b="b" t="t" l="l"/>
              <a:pathLst>
                <a:path h="515566" w="596708">
                  <a:moveTo>
                    <a:pt x="596708" y="66818"/>
                  </a:moveTo>
                  <a:lnTo>
                    <a:pt x="596708" y="448748"/>
                  </a:lnTo>
                  <a:cubicBezTo>
                    <a:pt x="596708" y="485650"/>
                    <a:pt x="566793" y="515566"/>
                    <a:pt x="529890" y="515566"/>
                  </a:cubicBezTo>
                  <a:lnTo>
                    <a:pt x="66818" y="515566"/>
                  </a:lnTo>
                  <a:cubicBezTo>
                    <a:pt x="29916" y="515566"/>
                    <a:pt x="0" y="485650"/>
                    <a:pt x="0" y="448748"/>
                  </a:cubicBezTo>
                  <a:lnTo>
                    <a:pt x="0" y="66818"/>
                  </a:lnTo>
                  <a:cubicBezTo>
                    <a:pt x="0" y="29916"/>
                    <a:pt x="29916" y="0"/>
                    <a:pt x="66818" y="0"/>
                  </a:cubicBezTo>
                  <a:lnTo>
                    <a:pt x="529890" y="0"/>
                  </a:lnTo>
                  <a:cubicBezTo>
                    <a:pt x="566793" y="0"/>
                    <a:pt x="596708" y="29916"/>
                    <a:pt x="596708" y="66818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96708" cy="544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6375" y="1907862"/>
            <a:ext cx="5392101" cy="5278276"/>
            <a:chOff x="0" y="0"/>
            <a:chExt cx="804416" cy="7874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4416" cy="787435"/>
            </a:xfrm>
            <a:custGeom>
              <a:avLst/>
              <a:gdLst/>
              <a:ahLst/>
              <a:cxnLst/>
              <a:rect r="r" b="b" t="t" l="l"/>
              <a:pathLst>
                <a:path h="787435" w="804416">
                  <a:moveTo>
                    <a:pt x="804416" y="48817"/>
                  </a:moveTo>
                  <a:lnTo>
                    <a:pt x="804416" y="738618"/>
                  </a:lnTo>
                  <a:cubicBezTo>
                    <a:pt x="804416" y="751565"/>
                    <a:pt x="799273" y="763982"/>
                    <a:pt x="790118" y="773137"/>
                  </a:cubicBezTo>
                  <a:cubicBezTo>
                    <a:pt x="780963" y="782292"/>
                    <a:pt x="768546" y="787435"/>
                    <a:pt x="755599" y="787435"/>
                  </a:cubicBezTo>
                  <a:lnTo>
                    <a:pt x="48817" y="787435"/>
                  </a:lnTo>
                  <a:cubicBezTo>
                    <a:pt x="35870" y="787435"/>
                    <a:pt x="23453" y="782292"/>
                    <a:pt x="14298" y="773137"/>
                  </a:cubicBezTo>
                  <a:cubicBezTo>
                    <a:pt x="5143" y="763982"/>
                    <a:pt x="0" y="751565"/>
                    <a:pt x="0" y="738618"/>
                  </a:cubicBezTo>
                  <a:lnTo>
                    <a:pt x="0" y="48817"/>
                  </a:lnTo>
                  <a:cubicBezTo>
                    <a:pt x="0" y="35870"/>
                    <a:pt x="5143" y="23453"/>
                    <a:pt x="14298" y="14298"/>
                  </a:cubicBezTo>
                  <a:cubicBezTo>
                    <a:pt x="23453" y="5143"/>
                    <a:pt x="35870" y="0"/>
                    <a:pt x="48817" y="0"/>
                  </a:cubicBezTo>
                  <a:lnTo>
                    <a:pt x="755599" y="0"/>
                  </a:lnTo>
                  <a:cubicBezTo>
                    <a:pt x="768546" y="0"/>
                    <a:pt x="780963" y="5143"/>
                    <a:pt x="790118" y="14298"/>
                  </a:cubicBezTo>
                  <a:cubicBezTo>
                    <a:pt x="799273" y="23453"/>
                    <a:pt x="804416" y="35870"/>
                    <a:pt x="804416" y="48817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804416" cy="816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2557" y="9170482"/>
            <a:ext cx="3657600" cy="640268"/>
            <a:chOff x="0" y="0"/>
            <a:chExt cx="4876800" cy="8536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00" cy="853691"/>
            </a:xfrm>
            <a:custGeom>
              <a:avLst/>
              <a:gdLst/>
              <a:ahLst/>
              <a:cxnLst/>
              <a:rect r="r" b="b" t="t" l="l"/>
              <a:pathLst>
                <a:path h="85369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691"/>
                  </a:lnTo>
                  <a:lnTo>
                    <a:pt x="0" y="8536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747" r="0" b="-3987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876800" cy="853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31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295572" y="9413871"/>
            <a:ext cx="1915278" cy="431686"/>
            <a:chOff x="0" y="0"/>
            <a:chExt cx="7805966" cy="17593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22960" y="932824"/>
            <a:ext cx="938700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Simulation Environment: Eclipse SUMO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594360"/>
            <a:ext cx="9144000" cy="457200"/>
            <a:chOff x="0" y="0"/>
            <a:chExt cx="1219200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EXPE</a:t>
              </a: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RIMENTAL SETUP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22" id="22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24" id="24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260402" y="1981815"/>
            <a:ext cx="5165293" cy="5098816"/>
          </a:xfrm>
          <a:custGeom>
            <a:avLst/>
            <a:gdLst/>
            <a:ahLst/>
            <a:cxnLst/>
            <a:rect r="r" b="b" t="t" l="l"/>
            <a:pathLst>
              <a:path h="5098816" w="5165293">
                <a:moveTo>
                  <a:pt x="0" y="0"/>
                </a:moveTo>
                <a:lnTo>
                  <a:pt x="5165293" y="0"/>
                </a:lnTo>
                <a:lnTo>
                  <a:pt x="5165293" y="5098816"/>
                </a:lnTo>
                <a:lnTo>
                  <a:pt x="0" y="5098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617401" y="1907862"/>
            <a:ext cx="3791113" cy="3235638"/>
          </a:xfrm>
          <a:custGeom>
            <a:avLst/>
            <a:gdLst/>
            <a:ahLst/>
            <a:cxnLst/>
            <a:rect r="r" b="b" t="t" l="l"/>
            <a:pathLst>
              <a:path h="3235638" w="3791113">
                <a:moveTo>
                  <a:pt x="0" y="0"/>
                </a:moveTo>
                <a:lnTo>
                  <a:pt x="3791113" y="0"/>
                </a:lnTo>
                <a:lnTo>
                  <a:pt x="3791113" y="3235638"/>
                </a:lnTo>
                <a:lnTo>
                  <a:pt x="0" y="32356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114581" y="5670660"/>
            <a:ext cx="6620567" cy="4005547"/>
          </a:xfrm>
          <a:custGeom>
            <a:avLst/>
            <a:gdLst/>
            <a:ahLst/>
            <a:cxnLst/>
            <a:rect r="r" b="b" t="t" l="l"/>
            <a:pathLst>
              <a:path h="4005547" w="6620567">
                <a:moveTo>
                  <a:pt x="0" y="0"/>
                </a:moveTo>
                <a:lnTo>
                  <a:pt x="6620567" y="0"/>
                </a:lnTo>
                <a:lnTo>
                  <a:pt x="6620567" y="4005546"/>
                </a:lnTo>
                <a:lnTo>
                  <a:pt x="0" y="4005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>
            <a:off x="8959419" y="2354323"/>
            <a:ext cx="311935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8555878" y="6697917"/>
            <a:ext cx="661664" cy="66166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066496" y="1907861"/>
            <a:ext cx="892924" cy="89292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flipH="true">
            <a:off x="12043321" y="2354323"/>
            <a:ext cx="35450" cy="33163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2700000">
            <a:off x="11919924" y="5368471"/>
            <a:ext cx="246794" cy="251811"/>
          </a:xfrm>
          <a:custGeom>
            <a:avLst/>
            <a:gdLst/>
            <a:ahLst/>
            <a:cxnLst/>
            <a:rect r="r" b="b" t="t" l="l"/>
            <a:pathLst>
              <a:path h="251811" w="246794">
                <a:moveTo>
                  <a:pt x="0" y="0"/>
                </a:moveTo>
                <a:lnTo>
                  <a:pt x="246794" y="0"/>
                </a:lnTo>
                <a:lnTo>
                  <a:pt x="246794" y="251811"/>
                </a:lnTo>
                <a:lnTo>
                  <a:pt x="0" y="2518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52290" t="-539294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2030112" y="3710973"/>
            <a:ext cx="1625872" cy="1625872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>
            <a:off x="3655984" y="4523909"/>
            <a:ext cx="2026791" cy="731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5682776" y="3525681"/>
            <a:ext cx="0" cy="9982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5682776" y="3525681"/>
            <a:ext cx="93462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 flipH="false" flipV="false" rot="-2700000">
            <a:off x="6317721" y="3399775"/>
            <a:ext cx="246794" cy="251811"/>
          </a:xfrm>
          <a:custGeom>
            <a:avLst/>
            <a:gdLst/>
            <a:ahLst/>
            <a:cxnLst/>
            <a:rect r="r" b="b" t="t" l="l"/>
            <a:pathLst>
              <a:path h="251811" w="246794">
                <a:moveTo>
                  <a:pt x="0" y="0"/>
                </a:moveTo>
                <a:lnTo>
                  <a:pt x="246794" y="0"/>
                </a:lnTo>
                <a:lnTo>
                  <a:pt x="246794" y="251811"/>
                </a:lnTo>
                <a:lnTo>
                  <a:pt x="0" y="2518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52290" t="-539294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6363320" y="8063201"/>
            <a:ext cx="1088620" cy="1088620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6675" cap="sq">
              <a:solidFill>
                <a:srgbClr val="FFFFFF"/>
              </a:solidFill>
              <a:prstDash val="sysDot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557488" y="8484477"/>
            <a:ext cx="1191729" cy="1191729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6675" cap="sq">
              <a:solidFill>
                <a:srgbClr val="FFFFFF"/>
              </a:solidFill>
              <a:prstDash val="sysDot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762871" y="5815911"/>
            <a:ext cx="602601" cy="60260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6675" cap="sq">
              <a:solidFill>
                <a:srgbClr val="FFFFFF"/>
              </a:solidFill>
              <a:prstDash val="sysDot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685084" y="6818177"/>
            <a:ext cx="301574" cy="301574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696180" y="7170195"/>
            <a:ext cx="301574" cy="301574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ysDot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2593786">
            <a:off x="7881458" y="7182977"/>
            <a:ext cx="823530" cy="331387"/>
            <a:chOff x="0" y="0"/>
            <a:chExt cx="245730" cy="9888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5730" cy="98881"/>
            </a:xfrm>
            <a:custGeom>
              <a:avLst/>
              <a:gdLst/>
              <a:ahLst/>
              <a:cxnLst/>
              <a:rect r="r" b="b" t="t" l="l"/>
              <a:pathLst>
                <a:path h="98881" w="245730">
                  <a:moveTo>
                    <a:pt x="49441" y="0"/>
                  </a:moveTo>
                  <a:lnTo>
                    <a:pt x="196289" y="0"/>
                  </a:lnTo>
                  <a:cubicBezTo>
                    <a:pt x="223594" y="0"/>
                    <a:pt x="245730" y="22135"/>
                    <a:pt x="245730" y="49441"/>
                  </a:cubicBezTo>
                  <a:lnTo>
                    <a:pt x="245730" y="49441"/>
                  </a:lnTo>
                  <a:cubicBezTo>
                    <a:pt x="245730" y="76746"/>
                    <a:pt x="223594" y="98881"/>
                    <a:pt x="196289" y="98881"/>
                  </a:cubicBezTo>
                  <a:lnTo>
                    <a:pt x="49441" y="98881"/>
                  </a:lnTo>
                  <a:cubicBezTo>
                    <a:pt x="22135" y="98881"/>
                    <a:pt x="0" y="76746"/>
                    <a:pt x="0" y="49441"/>
                  </a:cubicBezTo>
                  <a:lnTo>
                    <a:pt x="0" y="49441"/>
                  </a:lnTo>
                  <a:cubicBezTo>
                    <a:pt x="0" y="22135"/>
                    <a:pt x="22135" y="0"/>
                    <a:pt x="49441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45730" cy="127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340012" y="6355378"/>
            <a:ext cx="546697" cy="342540"/>
            <a:chOff x="0" y="0"/>
            <a:chExt cx="163127" cy="10220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3127" cy="102209"/>
            </a:xfrm>
            <a:custGeom>
              <a:avLst/>
              <a:gdLst/>
              <a:ahLst/>
              <a:cxnLst/>
              <a:rect r="r" b="b" t="t" l="l"/>
              <a:pathLst>
                <a:path h="102209" w="163127">
                  <a:moveTo>
                    <a:pt x="51104" y="0"/>
                  </a:moveTo>
                  <a:lnTo>
                    <a:pt x="112022" y="0"/>
                  </a:lnTo>
                  <a:cubicBezTo>
                    <a:pt x="140247" y="0"/>
                    <a:pt x="163127" y="22880"/>
                    <a:pt x="163127" y="51104"/>
                  </a:cubicBezTo>
                  <a:lnTo>
                    <a:pt x="163127" y="51104"/>
                  </a:lnTo>
                  <a:cubicBezTo>
                    <a:pt x="163127" y="79329"/>
                    <a:pt x="140247" y="102209"/>
                    <a:pt x="112022" y="102209"/>
                  </a:cubicBezTo>
                  <a:lnTo>
                    <a:pt x="51104" y="102209"/>
                  </a:lnTo>
                  <a:cubicBezTo>
                    <a:pt x="22880" y="102209"/>
                    <a:pt x="0" y="79329"/>
                    <a:pt x="0" y="51104"/>
                  </a:cubicBezTo>
                  <a:lnTo>
                    <a:pt x="0" y="51104"/>
                  </a:lnTo>
                  <a:cubicBezTo>
                    <a:pt x="0" y="22880"/>
                    <a:pt x="22880" y="0"/>
                    <a:pt x="5110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63127" cy="130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465423" y="6523246"/>
            <a:ext cx="532331" cy="240519"/>
            <a:chOff x="0" y="0"/>
            <a:chExt cx="158840" cy="7176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8840" cy="71767"/>
            </a:xfrm>
            <a:custGeom>
              <a:avLst/>
              <a:gdLst/>
              <a:ahLst/>
              <a:cxnLst/>
              <a:rect r="r" b="b" t="t" l="l"/>
              <a:pathLst>
                <a:path h="71767" w="158840">
                  <a:moveTo>
                    <a:pt x="35884" y="0"/>
                  </a:moveTo>
                  <a:lnTo>
                    <a:pt x="122956" y="0"/>
                  </a:lnTo>
                  <a:cubicBezTo>
                    <a:pt x="142774" y="0"/>
                    <a:pt x="158840" y="16066"/>
                    <a:pt x="158840" y="35884"/>
                  </a:cubicBezTo>
                  <a:lnTo>
                    <a:pt x="158840" y="35884"/>
                  </a:lnTo>
                  <a:cubicBezTo>
                    <a:pt x="158840" y="55702"/>
                    <a:pt x="142774" y="71767"/>
                    <a:pt x="122956" y="71767"/>
                  </a:cubicBezTo>
                  <a:lnTo>
                    <a:pt x="35884" y="71767"/>
                  </a:lnTo>
                  <a:cubicBezTo>
                    <a:pt x="16066" y="71767"/>
                    <a:pt x="0" y="55702"/>
                    <a:pt x="0" y="35884"/>
                  </a:cubicBezTo>
                  <a:lnTo>
                    <a:pt x="0" y="35884"/>
                  </a:lnTo>
                  <a:cubicBezTo>
                    <a:pt x="0" y="16066"/>
                    <a:pt x="16066" y="0"/>
                    <a:pt x="3588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58840" cy="100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8"/>
                </a:lnSpc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6221025" y="7673433"/>
            <a:ext cx="414777" cy="457474"/>
          </a:xfrm>
          <a:custGeom>
            <a:avLst/>
            <a:gdLst/>
            <a:ahLst/>
            <a:cxnLst/>
            <a:rect r="r" b="b" t="t" l="l"/>
            <a:pathLst>
              <a:path h="457474" w="414777">
                <a:moveTo>
                  <a:pt x="0" y="0"/>
                </a:moveTo>
                <a:lnTo>
                  <a:pt x="414776" y="0"/>
                </a:lnTo>
                <a:lnTo>
                  <a:pt x="414776" y="457474"/>
                </a:lnTo>
                <a:lnTo>
                  <a:pt x="0" y="4574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3706730" y="8253941"/>
            <a:ext cx="320570" cy="353570"/>
          </a:xfrm>
          <a:custGeom>
            <a:avLst/>
            <a:gdLst/>
            <a:ahLst/>
            <a:cxnLst/>
            <a:rect r="r" b="b" t="t" l="l"/>
            <a:pathLst>
              <a:path h="353570" w="320570">
                <a:moveTo>
                  <a:pt x="0" y="0"/>
                </a:moveTo>
                <a:lnTo>
                  <a:pt x="320570" y="0"/>
                </a:lnTo>
                <a:lnTo>
                  <a:pt x="320570" y="353569"/>
                </a:lnTo>
                <a:lnTo>
                  <a:pt x="0" y="353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11153353" y="6780077"/>
            <a:ext cx="1157275" cy="27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2"/>
              </a:lnSpc>
              <a:spcBef>
                <a:spcPct val="0"/>
              </a:spcBef>
            </a:pPr>
            <a:r>
              <a:rPr lang="en-US" b="true" sz="1587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Ego Vehicle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465423" y="7103503"/>
            <a:ext cx="2765391" cy="5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b="true" sz="1499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Heterogeneous </a:t>
            </a:r>
          </a:p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b="true" sz="1499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Traffic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986658" y="6488548"/>
            <a:ext cx="1525118" cy="27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2"/>
              </a:lnSpc>
              <a:spcBef>
                <a:spcPct val="0"/>
              </a:spcBef>
            </a:pPr>
            <a:r>
              <a:rPr lang="en-US" b="true" sz="158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 Traffic Signal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"/>
            <a:ext cx="16642080" cy="1408430"/>
            <a:chOff x="0" y="0"/>
            <a:chExt cx="22189440" cy="1877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9439" cy="1877906"/>
            </a:xfrm>
            <a:custGeom>
              <a:avLst/>
              <a:gdLst/>
              <a:ahLst/>
              <a:cxnLst/>
              <a:rect r="r" b="b" t="t" l="l"/>
              <a:pathLst>
                <a:path h="1877906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77906"/>
                  </a:lnTo>
                  <a:lnTo>
                    <a:pt x="0" y="18779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528" r="0" b="-16594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2189440" cy="1868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Overall System</a:t>
              </a: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Architecture</a:t>
              </a:r>
            </a:p>
            <a:p>
              <a:pPr algn="l">
                <a:lnSpc>
                  <a:spcPts val="4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04404" y="5792267"/>
            <a:ext cx="3665221" cy="1076499"/>
            <a:chOff x="0" y="0"/>
            <a:chExt cx="43586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586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358640">
                  <a:moveTo>
                    <a:pt x="0" y="0"/>
                  </a:moveTo>
                  <a:lnTo>
                    <a:pt x="4358640" y="0"/>
                  </a:lnTo>
                  <a:lnTo>
                    <a:pt x="43586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1" r="0" b="-163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35864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39"/>
                </a:lnSpc>
              </a:pPr>
              <a:r>
                <a:rPr lang="en-US" sz="3449" b="tru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Simulator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0050" y="9338391"/>
            <a:ext cx="3657600" cy="1184082"/>
            <a:chOff x="0" y="0"/>
            <a:chExt cx="4876800" cy="15787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1578776"/>
            </a:xfrm>
            <a:custGeom>
              <a:avLst/>
              <a:gdLst/>
              <a:ahLst/>
              <a:cxnLst/>
              <a:rect r="r" b="b" t="t" l="l"/>
              <a:pathLst>
                <a:path h="157877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78776"/>
                  </a:lnTo>
                  <a:lnTo>
                    <a:pt x="0" y="1578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743" r="0" b="243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4876800" cy="1578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9"/>
                </a:lnSpc>
              </a:pPr>
              <a:r>
                <a:rPr lang="en-US" sz="33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10</a:t>
              </a:r>
            </a:p>
            <a:p>
              <a:pPr algn="l" marL="0" indent="0" lvl="0">
                <a:lnSpc>
                  <a:spcPts val="40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25224" y="9483226"/>
            <a:ext cx="1915278" cy="431686"/>
            <a:chOff x="0" y="0"/>
            <a:chExt cx="7805966" cy="17593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21474" y="2401453"/>
            <a:ext cx="8453720" cy="3061393"/>
            <a:chOff x="0" y="0"/>
            <a:chExt cx="2421448" cy="8768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21448" cy="876893"/>
            </a:xfrm>
            <a:custGeom>
              <a:avLst/>
              <a:gdLst/>
              <a:ahLst/>
              <a:cxnLst/>
              <a:rect r="r" b="b" t="t" l="l"/>
              <a:pathLst>
                <a:path h="876893" w="2421448">
                  <a:moveTo>
                    <a:pt x="10990" y="0"/>
                  </a:moveTo>
                  <a:lnTo>
                    <a:pt x="2410458" y="0"/>
                  </a:lnTo>
                  <a:cubicBezTo>
                    <a:pt x="2416527" y="0"/>
                    <a:pt x="2421448" y="4920"/>
                    <a:pt x="2421448" y="10990"/>
                  </a:cubicBezTo>
                  <a:lnTo>
                    <a:pt x="2421448" y="865903"/>
                  </a:lnTo>
                  <a:cubicBezTo>
                    <a:pt x="2421448" y="868818"/>
                    <a:pt x="2420290" y="871613"/>
                    <a:pt x="2418229" y="873674"/>
                  </a:cubicBezTo>
                  <a:cubicBezTo>
                    <a:pt x="2416168" y="875735"/>
                    <a:pt x="2413373" y="876893"/>
                    <a:pt x="2410458" y="876893"/>
                  </a:cubicBezTo>
                  <a:lnTo>
                    <a:pt x="10990" y="876893"/>
                  </a:lnTo>
                  <a:cubicBezTo>
                    <a:pt x="4920" y="876893"/>
                    <a:pt x="0" y="871972"/>
                    <a:pt x="0" y="865903"/>
                  </a:cubicBezTo>
                  <a:lnTo>
                    <a:pt x="0" y="10990"/>
                  </a:lnTo>
                  <a:cubicBezTo>
                    <a:pt x="0" y="4920"/>
                    <a:pt x="4920" y="0"/>
                    <a:pt x="1099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421448" cy="905467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6364" y="2829706"/>
            <a:ext cx="3350212" cy="776695"/>
            <a:chOff x="0" y="0"/>
            <a:chExt cx="959620" cy="2224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9620" cy="222473"/>
            </a:xfrm>
            <a:custGeom>
              <a:avLst/>
              <a:gdLst/>
              <a:ahLst/>
              <a:cxnLst/>
              <a:rect r="r" b="b" t="t" l="l"/>
              <a:pathLst>
                <a:path h="222473" w="959620">
                  <a:moveTo>
                    <a:pt x="27730" y="0"/>
                  </a:moveTo>
                  <a:lnTo>
                    <a:pt x="931890" y="0"/>
                  </a:lnTo>
                  <a:cubicBezTo>
                    <a:pt x="939245" y="0"/>
                    <a:pt x="946298" y="2922"/>
                    <a:pt x="951498" y="8122"/>
                  </a:cubicBezTo>
                  <a:cubicBezTo>
                    <a:pt x="956699" y="13323"/>
                    <a:pt x="959620" y="20376"/>
                    <a:pt x="959620" y="27730"/>
                  </a:cubicBezTo>
                  <a:lnTo>
                    <a:pt x="959620" y="194743"/>
                  </a:lnTo>
                  <a:cubicBezTo>
                    <a:pt x="959620" y="210058"/>
                    <a:pt x="947205" y="222473"/>
                    <a:pt x="931890" y="222473"/>
                  </a:cubicBezTo>
                  <a:lnTo>
                    <a:pt x="27730" y="222473"/>
                  </a:lnTo>
                  <a:cubicBezTo>
                    <a:pt x="20376" y="222473"/>
                    <a:pt x="13323" y="219552"/>
                    <a:pt x="8122" y="214351"/>
                  </a:cubicBezTo>
                  <a:cubicBezTo>
                    <a:pt x="2922" y="209151"/>
                    <a:pt x="0" y="202097"/>
                    <a:pt x="0" y="194743"/>
                  </a:cubicBezTo>
                  <a:lnTo>
                    <a:pt x="0" y="27730"/>
                  </a:lnTo>
                  <a:cubicBezTo>
                    <a:pt x="0" y="20376"/>
                    <a:pt x="2922" y="13323"/>
                    <a:pt x="8122" y="8122"/>
                  </a:cubicBezTo>
                  <a:cubicBezTo>
                    <a:pt x="13323" y="2922"/>
                    <a:pt x="20376" y="0"/>
                    <a:pt x="2773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59620" cy="251048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6946" y="2746939"/>
            <a:ext cx="3689047" cy="1154860"/>
            <a:chOff x="0" y="0"/>
            <a:chExt cx="1056675" cy="3307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6675" cy="330793"/>
            </a:xfrm>
            <a:custGeom>
              <a:avLst/>
              <a:gdLst/>
              <a:ahLst/>
              <a:cxnLst/>
              <a:rect r="r" b="b" t="t" l="l"/>
              <a:pathLst>
                <a:path h="330793" w="1056675">
                  <a:moveTo>
                    <a:pt x="25183" y="0"/>
                  </a:moveTo>
                  <a:lnTo>
                    <a:pt x="1031491" y="0"/>
                  </a:lnTo>
                  <a:cubicBezTo>
                    <a:pt x="1038171" y="0"/>
                    <a:pt x="1044576" y="2653"/>
                    <a:pt x="1049299" y="7376"/>
                  </a:cubicBezTo>
                  <a:cubicBezTo>
                    <a:pt x="1054022" y="12099"/>
                    <a:pt x="1056675" y="18504"/>
                    <a:pt x="1056675" y="25183"/>
                  </a:cubicBezTo>
                  <a:lnTo>
                    <a:pt x="1056675" y="305610"/>
                  </a:lnTo>
                  <a:cubicBezTo>
                    <a:pt x="1056675" y="319518"/>
                    <a:pt x="1045400" y="330793"/>
                    <a:pt x="1031491" y="330793"/>
                  </a:cubicBezTo>
                  <a:lnTo>
                    <a:pt x="25183" y="330793"/>
                  </a:lnTo>
                  <a:cubicBezTo>
                    <a:pt x="18504" y="330793"/>
                    <a:pt x="12099" y="328140"/>
                    <a:pt x="7376" y="323417"/>
                  </a:cubicBezTo>
                  <a:cubicBezTo>
                    <a:pt x="2653" y="318694"/>
                    <a:pt x="0" y="312289"/>
                    <a:pt x="0" y="305610"/>
                  </a:cubicBezTo>
                  <a:lnTo>
                    <a:pt x="0" y="25183"/>
                  </a:lnTo>
                  <a:cubicBezTo>
                    <a:pt x="0" y="18504"/>
                    <a:pt x="2653" y="12099"/>
                    <a:pt x="7376" y="7376"/>
                  </a:cubicBezTo>
                  <a:cubicBezTo>
                    <a:pt x="12099" y="2653"/>
                    <a:pt x="18504" y="0"/>
                    <a:pt x="25183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56675" cy="359368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40008" y="2829706"/>
            <a:ext cx="3350212" cy="776695"/>
            <a:chOff x="0" y="0"/>
            <a:chExt cx="959620" cy="2224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9620" cy="222473"/>
            </a:xfrm>
            <a:custGeom>
              <a:avLst/>
              <a:gdLst/>
              <a:ahLst/>
              <a:cxnLst/>
              <a:rect r="r" b="b" t="t" l="l"/>
              <a:pathLst>
                <a:path h="222473" w="959620">
                  <a:moveTo>
                    <a:pt x="27730" y="0"/>
                  </a:moveTo>
                  <a:lnTo>
                    <a:pt x="931890" y="0"/>
                  </a:lnTo>
                  <a:cubicBezTo>
                    <a:pt x="939245" y="0"/>
                    <a:pt x="946298" y="2922"/>
                    <a:pt x="951498" y="8122"/>
                  </a:cubicBezTo>
                  <a:cubicBezTo>
                    <a:pt x="956699" y="13323"/>
                    <a:pt x="959620" y="20376"/>
                    <a:pt x="959620" y="27730"/>
                  </a:cubicBezTo>
                  <a:lnTo>
                    <a:pt x="959620" y="194743"/>
                  </a:lnTo>
                  <a:cubicBezTo>
                    <a:pt x="959620" y="210058"/>
                    <a:pt x="947205" y="222473"/>
                    <a:pt x="931890" y="222473"/>
                  </a:cubicBezTo>
                  <a:lnTo>
                    <a:pt x="27730" y="222473"/>
                  </a:lnTo>
                  <a:cubicBezTo>
                    <a:pt x="20376" y="222473"/>
                    <a:pt x="13323" y="219552"/>
                    <a:pt x="8122" y="214351"/>
                  </a:cubicBezTo>
                  <a:cubicBezTo>
                    <a:pt x="2922" y="209151"/>
                    <a:pt x="0" y="202097"/>
                    <a:pt x="0" y="194743"/>
                  </a:cubicBezTo>
                  <a:lnTo>
                    <a:pt x="0" y="27730"/>
                  </a:lnTo>
                  <a:cubicBezTo>
                    <a:pt x="0" y="20376"/>
                    <a:pt x="2922" y="13323"/>
                    <a:pt x="8122" y="8122"/>
                  </a:cubicBezTo>
                  <a:cubicBezTo>
                    <a:pt x="13323" y="2922"/>
                    <a:pt x="20376" y="0"/>
                    <a:pt x="2773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59620" cy="251048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998278" y="2912996"/>
            <a:ext cx="3391942" cy="62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339" indent="-197170" lvl="1">
              <a:lnSpc>
                <a:spcPts val="2557"/>
              </a:lnSpc>
              <a:buFont typeface="Arial"/>
              <a:buChar char="•"/>
            </a:pPr>
            <a:r>
              <a:rPr lang="en-US" b="true" sz="1826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Deterministic F</a:t>
            </a:r>
            <a:r>
              <a:rPr lang="en-US" b="true" sz="182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ixed-Phase logic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76364" y="5669393"/>
            <a:ext cx="7732449" cy="3850015"/>
            <a:chOff x="0" y="0"/>
            <a:chExt cx="2562196" cy="12757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2196" cy="1275727"/>
            </a:xfrm>
            <a:custGeom>
              <a:avLst/>
              <a:gdLst/>
              <a:ahLst/>
              <a:cxnLst/>
              <a:rect r="r" b="b" t="t" l="l"/>
              <a:pathLst>
                <a:path h="1275727" w="2562196">
                  <a:moveTo>
                    <a:pt x="12015" y="0"/>
                  </a:moveTo>
                  <a:lnTo>
                    <a:pt x="2550181" y="0"/>
                  </a:lnTo>
                  <a:cubicBezTo>
                    <a:pt x="2556817" y="0"/>
                    <a:pt x="2562196" y="5379"/>
                    <a:pt x="2562196" y="12015"/>
                  </a:cubicBezTo>
                  <a:lnTo>
                    <a:pt x="2562196" y="1263712"/>
                  </a:lnTo>
                  <a:cubicBezTo>
                    <a:pt x="2562196" y="1266899"/>
                    <a:pt x="2560930" y="1269955"/>
                    <a:pt x="2558677" y="1272208"/>
                  </a:cubicBezTo>
                  <a:cubicBezTo>
                    <a:pt x="2556424" y="1274461"/>
                    <a:pt x="2553368" y="1275727"/>
                    <a:pt x="2550181" y="1275727"/>
                  </a:cubicBezTo>
                  <a:lnTo>
                    <a:pt x="12015" y="1275727"/>
                  </a:lnTo>
                  <a:cubicBezTo>
                    <a:pt x="8828" y="1275727"/>
                    <a:pt x="5772" y="1274461"/>
                    <a:pt x="3519" y="1272208"/>
                  </a:cubicBezTo>
                  <a:cubicBezTo>
                    <a:pt x="1266" y="1269955"/>
                    <a:pt x="0" y="1266899"/>
                    <a:pt x="0" y="1263712"/>
                  </a:cubicBezTo>
                  <a:lnTo>
                    <a:pt x="0" y="12015"/>
                  </a:lnTo>
                  <a:cubicBezTo>
                    <a:pt x="0" y="8828"/>
                    <a:pt x="1266" y="5772"/>
                    <a:pt x="3519" y="3519"/>
                  </a:cubicBezTo>
                  <a:cubicBezTo>
                    <a:pt x="5772" y="1266"/>
                    <a:pt x="8828" y="0"/>
                    <a:pt x="12015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562196" cy="1304302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5190" y="5810339"/>
            <a:ext cx="3700777" cy="1810835"/>
            <a:chOff x="0" y="0"/>
            <a:chExt cx="1226276" cy="6000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26276" cy="600032"/>
            </a:xfrm>
            <a:custGeom>
              <a:avLst/>
              <a:gdLst/>
              <a:ahLst/>
              <a:cxnLst/>
              <a:rect r="r" b="b" t="t" l="l"/>
              <a:pathLst>
                <a:path h="600032" w="1226276">
                  <a:moveTo>
                    <a:pt x="25104" y="0"/>
                  </a:moveTo>
                  <a:lnTo>
                    <a:pt x="1201172" y="0"/>
                  </a:lnTo>
                  <a:cubicBezTo>
                    <a:pt x="1215037" y="0"/>
                    <a:pt x="1226276" y="11239"/>
                    <a:pt x="1226276" y="25104"/>
                  </a:cubicBezTo>
                  <a:lnTo>
                    <a:pt x="1226276" y="574928"/>
                  </a:lnTo>
                  <a:cubicBezTo>
                    <a:pt x="1226276" y="588792"/>
                    <a:pt x="1215037" y="600032"/>
                    <a:pt x="1201172" y="600032"/>
                  </a:cubicBezTo>
                  <a:lnTo>
                    <a:pt x="25104" y="600032"/>
                  </a:lnTo>
                  <a:cubicBezTo>
                    <a:pt x="11239" y="600032"/>
                    <a:pt x="0" y="588792"/>
                    <a:pt x="0" y="574928"/>
                  </a:cubicBezTo>
                  <a:lnTo>
                    <a:pt x="0" y="25104"/>
                  </a:lnTo>
                  <a:cubicBezTo>
                    <a:pt x="0" y="11239"/>
                    <a:pt x="11239" y="0"/>
                    <a:pt x="25104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226276" cy="628607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884739" y="5810339"/>
            <a:ext cx="3758145" cy="1810835"/>
            <a:chOff x="0" y="0"/>
            <a:chExt cx="1245285" cy="6000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45285" cy="600032"/>
            </a:xfrm>
            <a:custGeom>
              <a:avLst/>
              <a:gdLst/>
              <a:ahLst/>
              <a:cxnLst/>
              <a:rect r="r" b="b" t="t" l="l"/>
              <a:pathLst>
                <a:path h="600032" w="1245285">
                  <a:moveTo>
                    <a:pt x="24720" y="0"/>
                  </a:moveTo>
                  <a:lnTo>
                    <a:pt x="1220565" y="0"/>
                  </a:lnTo>
                  <a:cubicBezTo>
                    <a:pt x="1227121" y="0"/>
                    <a:pt x="1233409" y="2604"/>
                    <a:pt x="1238045" y="7240"/>
                  </a:cubicBezTo>
                  <a:cubicBezTo>
                    <a:pt x="1242681" y="11876"/>
                    <a:pt x="1245285" y="18164"/>
                    <a:pt x="1245285" y="24720"/>
                  </a:cubicBezTo>
                  <a:lnTo>
                    <a:pt x="1245285" y="575311"/>
                  </a:lnTo>
                  <a:cubicBezTo>
                    <a:pt x="1245285" y="581867"/>
                    <a:pt x="1242681" y="588155"/>
                    <a:pt x="1238045" y="592791"/>
                  </a:cubicBezTo>
                  <a:cubicBezTo>
                    <a:pt x="1233409" y="597427"/>
                    <a:pt x="1227121" y="600032"/>
                    <a:pt x="1220565" y="600032"/>
                  </a:cubicBezTo>
                  <a:lnTo>
                    <a:pt x="24720" y="600032"/>
                  </a:lnTo>
                  <a:cubicBezTo>
                    <a:pt x="18164" y="600032"/>
                    <a:pt x="11876" y="597427"/>
                    <a:pt x="7240" y="592791"/>
                  </a:cubicBezTo>
                  <a:cubicBezTo>
                    <a:pt x="2604" y="588155"/>
                    <a:pt x="0" y="581867"/>
                    <a:pt x="0" y="575311"/>
                  </a:cubicBezTo>
                  <a:lnTo>
                    <a:pt x="0" y="24720"/>
                  </a:lnTo>
                  <a:cubicBezTo>
                    <a:pt x="0" y="18164"/>
                    <a:pt x="2604" y="11876"/>
                    <a:pt x="7240" y="7240"/>
                  </a:cubicBezTo>
                  <a:cubicBezTo>
                    <a:pt x="11876" y="2604"/>
                    <a:pt x="18164" y="0"/>
                    <a:pt x="2472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245285" cy="628607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1620" y="5944262"/>
            <a:ext cx="1644300" cy="1311612"/>
            <a:chOff x="0" y="0"/>
            <a:chExt cx="544849" cy="4346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4849" cy="434611"/>
            </a:xfrm>
            <a:custGeom>
              <a:avLst/>
              <a:gdLst/>
              <a:ahLst/>
              <a:cxnLst/>
              <a:rect r="r" b="b" t="t" l="l"/>
              <a:pathLst>
                <a:path h="434611" w="544849">
                  <a:moveTo>
                    <a:pt x="56500" y="0"/>
                  </a:moveTo>
                  <a:lnTo>
                    <a:pt x="488349" y="0"/>
                  </a:lnTo>
                  <a:cubicBezTo>
                    <a:pt x="503334" y="0"/>
                    <a:pt x="517705" y="5953"/>
                    <a:pt x="528301" y="16548"/>
                  </a:cubicBezTo>
                  <a:cubicBezTo>
                    <a:pt x="538897" y="27144"/>
                    <a:pt x="544849" y="41515"/>
                    <a:pt x="544849" y="56500"/>
                  </a:cubicBezTo>
                  <a:lnTo>
                    <a:pt x="544849" y="378111"/>
                  </a:lnTo>
                  <a:cubicBezTo>
                    <a:pt x="544849" y="393096"/>
                    <a:pt x="538897" y="407467"/>
                    <a:pt x="528301" y="418063"/>
                  </a:cubicBezTo>
                  <a:cubicBezTo>
                    <a:pt x="517705" y="428658"/>
                    <a:pt x="503334" y="434611"/>
                    <a:pt x="488349" y="434611"/>
                  </a:cubicBezTo>
                  <a:lnTo>
                    <a:pt x="56500" y="434611"/>
                  </a:lnTo>
                  <a:cubicBezTo>
                    <a:pt x="41515" y="434611"/>
                    <a:pt x="27144" y="428658"/>
                    <a:pt x="16548" y="418063"/>
                  </a:cubicBezTo>
                  <a:cubicBezTo>
                    <a:pt x="5953" y="407467"/>
                    <a:pt x="0" y="393096"/>
                    <a:pt x="0" y="378111"/>
                  </a:cubicBezTo>
                  <a:lnTo>
                    <a:pt x="0" y="56500"/>
                  </a:lnTo>
                  <a:cubicBezTo>
                    <a:pt x="0" y="41515"/>
                    <a:pt x="5953" y="27144"/>
                    <a:pt x="16548" y="16548"/>
                  </a:cubicBezTo>
                  <a:cubicBezTo>
                    <a:pt x="27144" y="5953"/>
                    <a:pt x="41515" y="0"/>
                    <a:pt x="56500" y="0"/>
                  </a:cubicBezTo>
                  <a:close/>
                </a:path>
              </a:pathLst>
            </a:custGeom>
            <a:solidFill>
              <a:srgbClr val="99C5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44849" cy="463186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976098" y="5954906"/>
            <a:ext cx="1644300" cy="1311612"/>
            <a:chOff x="0" y="0"/>
            <a:chExt cx="544849" cy="4346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4849" cy="434611"/>
            </a:xfrm>
            <a:custGeom>
              <a:avLst/>
              <a:gdLst/>
              <a:ahLst/>
              <a:cxnLst/>
              <a:rect r="r" b="b" t="t" l="l"/>
              <a:pathLst>
                <a:path h="434611" w="544849">
                  <a:moveTo>
                    <a:pt x="56500" y="0"/>
                  </a:moveTo>
                  <a:lnTo>
                    <a:pt x="488349" y="0"/>
                  </a:lnTo>
                  <a:cubicBezTo>
                    <a:pt x="503334" y="0"/>
                    <a:pt x="517705" y="5953"/>
                    <a:pt x="528301" y="16548"/>
                  </a:cubicBezTo>
                  <a:cubicBezTo>
                    <a:pt x="538897" y="27144"/>
                    <a:pt x="544849" y="41515"/>
                    <a:pt x="544849" y="56500"/>
                  </a:cubicBezTo>
                  <a:lnTo>
                    <a:pt x="544849" y="378111"/>
                  </a:lnTo>
                  <a:cubicBezTo>
                    <a:pt x="544849" y="393096"/>
                    <a:pt x="538897" y="407467"/>
                    <a:pt x="528301" y="418063"/>
                  </a:cubicBezTo>
                  <a:cubicBezTo>
                    <a:pt x="517705" y="428658"/>
                    <a:pt x="503334" y="434611"/>
                    <a:pt x="488349" y="434611"/>
                  </a:cubicBezTo>
                  <a:lnTo>
                    <a:pt x="56500" y="434611"/>
                  </a:lnTo>
                  <a:cubicBezTo>
                    <a:pt x="41515" y="434611"/>
                    <a:pt x="27144" y="428658"/>
                    <a:pt x="16548" y="418063"/>
                  </a:cubicBezTo>
                  <a:cubicBezTo>
                    <a:pt x="5953" y="407467"/>
                    <a:pt x="0" y="393096"/>
                    <a:pt x="0" y="378111"/>
                  </a:cubicBezTo>
                  <a:lnTo>
                    <a:pt x="0" y="56500"/>
                  </a:lnTo>
                  <a:cubicBezTo>
                    <a:pt x="0" y="41515"/>
                    <a:pt x="5953" y="27144"/>
                    <a:pt x="16548" y="16548"/>
                  </a:cubicBezTo>
                  <a:cubicBezTo>
                    <a:pt x="27144" y="5953"/>
                    <a:pt x="41515" y="0"/>
                    <a:pt x="56500" y="0"/>
                  </a:cubicBezTo>
                  <a:close/>
                </a:path>
              </a:pathLst>
            </a:custGeom>
            <a:solidFill>
              <a:srgbClr val="99C5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44849" cy="463186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13541" y="5944262"/>
            <a:ext cx="1644300" cy="1311612"/>
            <a:chOff x="0" y="0"/>
            <a:chExt cx="544849" cy="4346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4849" cy="434611"/>
            </a:xfrm>
            <a:custGeom>
              <a:avLst/>
              <a:gdLst/>
              <a:ahLst/>
              <a:cxnLst/>
              <a:rect r="r" b="b" t="t" l="l"/>
              <a:pathLst>
                <a:path h="434611" w="544849">
                  <a:moveTo>
                    <a:pt x="56500" y="0"/>
                  </a:moveTo>
                  <a:lnTo>
                    <a:pt x="488349" y="0"/>
                  </a:lnTo>
                  <a:cubicBezTo>
                    <a:pt x="503334" y="0"/>
                    <a:pt x="517705" y="5953"/>
                    <a:pt x="528301" y="16548"/>
                  </a:cubicBezTo>
                  <a:cubicBezTo>
                    <a:pt x="538897" y="27144"/>
                    <a:pt x="544849" y="41515"/>
                    <a:pt x="544849" y="56500"/>
                  </a:cubicBezTo>
                  <a:lnTo>
                    <a:pt x="544849" y="378111"/>
                  </a:lnTo>
                  <a:cubicBezTo>
                    <a:pt x="544849" y="393096"/>
                    <a:pt x="538897" y="407467"/>
                    <a:pt x="528301" y="418063"/>
                  </a:cubicBezTo>
                  <a:cubicBezTo>
                    <a:pt x="517705" y="428658"/>
                    <a:pt x="503334" y="434611"/>
                    <a:pt x="488349" y="434611"/>
                  </a:cubicBezTo>
                  <a:lnTo>
                    <a:pt x="56500" y="434611"/>
                  </a:lnTo>
                  <a:cubicBezTo>
                    <a:pt x="41515" y="434611"/>
                    <a:pt x="27144" y="428658"/>
                    <a:pt x="16548" y="418063"/>
                  </a:cubicBezTo>
                  <a:cubicBezTo>
                    <a:pt x="5953" y="407467"/>
                    <a:pt x="0" y="393096"/>
                    <a:pt x="0" y="378111"/>
                  </a:cubicBezTo>
                  <a:lnTo>
                    <a:pt x="0" y="56500"/>
                  </a:lnTo>
                  <a:cubicBezTo>
                    <a:pt x="0" y="41515"/>
                    <a:pt x="5953" y="27144"/>
                    <a:pt x="16548" y="16548"/>
                  </a:cubicBezTo>
                  <a:cubicBezTo>
                    <a:pt x="27144" y="5953"/>
                    <a:pt x="41515" y="0"/>
                    <a:pt x="56500" y="0"/>
                  </a:cubicBezTo>
                  <a:close/>
                </a:path>
              </a:pathLst>
            </a:custGeom>
            <a:solidFill>
              <a:srgbClr val="99C5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544849" cy="463186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27819" y="5926718"/>
            <a:ext cx="1710666" cy="1329156"/>
            <a:chOff x="0" y="0"/>
            <a:chExt cx="566840" cy="4404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6840" cy="440424"/>
            </a:xfrm>
            <a:custGeom>
              <a:avLst/>
              <a:gdLst/>
              <a:ahLst/>
              <a:cxnLst/>
              <a:rect r="r" b="b" t="t" l="l"/>
              <a:pathLst>
                <a:path h="440424" w="566840">
                  <a:moveTo>
                    <a:pt x="54308" y="0"/>
                  </a:moveTo>
                  <a:lnTo>
                    <a:pt x="512532" y="0"/>
                  </a:lnTo>
                  <a:cubicBezTo>
                    <a:pt x="526935" y="0"/>
                    <a:pt x="540749" y="5722"/>
                    <a:pt x="550933" y="15906"/>
                  </a:cubicBezTo>
                  <a:cubicBezTo>
                    <a:pt x="561118" y="26091"/>
                    <a:pt x="566840" y="39905"/>
                    <a:pt x="566840" y="54308"/>
                  </a:cubicBezTo>
                  <a:lnTo>
                    <a:pt x="566840" y="386116"/>
                  </a:lnTo>
                  <a:cubicBezTo>
                    <a:pt x="566840" y="416110"/>
                    <a:pt x="542525" y="440424"/>
                    <a:pt x="512532" y="440424"/>
                  </a:cubicBezTo>
                  <a:lnTo>
                    <a:pt x="54308" y="440424"/>
                  </a:lnTo>
                  <a:cubicBezTo>
                    <a:pt x="24315" y="440424"/>
                    <a:pt x="0" y="416110"/>
                    <a:pt x="0" y="386116"/>
                  </a:cubicBezTo>
                  <a:lnTo>
                    <a:pt x="0" y="54308"/>
                  </a:lnTo>
                  <a:cubicBezTo>
                    <a:pt x="0" y="24315"/>
                    <a:pt x="24315" y="0"/>
                    <a:pt x="54308" y="0"/>
                  </a:cubicBezTo>
                  <a:close/>
                </a:path>
              </a:pathLst>
            </a:custGeom>
            <a:solidFill>
              <a:srgbClr val="99C5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66840" cy="468999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7" id="47"/>
          <p:cNvSpPr/>
          <p:nvPr/>
        </p:nvSpPr>
        <p:spPr>
          <a:xfrm>
            <a:off x="1837344" y="5572239"/>
            <a:ext cx="579107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181620" y="7970883"/>
            <a:ext cx="7122535" cy="885052"/>
            <a:chOff x="0" y="0"/>
            <a:chExt cx="2360097" cy="29326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60097" cy="293267"/>
            </a:xfrm>
            <a:custGeom>
              <a:avLst/>
              <a:gdLst/>
              <a:ahLst/>
              <a:cxnLst/>
              <a:rect r="r" b="b" t="t" l="l"/>
              <a:pathLst>
                <a:path h="293267" w="2360097">
                  <a:moveTo>
                    <a:pt x="13044" y="0"/>
                  </a:moveTo>
                  <a:lnTo>
                    <a:pt x="2347053" y="0"/>
                  </a:lnTo>
                  <a:cubicBezTo>
                    <a:pt x="2350513" y="0"/>
                    <a:pt x="2353831" y="1374"/>
                    <a:pt x="2356277" y="3820"/>
                  </a:cubicBezTo>
                  <a:cubicBezTo>
                    <a:pt x="2358723" y="6267"/>
                    <a:pt x="2360097" y="9584"/>
                    <a:pt x="2360097" y="13044"/>
                  </a:cubicBezTo>
                  <a:lnTo>
                    <a:pt x="2360097" y="280224"/>
                  </a:lnTo>
                  <a:cubicBezTo>
                    <a:pt x="2360097" y="283683"/>
                    <a:pt x="2358723" y="287001"/>
                    <a:pt x="2356277" y="289447"/>
                  </a:cubicBezTo>
                  <a:cubicBezTo>
                    <a:pt x="2353831" y="291893"/>
                    <a:pt x="2350513" y="293267"/>
                    <a:pt x="2347053" y="293267"/>
                  </a:cubicBezTo>
                  <a:lnTo>
                    <a:pt x="13044" y="293267"/>
                  </a:lnTo>
                  <a:cubicBezTo>
                    <a:pt x="9584" y="293267"/>
                    <a:pt x="6267" y="291893"/>
                    <a:pt x="3820" y="289447"/>
                  </a:cubicBezTo>
                  <a:cubicBezTo>
                    <a:pt x="1374" y="287001"/>
                    <a:pt x="0" y="283683"/>
                    <a:pt x="0" y="280224"/>
                  </a:cubicBezTo>
                  <a:lnTo>
                    <a:pt x="0" y="13044"/>
                  </a:lnTo>
                  <a:cubicBezTo>
                    <a:pt x="0" y="9584"/>
                    <a:pt x="1374" y="6267"/>
                    <a:pt x="3820" y="3820"/>
                  </a:cubicBezTo>
                  <a:cubicBezTo>
                    <a:pt x="6267" y="1374"/>
                    <a:pt x="9584" y="0"/>
                    <a:pt x="13044" y="0"/>
                  </a:cubicBezTo>
                  <a:close/>
                </a:path>
              </a:pathLst>
            </a:custGeom>
            <a:solidFill>
              <a:srgbClr val="99C5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360097" cy="321842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42110" y="7892706"/>
            <a:ext cx="7600774" cy="1226610"/>
            <a:chOff x="0" y="0"/>
            <a:chExt cx="2518564" cy="40644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18564" cy="406445"/>
            </a:xfrm>
            <a:custGeom>
              <a:avLst/>
              <a:gdLst/>
              <a:ahLst/>
              <a:cxnLst/>
              <a:rect r="r" b="b" t="t" l="l"/>
              <a:pathLst>
                <a:path h="406445" w="2518564">
                  <a:moveTo>
                    <a:pt x="12223" y="0"/>
                  </a:moveTo>
                  <a:lnTo>
                    <a:pt x="2506342" y="0"/>
                  </a:lnTo>
                  <a:cubicBezTo>
                    <a:pt x="2513092" y="0"/>
                    <a:pt x="2518564" y="5472"/>
                    <a:pt x="2518564" y="12223"/>
                  </a:cubicBezTo>
                  <a:lnTo>
                    <a:pt x="2518564" y="394222"/>
                  </a:lnTo>
                  <a:cubicBezTo>
                    <a:pt x="2518564" y="400973"/>
                    <a:pt x="2513092" y="406445"/>
                    <a:pt x="2506342" y="406445"/>
                  </a:cubicBezTo>
                  <a:lnTo>
                    <a:pt x="12223" y="406445"/>
                  </a:lnTo>
                  <a:cubicBezTo>
                    <a:pt x="5472" y="406445"/>
                    <a:pt x="0" y="400973"/>
                    <a:pt x="0" y="394222"/>
                  </a:cubicBezTo>
                  <a:lnTo>
                    <a:pt x="0" y="12223"/>
                  </a:lnTo>
                  <a:cubicBezTo>
                    <a:pt x="0" y="5472"/>
                    <a:pt x="5472" y="0"/>
                    <a:pt x="12223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518564" cy="435020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316775" y="8061359"/>
            <a:ext cx="6987381" cy="76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7"/>
              </a:lnSpc>
            </a:pPr>
            <a:r>
              <a:rPr lang="en-US" b="true" sz="1484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Concatenates:    </a:t>
            </a:r>
          </a:p>
          <a:p>
            <a:pPr algn="ctr">
              <a:lnSpc>
                <a:spcPts val="2077"/>
              </a:lnSpc>
            </a:pPr>
            <a:r>
              <a:rPr lang="en-US" b="true" sz="1484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[</a:t>
            </a:r>
            <a:r>
              <a:rPr lang="en-US" b="true" sz="1484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Place Cells (5) + Ego Kinematics (n) + Relative Vehicle Metrics (m) +</a:t>
            </a:r>
            <a:r>
              <a:rPr lang="en-US" b="true" sz="1484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 Signal-State Encoding(k)]  → 19-D Observation Vector O_t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2842756" y="4182676"/>
            <a:ext cx="3689047" cy="925237"/>
            <a:chOff x="0" y="0"/>
            <a:chExt cx="1056675" cy="26502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56675" cy="265021"/>
            </a:xfrm>
            <a:custGeom>
              <a:avLst/>
              <a:gdLst/>
              <a:ahLst/>
              <a:cxnLst/>
              <a:rect r="r" b="b" t="t" l="l"/>
              <a:pathLst>
                <a:path h="265021" w="1056675">
                  <a:moveTo>
                    <a:pt x="25183" y="0"/>
                  </a:moveTo>
                  <a:lnTo>
                    <a:pt x="1031491" y="0"/>
                  </a:lnTo>
                  <a:cubicBezTo>
                    <a:pt x="1038171" y="0"/>
                    <a:pt x="1044576" y="2653"/>
                    <a:pt x="1049299" y="7376"/>
                  </a:cubicBezTo>
                  <a:cubicBezTo>
                    <a:pt x="1054022" y="12099"/>
                    <a:pt x="1056675" y="18504"/>
                    <a:pt x="1056675" y="25183"/>
                  </a:cubicBezTo>
                  <a:lnTo>
                    <a:pt x="1056675" y="239837"/>
                  </a:lnTo>
                  <a:cubicBezTo>
                    <a:pt x="1056675" y="253746"/>
                    <a:pt x="1045400" y="265021"/>
                    <a:pt x="1031491" y="265021"/>
                  </a:cubicBezTo>
                  <a:lnTo>
                    <a:pt x="25183" y="265021"/>
                  </a:lnTo>
                  <a:cubicBezTo>
                    <a:pt x="18504" y="265021"/>
                    <a:pt x="12099" y="262368"/>
                    <a:pt x="7376" y="257645"/>
                  </a:cubicBezTo>
                  <a:cubicBezTo>
                    <a:pt x="2653" y="252922"/>
                    <a:pt x="0" y="246517"/>
                    <a:pt x="0" y="239837"/>
                  </a:cubicBezTo>
                  <a:lnTo>
                    <a:pt x="0" y="25183"/>
                  </a:lnTo>
                  <a:cubicBezTo>
                    <a:pt x="0" y="18504"/>
                    <a:pt x="2653" y="12099"/>
                    <a:pt x="7376" y="7376"/>
                  </a:cubicBezTo>
                  <a:cubicBezTo>
                    <a:pt x="12099" y="2653"/>
                    <a:pt x="18504" y="0"/>
                    <a:pt x="25183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056675" cy="293596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012173" y="4283153"/>
            <a:ext cx="3350212" cy="474152"/>
            <a:chOff x="0" y="0"/>
            <a:chExt cx="959620" cy="13581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9620" cy="135814"/>
            </a:xfrm>
            <a:custGeom>
              <a:avLst/>
              <a:gdLst/>
              <a:ahLst/>
              <a:cxnLst/>
              <a:rect r="r" b="b" t="t" l="l"/>
              <a:pathLst>
                <a:path h="135814" w="959620">
                  <a:moveTo>
                    <a:pt x="27730" y="0"/>
                  </a:moveTo>
                  <a:lnTo>
                    <a:pt x="931890" y="0"/>
                  </a:lnTo>
                  <a:cubicBezTo>
                    <a:pt x="939245" y="0"/>
                    <a:pt x="946298" y="2922"/>
                    <a:pt x="951498" y="8122"/>
                  </a:cubicBezTo>
                  <a:cubicBezTo>
                    <a:pt x="956699" y="13323"/>
                    <a:pt x="959620" y="20376"/>
                    <a:pt x="959620" y="27730"/>
                  </a:cubicBezTo>
                  <a:lnTo>
                    <a:pt x="959620" y="108084"/>
                  </a:lnTo>
                  <a:cubicBezTo>
                    <a:pt x="959620" y="115438"/>
                    <a:pt x="956699" y="122492"/>
                    <a:pt x="951498" y="127692"/>
                  </a:cubicBezTo>
                  <a:cubicBezTo>
                    <a:pt x="946298" y="132893"/>
                    <a:pt x="939245" y="135814"/>
                    <a:pt x="931890" y="135814"/>
                  </a:cubicBezTo>
                  <a:lnTo>
                    <a:pt x="27730" y="135814"/>
                  </a:lnTo>
                  <a:cubicBezTo>
                    <a:pt x="12415" y="135814"/>
                    <a:pt x="0" y="123399"/>
                    <a:pt x="0" y="108084"/>
                  </a:cubicBezTo>
                  <a:lnTo>
                    <a:pt x="0" y="27730"/>
                  </a:lnTo>
                  <a:cubicBezTo>
                    <a:pt x="0" y="20376"/>
                    <a:pt x="2922" y="13323"/>
                    <a:pt x="8122" y="8122"/>
                  </a:cubicBezTo>
                  <a:cubicBezTo>
                    <a:pt x="13323" y="2922"/>
                    <a:pt x="20376" y="0"/>
                    <a:pt x="2773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959620" cy="164389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849725" y="2746939"/>
            <a:ext cx="3689047" cy="1154860"/>
            <a:chOff x="0" y="0"/>
            <a:chExt cx="1056675" cy="33079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56675" cy="330793"/>
            </a:xfrm>
            <a:custGeom>
              <a:avLst/>
              <a:gdLst/>
              <a:ahLst/>
              <a:cxnLst/>
              <a:rect r="r" b="b" t="t" l="l"/>
              <a:pathLst>
                <a:path h="330793" w="1056675">
                  <a:moveTo>
                    <a:pt x="25183" y="0"/>
                  </a:moveTo>
                  <a:lnTo>
                    <a:pt x="1031491" y="0"/>
                  </a:lnTo>
                  <a:cubicBezTo>
                    <a:pt x="1038171" y="0"/>
                    <a:pt x="1044576" y="2653"/>
                    <a:pt x="1049299" y="7376"/>
                  </a:cubicBezTo>
                  <a:cubicBezTo>
                    <a:pt x="1054022" y="12099"/>
                    <a:pt x="1056675" y="18504"/>
                    <a:pt x="1056675" y="25183"/>
                  </a:cubicBezTo>
                  <a:lnTo>
                    <a:pt x="1056675" y="305610"/>
                  </a:lnTo>
                  <a:cubicBezTo>
                    <a:pt x="1056675" y="319518"/>
                    <a:pt x="1045400" y="330793"/>
                    <a:pt x="1031491" y="330793"/>
                  </a:cubicBezTo>
                  <a:lnTo>
                    <a:pt x="25183" y="330793"/>
                  </a:lnTo>
                  <a:cubicBezTo>
                    <a:pt x="18504" y="330793"/>
                    <a:pt x="12099" y="328140"/>
                    <a:pt x="7376" y="323417"/>
                  </a:cubicBezTo>
                  <a:cubicBezTo>
                    <a:pt x="2653" y="318694"/>
                    <a:pt x="0" y="312289"/>
                    <a:pt x="0" y="305610"/>
                  </a:cubicBezTo>
                  <a:lnTo>
                    <a:pt x="0" y="25183"/>
                  </a:lnTo>
                  <a:cubicBezTo>
                    <a:pt x="0" y="18504"/>
                    <a:pt x="2653" y="12099"/>
                    <a:pt x="7376" y="7376"/>
                  </a:cubicBezTo>
                  <a:cubicBezTo>
                    <a:pt x="12099" y="2653"/>
                    <a:pt x="18504" y="0"/>
                    <a:pt x="25183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56675" cy="359368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4" id="64"/>
          <p:cNvSpPr/>
          <p:nvPr/>
        </p:nvSpPr>
        <p:spPr>
          <a:xfrm>
            <a:off x="2933875" y="7775216"/>
            <a:ext cx="389394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flipH="true">
            <a:off x="5835691" y="5572239"/>
            <a:ext cx="0" cy="23810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7631800" y="5572239"/>
            <a:ext cx="0" cy="23810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3782796" y="5572239"/>
            <a:ext cx="0" cy="23810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H="true">
            <a:off x="1837344" y="5572239"/>
            <a:ext cx="0" cy="23810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>
            <a:off x="4879484" y="5462846"/>
            <a:ext cx="0" cy="10939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>
            <a:off x="4687279" y="4027751"/>
            <a:ext cx="0" cy="154925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>
            <a:off x="2617874" y="4027751"/>
            <a:ext cx="409724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>
            <a:off x="2617874" y="3901799"/>
            <a:ext cx="0" cy="12595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>
            <a:off x="6715114" y="3870328"/>
            <a:ext cx="0" cy="15742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flipH="true">
            <a:off x="2933875" y="7594400"/>
            <a:ext cx="0" cy="180816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6827819" y="7626609"/>
            <a:ext cx="0" cy="14860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H="true">
            <a:off x="4914966" y="7775216"/>
            <a:ext cx="0" cy="19566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9380870" y="3340112"/>
            <a:ext cx="8569475" cy="3837812"/>
            <a:chOff x="0" y="0"/>
            <a:chExt cx="2514230" cy="112599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514230" cy="1125990"/>
            </a:xfrm>
            <a:custGeom>
              <a:avLst/>
              <a:gdLst/>
              <a:ahLst/>
              <a:cxnLst/>
              <a:rect r="r" b="b" t="t" l="l"/>
              <a:pathLst>
                <a:path h="1125990" w="2514230">
                  <a:moveTo>
                    <a:pt x="10841" y="0"/>
                  </a:moveTo>
                  <a:lnTo>
                    <a:pt x="2503389" y="0"/>
                  </a:lnTo>
                  <a:cubicBezTo>
                    <a:pt x="2506264" y="0"/>
                    <a:pt x="2509022" y="1142"/>
                    <a:pt x="2511055" y="3175"/>
                  </a:cubicBezTo>
                  <a:cubicBezTo>
                    <a:pt x="2513088" y="5208"/>
                    <a:pt x="2514230" y="7966"/>
                    <a:pt x="2514230" y="10841"/>
                  </a:cubicBezTo>
                  <a:lnTo>
                    <a:pt x="2514230" y="1115149"/>
                  </a:lnTo>
                  <a:cubicBezTo>
                    <a:pt x="2514230" y="1118024"/>
                    <a:pt x="2513088" y="1120782"/>
                    <a:pt x="2511055" y="1122815"/>
                  </a:cubicBezTo>
                  <a:cubicBezTo>
                    <a:pt x="2509022" y="1124848"/>
                    <a:pt x="2506264" y="1125990"/>
                    <a:pt x="2503389" y="1125990"/>
                  </a:cubicBezTo>
                  <a:lnTo>
                    <a:pt x="10841" y="1125990"/>
                  </a:lnTo>
                  <a:cubicBezTo>
                    <a:pt x="7966" y="1125990"/>
                    <a:pt x="5208" y="1124848"/>
                    <a:pt x="3175" y="1122815"/>
                  </a:cubicBezTo>
                  <a:cubicBezTo>
                    <a:pt x="1142" y="1120782"/>
                    <a:pt x="0" y="1118024"/>
                    <a:pt x="0" y="1115149"/>
                  </a:cubicBezTo>
                  <a:lnTo>
                    <a:pt x="0" y="10841"/>
                  </a:lnTo>
                  <a:cubicBezTo>
                    <a:pt x="0" y="7966"/>
                    <a:pt x="1142" y="5208"/>
                    <a:pt x="3175" y="3175"/>
                  </a:cubicBezTo>
                  <a:cubicBezTo>
                    <a:pt x="5208" y="1142"/>
                    <a:pt x="7966" y="0"/>
                    <a:pt x="10841" y="0"/>
                  </a:cubicBez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2514230" cy="1154565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788152" y="4951423"/>
            <a:ext cx="2033910" cy="1012194"/>
            <a:chOff x="0" y="0"/>
            <a:chExt cx="596737" cy="2969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96737" cy="296971"/>
            </a:xfrm>
            <a:custGeom>
              <a:avLst/>
              <a:gdLst/>
              <a:ahLst/>
              <a:cxnLst/>
              <a:rect r="r" b="b" t="t" l="l"/>
              <a:pathLst>
                <a:path h="296971" w="596737">
                  <a:moveTo>
                    <a:pt x="45677" y="0"/>
                  </a:moveTo>
                  <a:lnTo>
                    <a:pt x="551060" y="0"/>
                  </a:lnTo>
                  <a:cubicBezTo>
                    <a:pt x="563174" y="0"/>
                    <a:pt x="574792" y="4812"/>
                    <a:pt x="583358" y="13378"/>
                  </a:cubicBezTo>
                  <a:cubicBezTo>
                    <a:pt x="591924" y="21945"/>
                    <a:pt x="596737" y="33563"/>
                    <a:pt x="596737" y="45677"/>
                  </a:cubicBezTo>
                  <a:lnTo>
                    <a:pt x="596737" y="251294"/>
                  </a:lnTo>
                  <a:cubicBezTo>
                    <a:pt x="596737" y="263409"/>
                    <a:pt x="591924" y="275027"/>
                    <a:pt x="583358" y="283593"/>
                  </a:cubicBezTo>
                  <a:cubicBezTo>
                    <a:pt x="574792" y="292159"/>
                    <a:pt x="563174" y="296971"/>
                    <a:pt x="551060" y="296971"/>
                  </a:cubicBezTo>
                  <a:lnTo>
                    <a:pt x="45677" y="296971"/>
                  </a:lnTo>
                  <a:cubicBezTo>
                    <a:pt x="33563" y="296971"/>
                    <a:pt x="21945" y="292159"/>
                    <a:pt x="13378" y="283593"/>
                  </a:cubicBezTo>
                  <a:cubicBezTo>
                    <a:pt x="4812" y="275027"/>
                    <a:pt x="0" y="263409"/>
                    <a:pt x="0" y="251294"/>
                  </a:cubicBezTo>
                  <a:lnTo>
                    <a:pt x="0" y="45677"/>
                  </a:lnTo>
                  <a:cubicBezTo>
                    <a:pt x="0" y="33563"/>
                    <a:pt x="4812" y="21945"/>
                    <a:pt x="13378" y="13378"/>
                  </a:cubicBezTo>
                  <a:cubicBezTo>
                    <a:pt x="21945" y="4812"/>
                    <a:pt x="33563" y="0"/>
                    <a:pt x="45677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596737" cy="325546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710188" y="4951423"/>
            <a:ext cx="2033910" cy="1012194"/>
            <a:chOff x="0" y="0"/>
            <a:chExt cx="596737" cy="29697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96737" cy="296971"/>
            </a:xfrm>
            <a:custGeom>
              <a:avLst/>
              <a:gdLst/>
              <a:ahLst/>
              <a:cxnLst/>
              <a:rect r="r" b="b" t="t" l="l"/>
              <a:pathLst>
                <a:path h="296971" w="596737">
                  <a:moveTo>
                    <a:pt x="45677" y="0"/>
                  </a:moveTo>
                  <a:lnTo>
                    <a:pt x="551060" y="0"/>
                  </a:lnTo>
                  <a:cubicBezTo>
                    <a:pt x="563174" y="0"/>
                    <a:pt x="574792" y="4812"/>
                    <a:pt x="583358" y="13378"/>
                  </a:cubicBezTo>
                  <a:cubicBezTo>
                    <a:pt x="591924" y="21945"/>
                    <a:pt x="596737" y="33563"/>
                    <a:pt x="596737" y="45677"/>
                  </a:cubicBezTo>
                  <a:lnTo>
                    <a:pt x="596737" y="251294"/>
                  </a:lnTo>
                  <a:cubicBezTo>
                    <a:pt x="596737" y="263409"/>
                    <a:pt x="591924" y="275027"/>
                    <a:pt x="583358" y="283593"/>
                  </a:cubicBezTo>
                  <a:cubicBezTo>
                    <a:pt x="574792" y="292159"/>
                    <a:pt x="563174" y="296971"/>
                    <a:pt x="551060" y="296971"/>
                  </a:cubicBezTo>
                  <a:lnTo>
                    <a:pt x="45677" y="296971"/>
                  </a:lnTo>
                  <a:cubicBezTo>
                    <a:pt x="33563" y="296971"/>
                    <a:pt x="21945" y="292159"/>
                    <a:pt x="13378" y="283593"/>
                  </a:cubicBezTo>
                  <a:cubicBezTo>
                    <a:pt x="4812" y="275027"/>
                    <a:pt x="0" y="263409"/>
                    <a:pt x="0" y="251294"/>
                  </a:cubicBezTo>
                  <a:lnTo>
                    <a:pt x="0" y="45677"/>
                  </a:lnTo>
                  <a:cubicBezTo>
                    <a:pt x="0" y="33563"/>
                    <a:pt x="4812" y="21945"/>
                    <a:pt x="13378" y="13378"/>
                  </a:cubicBezTo>
                  <a:cubicBezTo>
                    <a:pt x="21945" y="4812"/>
                    <a:pt x="33563" y="0"/>
                    <a:pt x="45677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596737" cy="325546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591852" y="4951423"/>
            <a:ext cx="2033910" cy="1012194"/>
            <a:chOff x="0" y="0"/>
            <a:chExt cx="596737" cy="2969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96737" cy="296971"/>
            </a:xfrm>
            <a:custGeom>
              <a:avLst/>
              <a:gdLst/>
              <a:ahLst/>
              <a:cxnLst/>
              <a:rect r="r" b="b" t="t" l="l"/>
              <a:pathLst>
                <a:path h="296971" w="596737">
                  <a:moveTo>
                    <a:pt x="45677" y="0"/>
                  </a:moveTo>
                  <a:lnTo>
                    <a:pt x="551060" y="0"/>
                  </a:lnTo>
                  <a:cubicBezTo>
                    <a:pt x="563174" y="0"/>
                    <a:pt x="574792" y="4812"/>
                    <a:pt x="583358" y="13378"/>
                  </a:cubicBezTo>
                  <a:cubicBezTo>
                    <a:pt x="591924" y="21945"/>
                    <a:pt x="596737" y="33563"/>
                    <a:pt x="596737" y="45677"/>
                  </a:cubicBezTo>
                  <a:lnTo>
                    <a:pt x="596737" y="251294"/>
                  </a:lnTo>
                  <a:cubicBezTo>
                    <a:pt x="596737" y="263409"/>
                    <a:pt x="591924" y="275027"/>
                    <a:pt x="583358" y="283593"/>
                  </a:cubicBezTo>
                  <a:cubicBezTo>
                    <a:pt x="574792" y="292159"/>
                    <a:pt x="563174" y="296971"/>
                    <a:pt x="551060" y="296971"/>
                  </a:cubicBezTo>
                  <a:lnTo>
                    <a:pt x="45677" y="296971"/>
                  </a:lnTo>
                  <a:cubicBezTo>
                    <a:pt x="33563" y="296971"/>
                    <a:pt x="21945" y="292159"/>
                    <a:pt x="13378" y="283593"/>
                  </a:cubicBezTo>
                  <a:cubicBezTo>
                    <a:pt x="4812" y="275027"/>
                    <a:pt x="0" y="263409"/>
                    <a:pt x="0" y="251294"/>
                  </a:cubicBezTo>
                  <a:lnTo>
                    <a:pt x="0" y="45677"/>
                  </a:lnTo>
                  <a:cubicBezTo>
                    <a:pt x="0" y="33563"/>
                    <a:pt x="4812" y="21945"/>
                    <a:pt x="13378" y="13378"/>
                  </a:cubicBezTo>
                  <a:cubicBezTo>
                    <a:pt x="21945" y="4812"/>
                    <a:pt x="33563" y="0"/>
                    <a:pt x="45677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596737" cy="325546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04101" y="4951423"/>
            <a:ext cx="2033910" cy="1012194"/>
            <a:chOff x="0" y="0"/>
            <a:chExt cx="596737" cy="29697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6737" cy="296971"/>
            </a:xfrm>
            <a:custGeom>
              <a:avLst/>
              <a:gdLst/>
              <a:ahLst/>
              <a:cxnLst/>
              <a:rect r="r" b="b" t="t" l="l"/>
              <a:pathLst>
                <a:path h="296971" w="596737">
                  <a:moveTo>
                    <a:pt x="45677" y="0"/>
                  </a:moveTo>
                  <a:lnTo>
                    <a:pt x="551060" y="0"/>
                  </a:lnTo>
                  <a:cubicBezTo>
                    <a:pt x="563174" y="0"/>
                    <a:pt x="574792" y="4812"/>
                    <a:pt x="583358" y="13378"/>
                  </a:cubicBezTo>
                  <a:cubicBezTo>
                    <a:pt x="591924" y="21945"/>
                    <a:pt x="596737" y="33563"/>
                    <a:pt x="596737" y="45677"/>
                  </a:cubicBezTo>
                  <a:lnTo>
                    <a:pt x="596737" y="251294"/>
                  </a:lnTo>
                  <a:cubicBezTo>
                    <a:pt x="596737" y="263409"/>
                    <a:pt x="591924" y="275027"/>
                    <a:pt x="583358" y="283593"/>
                  </a:cubicBezTo>
                  <a:cubicBezTo>
                    <a:pt x="574792" y="292159"/>
                    <a:pt x="563174" y="296971"/>
                    <a:pt x="551060" y="296971"/>
                  </a:cubicBezTo>
                  <a:lnTo>
                    <a:pt x="45677" y="296971"/>
                  </a:lnTo>
                  <a:cubicBezTo>
                    <a:pt x="33563" y="296971"/>
                    <a:pt x="21945" y="292159"/>
                    <a:pt x="13378" y="283593"/>
                  </a:cubicBezTo>
                  <a:cubicBezTo>
                    <a:pt x="4812" y="275027"/>
                    <a:pt x="0" y="263409"/>
                    <a:pt x="0" y="251294"/>
                  </a:cubicBezTo>
                  <a:lnTo>
                    <a:pt x="0" y="45677"/>
                  </a:lnTo>
                  <a:cubicBezTo>
                    <a:pt x="0" y="33563"/>
                    <a:pt x="4812" y="21945"/>
                    <a:pt x="13378" y="13378"/>
                  </a:cubicBezTo>
                  <a:cubicBezTo>
                    <a:pt x="21945" y="4812"/>
                    <a:pt x="33563" y="0"/>
                    <a:pt x="45677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596737" cy="325546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82187" y="3409920"/>
            <a:ext cx="8089646" cy="1239001"/>
            <a:chOff x="0" y="0"/>
            <a:chExt cx="2373452" cy="36351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373452" cy="363515"/>
            </a:xfrm>
            <a:custGeom>
              <a:avLst/>
              <a:gdLst/>
              <a:ahLst/>
              <a:cxnLst/>
              <a:rect r="r" b="b" t="t" l="l"/>
              <a:pathLst>
                <a:path h="363515" w="2373452">
                  <a:moveTo>
                    <a:pt x="11484" y="0"/>
                  </a:moveTo>
                  <a:lnTo>
                    <a:pt x="2361967" y="0"/>
                  </a:lnTo>
                  <a:cubicBezTo>
                    <a:pt x="2368310" y="0"/>
                    <a:pt x="2373452" y="5142"/>
                    <a:pt x="2373452" y="11484"/>
                  </a:cubicBezTo>
                  <a:lnTo>
                    <a:pt x="2373452" y="352031"/>
                  </a:lnTo>
                  <a:cubicBezTo>
                    <a:pt x="2373452" y="358374"/>
                    <a:pt x="2368310" y="363515"/>
                    <a:pt x="2361967" y="363515"/>
                  </a:cubicBezTo>
                  <a:lnTo>
                    <a:pt x="11484" y="363515"/>
                  </a:lnTo>
                  <a:cubicBezTo>
                    <a:pt x="5142" y="363515"/>
                    <a:pt x="0" y="358374"/>
                    <a:pt x="0" y="352031"/>
                  </a:cubicBezTo>
                  <a:lnTo>
                    <a:pt x="0" y="11484"/>
                  </a:lnTo>
                  <a:cubicBezTo>
                    <a:pt x="0" y="5142"/>
                    <a:pt x="5142" y="0"/>
                    <a:pt x="1148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ysDot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2373452" cy="392090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838625" y="3526267"/>
            <a:ext cx="7387569" cy="1018955"/>
            <a:chOff x="0" y="0"/>
            <a:chExt cx="2167467" cy="29895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67467" cy="298955"/>
            </a:xfrm>
            <a:custGeom>
              <a:avLst/>
              <a:gdLst/>
              <a:ahLst/>
              <a:cxnLst/>
              <a:rect r="r" b="b" t="t" l="l"/>
              <a:pathLst>
                <a:path h="298955" w="2167467">
                  <a:moveTo>
                    <a:pt x="12576" y="0"/>
                  </a:moveTo>
                  <a:lnTo>
                    <a:pt x="2154891" y="0"/>
                  </a:lnTo>
                  <a:cubicBezTo>
                    <a:pt x="2161836" y="0"/>
                    <a:pt x="2167467" y="5630"/>
                    <a:pt x="2167467" y="12576"/>
                  </a:cubicBezTo>
                  <a:lnTo>
                    <a:pt x="2167467" y="286379"/>
                  </a:lnTo>
                  <a:cubicBezTo>
                    <a:pt x="2167467" y="289715"/>
                    <a:pt x="2166142" y="292913"/>
                    <a:pt x="2163783" y="295272"/>
                  </a:cubicBezTo>
                  <a:cubicBezTo>
                    <a:pt x="2161425" y="297630"/>
                    <a:pt x="2158226" y="298955"/>
                    <a:pt x="2154891" y="298955"/>
                  </a:cubicBezTo>
                  <a:lnTo>
                    <a:pt x="12576" y="298955"/>
                  </a:lnTo>
                  <a:cubicBezTo>
                    <a:pt x="9240" y="298955"/>
                    <a:pt x="6042" y="297630"/>
                    <a:pt x="3683" y="295272"/>
                  </a:cubicBezTo>
                  <a:cubicBezTo>
                    <a:pt x="1325" y="292913"/>
                    <a:pt x="0" y="289715"/>
                    <a:pt x="0" y="286379"/>
                  </a:cubicBezTo>
                  <a:lnTo>
                    <a:pt x="0" y="12576"/>
                  </a:lnTo>
                  <a:cubicBezTo>
                    <a:pt x="0" y="9240"/>
                    <a:pt x="1325" y="6042"/>
                    <a:pt x="3683" y="3683"/>
                  </a:cubicBezTo>
                  <a:cubicBezTo>
                    <a:pt x="6042" y="1325"/>
                    <a:pt x="9240" y="0"/>
                    <a:pt x="12576" y="0"/>
                  </a:cubicBezTo>
                  <a:close/>
                </a:path>
              </a:pathLst>
            </a:custGeom>
            <a:solidFill>
              <a:srgbClr val="EDCBF6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2167467" cy="327530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590987" y="5038683"/>
            <a:ext cx="1857058" cy="605822"/>
            <a:chOff x="0" y="0"/>
            <a:chExt cx="544849" cy="17774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44849" cy="177744"/>
            </a:xfrm>
            <a:custGeom>
              <a:avLst/>
              <a:gdLst/>
              <a:ahLst/>
              <a:cxnLst/>
              <a:rect r="r" b="b" t="t" l="l"/>
              <a:pathLst>
                <a:path h="177744" w="544849">
                  <a:moveTo>
                    <a:pt x="50027" y="0"/>
                  </a:moveTo>
                  <a:lnTo>
                    <a:pt x="494822" y="0"/>
                  </a:lnTo>
                  <a:cubicBezTo>
                    <a:pt x="508090" y="0"/>
                    <a:pt x="520815" y="5271"/>
                    <a:pt x="530197" y="14653"/>
                  </a:cubicBezTo>
                  <a:cubicBezTo>
                    <a:pt x="539579" y="24034"/>
                    <a:pt x="544849" y="36759"/>
                    <a:pt x="544849" y="50027"/>
                  </a:cubicBezTo>
                  <a:lnTo>
                    <a:pt x="544849" y="127717"/>
                  </a:lnTo>
                  <a:cubicBezTo>
                    <a:pt x="544849" y="140985"/>
                    <a:pt x="539579" y="153710"/>
                    <a:pt x="530197" y="163092"/>
                  </a:cubicBezTo>
                  <a:cubicBezTo>
                    <a:pt x="520815" y="172474"/>
                    <a:pt x="508090" y="177744"/>
                    <a:pt x="494822" y="177744"/>
                  </a:cubicBezTo>
                  <a:lnTo>
                    <a:pt x="50027" y="177744"/>
                  </a:lnTo>
                  <a:cubicBezTo>
                    <a:pt x="36759" y="177744"/>
                    <a:pt x="24034" y="172474"/>
                    <a:pt x="14653" y="163092"/>
                  </a:cubicBezTo>
                  <a:cubicBezTo>
                    <a:pt x="5271" y="153710"/>
                    <a:pt x="0" y="140985"/>
                    <a:pt x="0" y="127717"/>
                  </a:cubicBezTo>
                  <a:lnTo>
                    <a:pt x="0" y="50027"/>
                  </a:lnTo>
                  <a:cubicBezTo>
                    <a:pt x="0" y="36759"/>
                    <a:pt x="5271" y="24034"/>
                    <a:pt x="14653" y="14653"/>
                  </a:cubicBezTo>
                  <a:cubicBezTo>
                    <a:pt x="24034" y="5271"/>
                    <a:pt x="36759" y="0"/>
                    <a:pt x="50027" y="0"/>
                  </a:cubicBezTo>
                  <a:close/>
                </a:path>
              </a:pathLst>
            </a:custGeom>
            <a:solidFill>
              <a:srgbClr val="EDCBF6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544849" cy="206319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680278" y="5038683"/>
            <a:ext cx="1857058" cy="605822"/>
            <a:chOff x="0" y="0"/>
            <a:chExt cx="544849" cy="17774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44849" cy="177744"/>
            </a:xfrm>
            <a:custGeom>
              <a:avLst/>
              <a:gdLst/>
              <a:ahLst/>
              <a:cxnLst/>
              <a:rect r="r" b="b" t="t" l="l"/>
              <a:pathLst>
                <a:path h="177744" w="544849">
                  <a:moveTo>
                    <a:pt x="50027" y="0"/>
                  </a:moveTo>
                  <a:lnTo>
                    <a:pt x="494822" y="0"/>
                  </a:lnTo>
                  <a:cubicBezTo>
                    <a:pt x="508090" y="0"/>
                    <a:pt x="520815" y="5271"/>
                    <a:pt x="530197" y="14653"/>
                  </a:cubicBezTo>
                  <a:cubicBezTo>
                    <a:pt x="539579" y="24034"/>
                    <a:pt x="544849" y="36759"/>
                    <a:pt x="544849" y="50027"/>
                  </a:cubicBezTo>
                  <a:lnTo>
                    <a:pt x="544849" y="127717"/>
                  </a:lnTo>
                  <a:cubicBezTo>
                    <a:pt x="544849" y="140985"/>
                    <a:pt x="539579" y="153710"/>
                    <a:pt x="530197" y="163092"/>
                  </a:cubicBezTo>
                  <a:cubicBezTo>
                    <a:pt x="520815" y="172474"/>
                    <a:pt x="508090" y="177744"/>
                    <a:pt x="494822" y="177744"/>
                  </a:cubicBezTo>
                  <a:lnTo>
                    <a:pt x="50027" y="177744"/>
                  </a:lnTo>
                  <a:cubicBezTo>
                    <a:pt x="36759" y="177744"/>
                    <a:pt x="24034" y="172474"/>
                    <a:pt x="14653" y="163092"/>
                  </a:cubicBezTo>
                  <a:cubicBezTo>
                    <a:pt x="5271" y="153710"/>
                    <a:pt x="0" y="140985"/>
                    <a:pt x="0" y="127717"/>
                  </a:cubicBezTo>
                  <a:lnTo>
                    <a:pt x="0" y="50027"/>
                  </a:lnTo>
                  <a:cubicBezTo>
                    <a:pt x="0" y="36759"/>
                    <a:pt x="5271" y="24034"/>
                    <a:pt x="14653" y="14653"/>
                  </a:cubicBezTo>
                  <a:cubicBezTo>
                    <a:pt x="24034" y="5271"/>
                    <a:pt x="36759" y="0"/>
                    <a:pt x="50027" y="0"/>
                  </a:cubicBezTo>
                  <a:close/>
                </a:path>
              </a:pathLst>
            </a:custGeom>
            <a:solidFill>
              <a:srgbClr val="EDCBF6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544849" cy="206319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785375" y="5038683"/>
            <a:ext cx="1857058" cy="605822"/>
            <a:chOff x="0" y="0"/>
            <a:chExt cx="544849" cy="17774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44849" cy="177744"/>
            </a:xfrm>
            <a:custGeom>
              <a:avLst/>
              <a:gdLst/>
              <a:ahLst/>
              <a:cxnLst/>
              <a:rect r="r" b="b" t="t" l="l"/>
              <a:pathLst>
                <a:path h="177744" w="544849">
                  <a:moveTo>
                    <a:pt x="50027" y="0"/>
                  </a:moveTo>
                  <a:lnTo>
                    <a:pt x="494822" y="0"/>
                  </a:lnTo>
                  <a:cubicBezTo>
                    <a:pt x="508090" y="0"/>
                    <a:pt x="520815" y="5271"/>
                    <a:pt x="530197" y="14653"/>
                  </a:cubicBezTo>
                  <a:cubicBezTo>
                    <a:pt x="539579" y="24034"/>
                    <a:pt x="544849" y="36759"/>
                    <a:pt x="544849" y="50027"/>
                  </a:cubicBezTo>
                  <a:lnTo>
                    <a:pt x="544849" y="127717"/>
                  </a:lnTo>
                  <a:cubicBezTo>
                    <a:pt x="544849" y="140985"/>
                    <a:pt x="539579" y="153710"/>
                    <a:pt x="530197" y="163092"/>
                  </a:cubicBezTo>
                  <a:cubicBezTo>
                    <a:pt x="520815" y="172474"/>
                    <a:pt x="508090" y="177744"/>
                    <a:pt x="494822" y="177744"/>
                  </a:cubicBezTo>
                  <a:lnTo>
                    <a:pt x="50027" y="177744"/>
                  </a:lnTo>
                  <a:cubicBezTo>
                    <a:pt x="36759" y="177744"/>
                    <a:pt x="24034" y="172474"/>
                    <a:pt x="14653" y="163092"/>
                  </a:cubicBezTo>
                  <a:cubicBezTo>
                    <a:pt x="5271" y="153710"/>
                    <a:pt x="0" y="140985"/>
                    <a:pt x="0" y="127717"/>
                  </a:cubicBezTo>
                  <a:lnTo>
                    <a:pt x="0" y="50027"/>
                  </a:lnTo>
                  <a:cubicBezTo>
                    <a:pt x="0" y="36759"/>
                    <a:pt x="5271" y="24034"/>
                    <a:pt x="14653" y="14653"/>
                  </a:cubicBezTo>
                  <a:cubicBezTo>
                    <a:pt x="24034" y="5271"/>
                    <a:pt x="36759" y="0"/>
                    <a:pt x="50027" y="0"/>
                  </a:cubicBezTo>
                  <a:close/>
                </a:path>
              </a:pathLst>
            </a:custGeom>
            <a:solidFill>
              <a:srgbClr val="EDCBF6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544849" cy="206319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5883715" y="5038683"/>
            <a:ext cx="1857058" cy="605822"/>
            <a:chOff x="0" y="0"/>
            <a:chExt cx="544849" cy="17774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44849" cy="177744"/>
            </a:xfrm>
            <a:custGeom>
              <a:avLst/>
              <a:gdLst/>
              <a:ahLst/>
              <a:cxnLst/>
              <a:rect r="r" b="b" t="t" l="l"/>
              <a:pathLst>
                <a:path h="177744" w="544849">
                  <a:moveTo>
                    <a:pt x="50027" y="0"/>
                  </a:moveTo>
                  <a:lnTo>
                    <a:pt x="494822" y="0"/>
                  </a:lnTo>
                  <a:cubicBezTo>
                    <a:pt x="508090" y="0"/>
                    <a:pt x="520815" y="5271"/>
                    <a:pt x="530197" y="14653"/>
                  </a:cubicBezTo>
                  <a:cubicBezTo>
                    <a:pt x="539579" y="24034"/>
                    <a:pt x="544849" y="36759"/>
                    <a:pt x="544849" y="50027"/>
                  </a:cubicBezTo>
                  <a:lnTo>
                    <a:pt x="544849" y="127717"/>
                  </a:lnTo>
                  <a:cubicBezTo>
                    <a:pt x="544849" y="140985"/>
                    <a:pt x="539579" y="153710"/>
                    <a:pt x="530197" y="163092"/>
                  </a:cubicBezTo>
                  <a:cubicBezTo>
                    <a:pt x="520815" y="172474"/>
                    <a:pt x="508090" y="177744"/>
                    <a:pt x="494822" y="177744"/>
                  </a:cubicBezTo>
                  <a:lnTo>
                    <a:pt x="50027" y="177744"/>
                  </a:lnTo>
                  <a:cubicBezTo>
                    <a:pt x="36759" y="177744"/>
                    <a:pt x="24034" y="172474"/>
                    <a:pt x="14653" y="163092"/>
                  </a:cubicBezTo>
                  <a:cubicBezTo>
                    <a:pt x="5271" y="153710"/>
                    <a:pt x="0" y="140985"/>
                    <a:pt x="0" y="127717"/>
                  </a:cubicBezTo>
                  <a:lnTo>
                    <a:pt x="0" y="50027"/>
                  </a:lnTo>
                  <a:cubicBezTo>
                    <a:pt x="0" y="36759"/>
                    <a:pt x="5271" y="24034"/>
                    <a:pt x="14653" y="14653"/>
                  </a:cubicBezTo>
                  <a:cubicBezTo>
                    <a:pt x="24034" y="5271"/>
                    <a:pt x="36759" y="0"/>
                    <a:pt x="50027" y="0"/>
                  </a:cubicBezTo>
                  <a:close/>
                </a:path>
              </a:pathLst>
            </a:custGeom>
            <a:solidFill>
              <a:srgbClr val="EDCBF6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544849" cy="206319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0" id="110"/>
          <p:cNvSpPr/>
          <p:nvPr/>
        </p:nvSpPr>
        <p:spPr>
          <a:xfrm>
            <a:off x="10467855" y="4820743"/>
            <a:ext cx="6465906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 flipH="true">
            <a:off x="10483918" y="4820743"/>
            <a:ext cx="0" cy="13068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2" id="112"/>
          <p:cNvSpPr/>
          <p:nvPr/>
        </p:nvSpPr>
        <p:spPr>
          <a:xfrm>
            <a:off x="12608807" y="4820743"/>
            <a:ext cx="0" cy="13068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3" id="113"/>
          <p:cNvSpPr/>
          <p:nvPr/>
        </p:nvSpPr>
        <p:spPr>
          <a:xfrm flipH="true">
            <a:off x="14727143" y="4820743"/>
            <a:ext cx="0" cy="13068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4" id="114"/>
          <p:cNvSpPr/>
          <p:nvPr/>
        </p:nvSpPr>
        <p:spPr>
          <a:xfrm>
            <a:off x="16922126" y="4820743"/>
            <a:ext cx="0" cy="13068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5" id="115"/>
          <p:cNvSpPr/>
          <p:nvPr/>
        </p:nvSpPr>
        <p:spPr>
          <a:xfrm>
            <a:off x="13683060" y="4648921"/>
            <a:ext cx="0" cy="17182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6" id="116"/>
          <p:cNvSpPr txBox="true"/>
          <p:nvPr/>
        </p:nvSpPr>
        <p:spPr>
          <a:xfrm rot="0">
            <a:off x="7185007" y="5641498"/>
            <a:ext cx="6672099" cy="30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4"/>
              </a:lnSpc>
              <a:spcBef>
                <a:spcPct val="0"/>
              </a:spcBef>
            </a:pPr>
            <a:r>
              <a:rPr lang="en-US" b="true" sz="1803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R_progress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0483918" y="5640818"/>
            <a:ext cx="4154585" cy="25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1"/>
              </a:lnSpc>
              <a:spcBef>
                <a:spcPct val="0"/>
              </a:spcBef>
            </a:pPr>
            <a:r>
              <a:rPr lang="en-US" b="true" sz="1543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R_velocity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0442406" y="5679921"/>
            <a:ext cx="8569475" cy="25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1"/>
              </a:lnSpc>
              <a:spcBef>
                <a:spcPct val="0"/>
              </a:spcBef>
            </a:pPr>
            <a:r>
              <a:rPr lang="en-US" b="true" sz="1543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R_safety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2507236" y="5691555"/>
            <a:ext cx="8569475" cy="25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1"/>
              </a:lnSpc>
              <a:spcBef>
                <a:spcPct val="0"/>
              </a:spcBef>
            </a:pPr>
            <a:r>
              <a:rPr lang="en-US" b="true" sz="1543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R_signal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9795247" y="6161407"/>
            <a:ext cx="7699583" cy="520153"/>
            <a:chOff x="0" y="0"/>
            <a:chExt cx="2259009" cy="15261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259009" cy="152610"/>
            </a:xfrm>
            <a:custGeom>
              <a:avLst/>
              <a:gdLst/>
              <a:ahLst/>
              <a:cxnLst/>
              <a:rect r="r" b="b" t="t" l="l"/>
              <a:pathLst>
                <a:path h="152610" w="2259009">
                  <a:moveTo>
                    <a:pt x="12066" y="0"/>
                  </a:moveTo>
                  <a:lnTo>
                    <a:pt x="2246943" y="0"/>
                  </a:lnTo>
                  <a:cubicBezTo>
                    <a:pt x="2250143" y="0"/>
                    <a:pt x="2253212" y="1271"/>
                    <a:pt x="2255475" y="3534"/>
                  </a:cubicBezTo>
                  <a:cubicBezTo>
                    <a:pt x="2257738" y="5797"/>
                    <a:pt x="2259009" y="8866"/>
                    <a:pt x="2259009" y="12066"/>
                  </a:cubicBezTo>
                  <a:lnTo>
                    <a:pt x="2259009" y="140544"/>
                  </a:lnTo>
                  <a:cubicBezTo>
                    <a:pt x="2259009" y="143744"/>
                    <a:pt x="2257738" y="146813"/>
                    <a:pt x="2255475" y="149076"/>
                  </a:cubicBezTo>
                  <a:cubicBezTo>
                    <a:pt x="2253212" y="151339"/>
                    <a:pt x="2250143" y="152610"/>
                    <a:pt x="2246943" y="152610"/>
                  </a:cubicBezTo>
                  <a:lnTo>
                    <a:pt x="12066" y="152610"/>
                  </a:lnTo>
                  <a:cubicBezTo>
                    <a:pt x="8866" y="152610"/>
                    <a:pt x="5797" y="151339"/>
                    <a:pt x="3534" y="149076"/>
                  </a:cubicBezTo>
                  <a:cubicBezTo>
                    <a:pt x="1271" y="146813"/>
                    <a:pt x="0" y="143744"/>
                    <a:pt x="0" y="140544"/>
                  </a:cubicBezTo>
                  <a:lnTo>
                    <a:pt x="0" y="12066"/>
                  </a:lnTo>
                  <a:cubicBezTo>
                    <a:pt x="0" y="8866"/>
                    <a:pt x="1271" y="5797"/>
                    <a:pt x="3534" y="3534"/>
                  </a:cubicBezTo>
                  <a:cubicBezTo>
                    <a:pt x="5797" y="1271"/>
                    <a:pt x="8866" y="0"/>
                    <a:pt x="12066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2259009" cy="181185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910614" y="6255072"/>
            <a:ext cx="7387569" cy="312985"/>
            <a:chOff x="0" y="0"/>
            <a:chExt cx="2167467" cy="9182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167467" cy="91828"/>
            </a:xfrm>
            <a:custGeom>
              <a:avLst/>
              <a:gdLst/>
              <a:ahLst/>
              <a:cxnLst/>
              <a:rect r="r" b="b" t="t" l="l"/>
              <a:pathLst>
                <a:path h="91828" w="2167467">
                  <a:moveTo>
                    <a:pt x="12576" y="0"/>
                  </a:moveTo>
                  <a:lnTo>
                    <a:pt x="2154891" y="0"/>
                  </a:lnTo>
                  <a:cubicBezTo>
                    <a:pt x="2161836" y="0"/>
                    <a:pt x="2167467" y="5630"/>
                    <a:pt x="2167467" y="12576"/>
                  </a:cubicBezTo>
                  <a:lnTo>
                    <a:pt x="2167467" y="79252"/>
                  </a:lnTo>
                  <a:cubicBezTo>
                    <a:pt x="2167467" y="82587"/>
                    <a:pt x="2166142" y="85786"/>
                    <a:pt x="2163783" y="88144"/>
                  </a:cubicBezTo>
                  <a:cubicBezTo>
                    <a:pt x="2161425" y="90503"/>
                    <a:pt x="2158226" y="91828"/>
                    <a:pt x="2154891" y="91828"/>
                  </a:cubicBezTo>
                  <a:lnTo>
                    <a:pt x="12576" y="91828"/>
                  </a:lnTo>
                  <a:cubicBezTo>
                    <a:pt x="9240" y="91828"/>
                    <a:pt x="6042" y="90503"/>
                    <a:pt x="3683" y="88144"/>
                  </a:cubicBezTo>
                  <a:cubicBezTo>
                    <a:pt x="1325" y="85786"/>
                    <a:pt x="0" y="82587"/>
                    <a:pt x="0" y="79252"/>
                  </a:cubicBezTo>
                  <a:lnTo>
                    <a:pt x="0" y="12576"/>
                  </a:lnTo>
                  <a:cubicBezTo>
                    <a:pt x="0" y="9240"/>
                    <a:pt x="1325" y="6042"/>
                    <a:pt x="3683" y="3683"/>
                  </a:cubicBezTo>
                  <a:cubicBezTo>
                    <a:pt x="6042" y="1325"/>
                    <a:pt x="9240" y="0"/>
                    <a:pt x="12576" y="0"/>
                  </a:cubicBezTo>
                  <a:close/>
                </a:path>
              </a:pathLst>
            </a:custGeom>
            <a:solidFill>
              <a:srgbClr val="EDCBF6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2167467" cy="120403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6" id="126"/>
          <p:cNvSpPr/>
          <p:nvPr/>
        </p:nvSpPr>
        <p:spPr>
          <a:xfrm>
            <a:off x="10483918" y="6068330"/>
            <a:ext cx="6465906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7" id="127"/>
          <p:cNvSpPr/>
          <p:nvPr/>
        </p:nvSpPr>
        <p:spPr>
          <a:xfrm>
            <a:off x="10501370" y="5937650"/>
            <a:ext cx="0" cy="13068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8" id="128"/>
          <p:cNvSpPr/>
          <p:nvPr/>
        </p:nvSpPr>
        <p:spPr>
          <a:xfrm>
            <a:off x="12608807" y="5937650"/>
            <a:ext cx="0" cy="13068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9" id="129"/>
          <p:cNvSpPr/>
          <p:nvPr/>
        </p:nvSpPr>
        <p:spPr>
          <a:xfrm flipH="true">
            <a:off x="14768854" y="5963617"/>
            <a:ext cx="0" cy="10471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0" id="130"/>
          <p:cNvSpPr/>
          <p:nvPr/>
        </p:nvSpPr>
        <p:spPr>
          <a:xfrm flipH="true">
            <a:off x="16932372" y="5963617"/>
            <a:ext cx="0" cy="10471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1" id="131"/>
          <p:cNvSpPr/>
          <p:nvPr/>
        </p:nvSpPr>
        <p:spPr>
          <a:xfrm flipH="true">
            <a:off x="13700512" y="6068330"/>
            <a:ext cx="0" cy="10471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2" id="132"/>
          <p:cNvGrpSpPr/>
          <p:nvPr/>
        </p:nvGrpSpPr>
        <p:grpSpPr>
          <a:xfrm rot="0">
            <a:off x="9538990" y="7393165"/>
            <a:ext cx="8253236" cy="1157145"/>
            <a:chOff x="0" y="0"/>
            <a:chExt cx="2421448" cy="339499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421448" cy="339499"/>
            </a:xfrm>
            <a:custGeom>
              <a:avLst/>
              <a:gdLst/>
              <a:ahLst/>
              <a:cxnLst/>
              <a:rect r="r" b="b" t="t" l="l"/>
              <a:pathLst>
                <a:path h="339499" w="2421448">
                  <a:moveTo>
                    <a:pt x="11257" y="0"/>
                  </a:moveTo>
                  <a:lnTo>
                    <a:pt x="2410191" y="0"/>
                  </a:lnTo>
                  <a:cubicBezTo>
                    <a:pt x="2416408" y="0"/>
                    <a:pt x="2421448" y="5040"/>
                    <a:pt x="2421448" y="11257"/>
                  </a:cubicBezTo>
                  <a:lnTo>
                    <a:pt x="2421448" y="328243"/>
                  </a:lnTo>
                  <a:cubicBezTo>
                    <a:pt x="2421448" y="331228"/>
                    <a:pt x="2420262" y="334091"/>
                    <a:pt x="2418151" y="336202"/>
                  </a:cubicBezTo>
                  <a:cubicBezTo>
                    <a:pt x="2416040" y="338313"/>
                    <a:pt x="2413177" y="339499"/>
                    <a:pt x="2410191" y="339499"/>
                  </a:cubicBezTo>
                  <a:lnTo>
                    <a:pt x="11257" y="339499"/>
                  </a:lnTo>
                  <a:cubicBezTo>
                    <a:pt x="5040" y="339499"/>
                    <a:pt x="0" y="334459"/>
                    <a:pt x="0" y="328243"/>
                  </a:cubicBezTo>
                  <a:lnTo>
                    <a:pt x="0" y="11257"/>
                  </a:lnTo>
                  <a:cubicBezTo>
                    <a:pt x="0" y="5040"/>
                    <a:pt x="5040" y="0"/>
                    <a:pt x="11257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28575"/>
              <a:ext cx="2421448" cy="368074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801399" y="7521147"/>
            <a:ext cx="7770434" cy="569456"/>
            <a:chOff x="0" y="0"/>
            <a:chExt cx="2279797" cy="167075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279797" cy="167075"/>
            </a:xfrm>
            <a:custGeom>
              <a:avLst/>
              <a:gdLst/>
              <a:ahLst/>
              <a:cxnLst/>
              <a:rect r="r" b="b" t="t" l="l"/>
              <a:pathLst>
                <a:path h="167075" w="2279797">
                  <a:moveTo>
                    <a:pt x="11956" y="0"/>
                  </a:moveTo>
                  <a:lnTo>
                    <a:pt x="2267841" y="0"/>
                  </a:lnTo>
                  <a:cubicBezTo>
                    <a:pt x="2274444" y="0"/>
                    <a:pt x="2279797" y="5353"/>
                    <a:pt x="2279797" y="11956"/>
                  </a:cubicBezTo>
                  <a:lnTo>
                    <a:pt x="2279797" y="155119"/>
                  </a:lnTo>
                  <a:cubicBezTo>
                    <a:pt x="2279797" y="158290"/>
                    <a:pt x="2278537" y="161331"/>
                    <a:pt x="2276295" y="163573"/>
                  </a:cubicBezTo>
                  <a:cubicBezTo>
                    <a:pt x="2274053" y="165815"/>
                    <a:pt x="2271012" y="167075"/>
                    <a:pt x="2267841" y="167075"/>
                  </a:cubicBezTo>
                  <a:lnTo>
                    <a:pt x="11956" y="167075"/>
                  </a:lnTo>
                  <a:cubicBezTo>
                    <a:pt x="5353" y="167075"/>
                    <a:pt x="0" y="161722"/>
                    <a:pt x="0" y="155119"/>
                  </a:cubicBezTo>
                  <a:lnTo>
                    <a:pt x="0" y="11956"/>
                  </a:lnTo>
                  <a:cubicBezTo>
                    <a:pt x="0" y="5353"/>
                    <a:pt x="5353" y="0"/>
                    <a:pt x="11956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28575"/>
              <a:ext cx="2279797" cy="195650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687545" y="7468791"/>
            <a:ext cx="8015900" cy="996983"/>
            <a:chOff x="0" y="0"/>
            <a:chExt cx="2351815" cy="292509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351815" cy="292509"/>
            </a:xfrm>
            <a:custGeom>
              <a:avLst/>
              <a:gdLst/>
              <a:ahLst/>
              <a:cxnLst/>
              <a:rect r="r" b="b" t="t" l="l"/>
              <a:pathLst>
                <a:path h="292509" w="2351815">
                  <a:moveTo>
                    <a:pt x="11590" y="0"/>
                  </a:moveTo>
                  <a:lnTo>
                    <a:pt x="2340225" y="0"/>
                  </a:lnTo>
                  <a:cubicBezTo>
                    <a:pt x="2346626" y="0"/>
                    <a:pt x="2351815" y="5189"/>
                    <a:pt x="2351815" y="11590"/>
                  </a:cubicBezTo>
                  <a:lnTo>
                    <a:pt x="2351815" y="280919"/>
                  </a:lnTo>
                  <a:cubicBezTo>
                    <a:pt x="2351815" y="283993"/>
                    <a:pt x="2350594" y="286941"/>
                    <a:pt x="2348421" y="289114"/>
                  </a:cubicBezTo>
                  <a:cubicBezTo>
                    <a:pt x="2346247" y="291288"/>
                    <a:pt x="2343299" y="292509"/>
                    <a:pt x="2340225" y="292509"/>
                  </a:cubicBezTo>
                  <a:lnTo>
                    <a:pt x="11590" y="292509"/>
                  </a:lnTo>
                  <a:cubicBezTo>
                    <a:pt x="8516" y="292509"/>
                    <a:pt x="5568" y="291288"/>
                    <a:pt x="3395" y="289114"/>
                  </a:cubicBezTo>
                  <a:cubicBezTo>
                    <a:pt x="1221" y="286941"/>
                    <a:pt x="0" y="283993"/>
                    <a:pt x="0" y="280919"/>
                  </a:cubicBezTo>
                  <a:lnTo>
                    <a:pt x="0" y="11590"/>
                  </a:lnTo>
                  <a:cubicBezTo>
                    <a:pt x="0" y="8516"/>
                    <a:pt x="1221" y="5568"/>
                    <a:pt x="3395" y="3395"/>
                  </a:cubicBezTo>
                  <a:cubicBezTo>
                    <a:pt x="5568" y="1221"/>
                    <a:pt x="8516" y="0"/>
                    <a:pt x="1159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40" id="140"/>
            <p:cNvSpPr txBox="true"/>
            <p:nvPr/>
          </p:nvSpPr>
          <p:spPr>
            <a:xfrm>
              <a:off x="0" y="-28575"/>
              <a:ext cx="2351815" cy="321084"/>
            </a:xfrm>
            <a:prstGeom prst="rect">
              <a:avLst/>
            </a:prstGeom>
          </p:spPr>
          <p:txBody>
            <a:bodyPr anchor="ctr" rtlCol="false" tIns="24501" lIns="24501" bIns="24501" rIns="24501"/>
            <a:lstStyle/>
            <a:p>
              <a:pPr algn="ctr">
                <a:lnSpc>
                  <a:spcPts val="223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1" id="141"/>
          <p:cNvSpPr txBox="true"/>
          <p:nvPr/>
        </p:nvSpPr>
        <p:spPr>
          <a:xfrm rot="0">
            <a:off x="9697109" y="7547038"/>
            <a:ext cx="8253236" cy="58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332"/>
              </a:lnSpc>
              <a:spcBef>
                <a:spcPct val="0"/>
              </a:spcBef>
            </a:pPr>
            <a:r>
              <a:rPr lang="en-US" b="true" sz="1665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traci.vehicle.setSpeed() / setAcceleration() applied to ego_0</a:t>
            </a:r>
          </a:p>
          <a:p>
            <a:pPr algn="ctr" marL="0" indent="0" lvl="1">
              <a:lnSpc>
                <a:spcPts val="2332"/>
              </a:lnSpc>
              <a:spcBef>
                <a:spcPct val="0"/>
              </a:spcBef>
            </a:pPr>
            <a:r>
              <a:rPr lang="en-US" b="true" sz="1665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Simulation Step Advance → traci.simulationStep()  </a:t>
            </a:r>
          </a:p>
        </p:txBody>
      </p:sp>
      <p:sp>
        <p:nvSpPr>
          <p:cNvPr name="AutoShape 142" id="142"/>
          <p:cNvSpPr/>
          <p:nvPr/>
        </p:nvSpPr>
        <p:spPr>
          <a:xfrm>
            <a:off x="13683060" y="7177924"/>
            <a:ext cx="0" cy="21524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3" id="143"/>
          <p:cNvSpPr txBox="true"/>
          <p:nvPr/>
        </p:nvSpPr>
        <p:spPr>
          <a:xfrm rot="0">
            <a:off x="1810655" y="5087689"/>
            <a:ext cx="6078141" cy="38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  <a:spcBef>
                <a:spcPct val="0"/>
              </a:spcBef>
            </a:pPr>
            <a:r>
              <a:rPr lang="en-US" b="true" sz="232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 SIMULATION ENVIRONMENT LAYER         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910155" y="2912996"/>
            <a:ext cx="3482630" cy="95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339" indent="-197170" lvl="1">
              <a:lnSpc>
                <a:spcPts val="2557"/>
              </a:lnSpc>
              <a:buFont typeface="Arial"/>
              <a:buChar char="•"/>
            </a:pPr>
            <a:r>
              <a:rPr lang="en-US" b="true" sz="1826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Complex</a:t>
            </a:r>
            <a:r>
              <a:rPr lang="en-US" b="true" sz="182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 </a:t>
            </a:r>
            <a:r>
              <a:rPr lang="en-US" b="true" sz="182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N</a:t>
            </a:r>
            <a:r>
              <a:rPr lang="en-US" b="true" sz="182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etwork</a:t>
            </a:r>
            <a:r>
              <a:rPr lang="en-US" b="true" sz="182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 Topolo</a:t>
            </a:r>
            <a:r>
              <a:rPr lang="en-US" b="true" sz="182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g</a:t>
            </a:r>
            <a:r>
              <a:rPr lang="en-US" b="true" sz="182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y</a:t>
            </a:r>
            <a:r>
              <a:rPr lang="en-US" b="true" sz="182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 </a:t>
            </a:r>
          </a:p>
          <a:p>
            <a:pPr algn="l" marL="394339" indent="-197170" lvl="1">
              <a:lnSpc>
                <a:spcPts val="2557"/>
              </a:lnSpc>
              <a:buFont typeface="Arial"/>
              <a:buChar char="•"/>
            </a:pPr>
            <a:r>
              <a:rPr lang="en-US" b="true" sz="182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NPC vehicle flows</a:t>
            </a:r>
          </a:p>
          <a:p>
            <a:pPr algn="l">
              <a:lnSpc>
                <a:spcPts val="2557"/>
              </a:lnSpc>
            </a:pPr>
          </a:p>
        </p:txBody>
      </p:sp>
      <p:sp>
        <p:nvSpPr>
          <p:cNvPr name="TextBox 145" id="145"/>
          <p:cNvSpPr txBox="true"/>
          <p:nvPr/>
        </p:nvSpPr>
        <p:spPr>
          <a:xfrm rot="0">
            <a:off x="2391440" y="9148177"/>
            <a:ext cx="4513183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5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  PERCEPTION &amp; COGNITION LAYER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2933875" y="6058890"/>
            <a:ext cx="1728747" cy="14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482" indent="-177741" lvl="1">
              <a:lnSpc>
                <a:spcPts val="2305"/>
              </a:lnSpc>
              <a:buFont typeface="Arial"/>
              <a:buChar char="•"/>
            </a:pPr>
            <a:r>
              <a:rPr lang="en-US" b="true" sz="164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5-D p</a:t>
            </a:r>
            <a:r>
              <a:rPr lang="en-US" b="true" sz="1646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lace</a:t>
            </a:r>
            <a:r>
              <a:rPr lang="en-US" b="true" sz="1646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-</a:t>
            </a:r>
            <a:r>
              <a:rPr lang="en-US" b="true" sz="1646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cell vector </a:t>
            </a:r>
          </a:p>
          <a:p>
            <a:pPr algn="l" marL="355482" indent="-177741" lvl="1">
              <a:lnSpc>
                <a:spcPts val="2305"/>
              </a:lnSpc>
              <a:buFont typeface="Arial"/>
              <a:buChar char="•"/>
            </a:pPr>
            <a:r>
              <a:rPr lang="en-US" b="true" sz="1646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Gaussian RBF activation </a:t>
            </a:r>
          </a:p>
          <a:p>
            <a:pPr algn="l">
              <a:lnSpc>
                <a:spcPts val="2305"/>
              </a:lnSpc>
            </a:pPr>
          </a:p>
        </p:txBody>
      </p:sp>
      <p:sp>
        <p:nvSpPr>
          <p:cNvPr name="TextBox 147" id="147"/>
          <p:cNvSpPr txBox="true"/>
          <p:nvPr/>
        </p:nvSpPr>
        <p:spPr>
          <a:xfrm rot="0">
            <a:off x="1181620" y="6058890"/>
            <a:ext cx="1581260" cy="14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482" indent="-177741" lvl="1">
              <a:lnSpc>
                <a:spcPts val="23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46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Reads ego (x,y)</a:t>
            </a:r>
          </a:p>
          <a:p>
            <a:pPr algn="l" marL="355482" indent="-177741" lvl="1">
              <a:lnSpc>
                <a:spcPts val="23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46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Maps to 5 Place Cells</a:t>
            </a:r>
          </a:p>
          <a:p>
            <a:pPr algn="l">
              <a:lnSpc>
                <a:spcPts val="2305"/>
              </a:lnSpc>
              <a:spcBef>
                <a:spcPct val="0"/>
              </a:spcBef>
            </a:pPr>
          </a:p>
        </p:txBody>
      </p:sp>
      <p:sp>
        <p:nvSpPr>
          <p:cNvPr name="TextBox 148" id="148"/>
          <p:cNvSpPr txBox="true"/>
          <p:nvPr/>
        </p:nvSpPr>
        <p:spPr>
          <a:xfrm rot="0">
            <a:off x="1805520" y="7285078"/>
            <a:ext cx="2256711" cy="24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6"/>
              </a:lnSpc>
              <a:spcBef>
                <a:spcPct val="0"/>
              </a:spcBef>
            </a:pPr>
            <a:r>
              <a:rPr lang="en-US" b="true" sz="137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 HIPPOCAMPAL MODULE  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5694085" y="7285078"/>
            <a:ext cx="2095619" cy="24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6"/>
              </a:lnSpc>
              <a:spcBef>
                <a:spcPct val="0"/>
              </a:spcBef>
            </a:pPr>
            <a:r>
              <a:rPr lang="en-US" b="true" sz="137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RAW STATE EXTRACTOR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4930418" y="6034447"/>
            <a:ext cx="1722951" cy="171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482" indent="-177741" lvl="1">
              <a:lnSpc>
                <a:spcPts val="23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46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Ego speed, heading</a:t>
            </a:r>
          </a:p>
          <a:p>
            <a:pPr algn="l" marL="355482" indent="-177741" lvl="1">
              <a:lnSpc>
                <a:spcPts val="23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46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Nearby vehicle positions</a:t>
            </a:r>
          </a:p>
          <a:p>
            <a:pPr algn="l">
              <a:lnSpc>
                <a:spcPts val="2305"/>
              </a:lnSpc>
              <a:spcBef>
                <a:spcPct val="0"/>
              </a:spcBef>
            </a:pPr>
          </a:p>
        </p:txBody>
      </p:sp>
      <p:sp>
        <p:nvSpPr>
          <p:cNvPr name="TextBox 151" id="151"/>
          <p:cNvSpPr txBox="true"/>
          <p:nvPr/>
        </p:nvSpPr>
        <p:spPr>
          <a:xfrm rot="0">
            <a:off x="6807216" y="6034447"/>
            <a:ext cx="1731269" cy="14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482" indent="-177741" lvl="1">
              <a:lnSpc>
                <a:spcPts val="23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46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Relative velocity</a:t>
            </a:r>
          </a:p>
          <a:p>
            <a:pPr algn="l" marL="355482" indent="-177741" lvl="1">
              <a:lnSpc>
                <a:spcPts val="23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46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Traffic-light phase state </a:t>
            </a:r>
          </a:p>
          <a:p>
            <a:pPr algn="l">
              <a:lnSpc>
                <a:spcPts val="2305"/>
              </a:lnSpc>
              <a:spcBef>
                <a:spcPct val="0"/>
              </a:spcBef>
            </a:pPr>
          </a:p>
        </p:txBody>
      </p:sp>
      <p:sp>
        <p:nvSpPr>
          <p:cNvPr name="TextBox 152" id="152"/>
          <p:cNvSpPr txBox="true"/>
          <p:nvPr/>
        </p:nvSpPr>
        <p:spPr>
          <a:xfrm rot="0">
            <a:off x="3651694" y="8833287"/>
            <a:ext cx="2244804" cy="24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6"/>
              </a:lnSpc>
              <a:spcBef>
                <a:spcPct val="0"/>
              </a:spcBef>
            </a:pPr>
            <a:r>
              <a:rPr lang="en-US" b="true" sz="1376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SENSOR FUSION MODULE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2978033" y="4356918"/>
            <a:ext cx="3482630" cy="32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4"/>
              </a:lnSpc>
              <a:spcBef>
                <a:spcPct val="0"/>
              </a:spcBef>
            </a:pPr>
            <a:r>
              <a:rPr lang="en-US" b="true" sz="1889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Bi-directional socket link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603580" y="3597697"/>
            <a:ext cx="2028587" cy="2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1"/>
              </a:lnSpc>
              <a:spcBef>
                <a:spcPct val="0"/>
              </a:spcBef>
            </a:pPr>
            <a:r>
              <a:rPr lang="en-US" b="true" sz="1701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SUMO SIMULATOR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5084405" y="3617707"/>
            <a:ext cx="3219688" cy="2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1"/>
              </a:lnSpc>
              <a:spcBef>
                <a:spcPct val="0"/>
              </a:spcBef>
            </a:pPr>
            <a:r>
              <a:rPr lang="en-US" b="true" sz="1701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TRAFFIC-LIGHT CONTROLLER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442543" y="4782358"/>
            <a:ext cx="8453720" cy="2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1"/>
              </a:lnSpc>
              <a:spcBef>
                <a:spcPct val="0"/>
              </a:spcBef>
            </a:pPr>
            <a:r>
              <a:rPr lang="en-US" b="true" sz="1701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TraCI INTERFACE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9133971" y="3632315"/>
            <a:ext cx="8569475" cy="88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2"/>
              </a:lnSpc>
              <a:spcBef>
                <a:spcPct val="0"/>
              </a:spcBef>
            </a:pPr>
            <a:r>
              <a:rPr lang="en-US" b="true" sz="1665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RL Policy Network (PPO / SAC — Actor-Critic, MLP)</a:t>
            </a:r>
          </a:p>
          <a:p>
            <a:pPr algn="ctr">
              <a:lnSpc>
                <a:spcPts val="2332"/>
              </a:lnSpc>
              <a:spcBef>
                <a:spcPct val="0"/>
              </a:spcBef>
            </a:pPr>
            <a:r>
              <a:rPr lang="en-US" b="true" sz="1665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Input: O_t (19-D)</a:t>
            </a:r>
          </a:p>
          <a:p>
            <a:pPr algn="ctr" marL="0" indent="0" lvl="1">
              <a:lnSpc>
                <a:spcPts val="2332"/>
              </a:lnSpc>
              <a:spcBef>
                <a:spcPct val="0"/>
              </a:spcBef>
            </a:pPr>
            <a:r>
              <a:rPr lang="en-US" b="true" sz="1665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Output: Continuous Action a_t = [throttle/brake ∈ [-1, 1]]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9590987" y="5069813"/>
            <a:ext cx="1889023" cy="58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332"/>
              </a:lnSpc>
              <a:spcBef>
                <a:spcPct val="0"/>
              </a:spcBef>
            </a:pPr>
            <a:r>
              <a:rPr lang="en-US" b="true" sz="1665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forward progress along route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11701482" y="5066146"/>
            <a:ext cx="1814651" cy="58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332"/>
              </a:lnSpc>
              <a:spcBef>
                <a:spcPct val="0"/>
              </a:spcBef>
            </a:pPr>
            <a:r>
              <a:rPr lang="en-US" b="true" sz="1665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speed-matching to target/limit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3752678" y="5069813"/>
            <a:ext cx="1948930" cy="58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332"/>
              </a:lnSpc>
              <a:spcBef>
                <a:spcPct val="0"/>
              </a:spcBef>
            </a:pPr>
            <a:r>
              <a:rPr lang="en-US" b="true" sz="1665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potential-field collision penalty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5915548" y="5058165"/>
            <a:ext cx="1803774" cy="58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332"/>
              </a:lnSpc>
              <a:spcBef>
                <a:spcPct val="0"/>
              </a:spcBef>
            </a:pPr>
            <a:r>
              <a:rPr lang="en-US" b="true" sz="1665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traffic-light-state awareness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9838625" y="6264098"/>
            <a:ext cx="7387569" cy="29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332"/>
              </a:lnSpc>
              <a:spcBef>
                <a:spcPct val="0"/>
              </a:spcBef>
            </a:pPr>
            <a:r>
              <a:rPr lang="en-US" b="true" sz="1665" strike="noStrike" u="non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 R_total = w1·R_progress + w2·R_velocity + w3·R_safety + w4·R_signal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1068598" y="6724903"/>
            <a:ext cx="5114330" cy="38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227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BASAL GANGLIA DECISION ENGINE 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10767629" y="8045003"/>
            <a:ext cx="5855732" cy="38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7"/>
              </a:lnSpc>
              <a:spcBef>
                <a:spcPct val="0"/>
              </a:spcBef>
            </a:pPr>
            <a:r>
              <a:rPr lang="en-US" b="true" sz="2276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 ACTUATION / TRACI COMMAND LAYER  </a:t>
            </a:r>
          </a:p>
        </p:txBody>
      </p:sp>
      <p:sp>
        <p:nvSpPr>
          <p:cNvPr name="Freeform 165" id="165"/>
          <p:cNvSpPr/>
          <p:nvPr/>
        </p:nvSpPr>
        <p:spPr>
          <a:xfrm flipH="false" flipV="false" rot="2700000">
            <a:off x="4613727" y="4059267"/>
            <a:ext cx="154390" cy="157528"/>
          </a:xfrm>
          <a:custGeom>
            <a:avLst/>
            <a:gdLst/>
            <a:ahLst/>
            <a:cxnLst/>
            <a:rect r="r" b="b" t="t" l="l"/>
            <a:pathLst>
              <a:path h="157528" w="154390">
                <a:moveTo>
                  <a:pt x="0" y="0"/>
                </a:moveTo>
                <a:lnTo>
                  <a:pt x="154389" y="0"/>
                </a:lnTo>
                <a:lnTo>
                  <a:pt x="154389" y="157528"/>
                </a:lnTo>
                <a:lnTo>
                  <a:pt x="0" y="157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66" id="166"/>
          <p:cNvSpPr/>
          <p:nvPr/>
        </p:nvSpPr>
        <p:spPr>
          <a:xfrm flipH="false" flipV="false" rot="2700000">
            <a:off x="1770614" y="5666254"/>
            <a:ext cx="133460" cy="136173"/>
          </a:xfrm>
          <a:custGeom>
            <a:avLst/>
            <a:gdLst/>
            <a:ahLst/>
            <a:cxnLst/>
            <a:rect r="r" b="b" t="t" l="l"/>
            <a:pathLst>
              <a:path h="136173" w="133460">
                <a:moveTo>
                  <a:pt x="0" y="0"/>
                </a:moveTo>
                <a:lnTo>
                  <a:pt x="133460" y="0"/>
                </a:lnTo>
                <a:lnTo>
                  <a:pt x="133460" y="136172"/>
                </a:lnTo>
                <a:lnTo>
                  <a:pt x="0" y="136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2700000">
            <a:off x="3716066" y="5670131"/>
            <a:ext cx="133460" cy="136173"/>
          </a:xfrm>
          <a:custGeom>
            <a:avLst/>
            <a:gdLst/>
            <a:ahLst/>
            <a:cxnLst/>
            <a:rect r="r" b="b" t="t" l="l"/>
            <a:pathLst>
              <a:path h="136173" w="133460">
                <a:moveTo>
                  <a:pt x="0" y="0"/>
                </a:moveTo>
                <a:lnTo>
                  <a:pt x="133460" y="0"/>
                </a:lnTo>
                <a:lnTo>
                  <a:pt x="133460" y="136172"/>
                </a:lnTo>
                <a:lnTo>
                  <a:pt x="0" y="136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68" id="168"/>
          <p:cNvSpPr/>
          <p:nvPr/>
        </p:nvSpPr>
        <p:spPr>
          <a:xfrm flipH="false" flipV="false" rot="2700000">
            <a:off x="5768961" y="5659829"/>
            <a:ext cx="133460" cy="136173"/>
          </a:xfrm>
          <a:custGeom>
            <a:avLst/>
            <a:gdLst/>
            <a:ahLst/>
            <a:cxnLst/>
            <a:rect r="r" b="b" t="t" l="l"/>
            <a:pathLst>
              <a:path h="136173" w="133460">
                <a:moveTo>
                  <a:pt x="0" y="0"/>
                </a:moveTo>
                <a:lnTo>
                  <a:pt x="133459" y="0"/>
                </a:lnTo>
                <a:lnTo>
                  <a:pt x="133459" y="136172"/>
                </a:lnTo>
                <a:lnTo>
                  <a:pt x="0" y="136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69" id="169"/>
          <p:cNvSpPr/>
          <p:nvPr/>
        </p:nvSpPr>
        <p:spPr>
          <a:xfrm flipH="false" flipV="false" rot="2700000">
            <a:off x="7565070" y="5646924"/>
            <a:ext cx="133460" cy="136173"/>
          </a:xfrm>
          <a:custGeom>
            <a:avLst/>
            <a:gdLst/>
            <a:ahLst/>
            <a:cxnLst/>
            <a:rect r="r" b="b" t="t" l="l"/>
            <a:pathLst>
              <a:path h="136173" w="133460">
                <a:moveTo>
                  <a:pt x="0" y="0"/>
                </a:moveTo>
                <a:lnTo>
                  <a:pt x="133460" y="0"/>
                </a:lnTo>
                <a:lnTo>
                  <a:pt x="133460" y="136172"/>
                </a:lnTo>
                <a:lnTo>
                  <a:pt x="0" y="136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70" id="170"/>
          <p:cNvSpPr/>
          <p:nvPr/>
        </p:nvSpPr>
        <p:spPr>
          <a:xfrm flipH="false" flipV="false" rot="2700000">
            <a:off x="4848236" y="7828652"/>
            <a:ext cx="133460" cy="136173"/>
          </a:xfrm>
          <a:custGeom>
            <a:avLst/>
            <a:gdLst/>
            <a:ahLst/>
            <a:cxnLst/>
            <a:rect r="r" b="b" t="t" l="l"/>
            <a:pathLst>
              <a:path h="136173" w="133460">
                <a:moveTo>
                  <a:pt x="0" y="0"/>
                </a:moveTo>
                <a:lnTo>
                  <a:pt x="133459" y="0"/>
                </a:lnTo>
                <a:lnTo>
                  <a:pt x="133459" y="136173"/>
                </a:lnTo>
                <a:lnTo>
                  <a:pt x="0" y="1361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71" id="171"/>
          <p:cNvSpPr/>
          <p:nvPr/>
        </p:nvSpPr>
        <p:spPr>
          <a:xfrm flipH="false" flipV="false" rot="2700000">
            <a:off x="10410029" y="4961787"/>
            <a:ext cx="150728" cy="153792"/>
          </a:xfrm>
          <a:custGeom>
            <a:avLst/>
            <a:gdLst/>
            <a:ahLst/>
            <a:cxnLst/>
            <a:rect r="r" b="b" t="t" l="l"/>
            <a:pathLst>
              <a:path h="153792" w="150728">
                <a:moveTo>
                  <a:pt x="0" y="0"/>
                </a:moveTo>
                <a:lnTo>
                  <a:pt x="150728" y="0"/>
                </a:lnTo>
                <a:lnTo>
                  <a:pt x="150728" y="153792"/>
                </a:lnTo>
                <a:lnTo>
                  <a:pt x="0" y="15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72" id="172"/>
          <p:cNvSpPr/>
          <p:nvPr/>
        </p:nvSpPr>
        <p:spPr>
          <a:xfrm flipH="false" flipV="false" rot="2700000">
            <a:off x="12533443" y="4961787"/>
            <a:ext cx="150728" cy="153792"/>
          </a:xfrm>
          <a:custGeom>
            <a:avLst/>
            <a:gdLst/>
            <a:ahLst/>
            <a:cxnLst/>
            <a:rect r="r" b="b" t="t" l="l"/>
            <a:pathLst>
              <a:path h="153792" w="150728">
                <a:moveTo>
                  <a:pt x="0" y="0"/>
                </a:moveTo>
                <a:lnTo>
                  <a:pt x="150728" y="0"/>
                </a:lnTo>
                <a:lnTo>
                  <a:pt x="150728" y="153792"/>
                </a:lnTo>
                <a:lnTo>
                  <a:pt x="0" y="15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73" id="173"/>
          <p:cNvSpPr/>
          <p:nvPr/>
        </p:nvSpPr>
        <p:spPr>
          <a:xfrm flipH="false" flipV="false" rot="2700000">
            <a:off x="14651779" y="4961787"/>
            <a:ext cx="150728" cy="153792"/>
          </a:xfrm>
          <a:custGeom>
            <a:avLst/>
            <a:gdLst/>
            <a:ahLst/>
            <a:cxnLst/>
            <a:rect r="r" b="b" t="t" l="l"/>
            <a:pathLst>
              <a:path h="153792" w="150728">
                <a:moveTo>
                  <a:pt x="0" y="0"/>
                </a:moveTo>
                <a:lnTo>
                  <a:pt x="150728" y="0"/>
                </a:lnTo>
                <a:lnTo>
                  <a:pt x="150728" y="153792"/>
                </a:lnTo>
                <a:lnTo>
                  <a:pt x="0" y="15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74" id="174"/>
          <p:cNvSpPr/>
          <p:nvPr/>
        </p:nvSpPr>
        <p:spPr>
          <a:xfrm flipH="false" flipV="false" rot="2700000">
            <a:off x="16844544" y="4961787"/>
            <a:ext cx="150728" cy="153792"/>
          </a:xfrm>
          <a:custGeom>
            <a:avLst/>
            <a:gdLst/>
            <a:ahLst/>
            <a:cxnLst/>
            <a:rect r="r" b="b" t="t" l="l"/>
            <a:pathLst>
              <a:path h="153792" w="150728">
                <a:moveTo>
                  <a:pt x="0" y="0"/>
                </a:moveTo>
                <a:lnTo>
                  <a:pt x="150728" y="0"/>
                </a:lnTo>
                <a:lnTo>
                  <a:pt x="150728" y="153792"/>
                </a:lnTo>
                <a:lnTo>
                  <a:pt x="0" y="15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75" id="175"/>
          <p:cNvSpPr/>
          <p:nvPr/>
        </p:nvSpPr>
        <p:spPr>
          <a:xfrm flipH="false" flipV="false" rot="2700000">
            <a:off x="13625148" y="6161952"/>
            <a:ext cx="150728" cy="153792"/>
          </a:xfrm>
          <a:custGeom>
            <a:avLst/>
            <a:gdLst/>
            <a:ahLst/>
            <a:cxnLst/>
            <a:rect r="r" b="b" t="t" l="l"/>
            <a:pathLst>
              <a:path h="153792" w="150728">
                <a:moveTo>
                  <a:pt x="0" y="0"/>
                </a:moveTo>
                <a:lnTo>
                  <a:pt x="150728" y="0"/>
                </a:lnTo>
                <a:lnTo>
                  <a:pt x="150728" y="153792"/>
                </a:lnTo>
                <a:lnTo>
                  <a:pt x="0" y="15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76" id="176"/>
          <p:cNvSpPr/>
          <p:nvPr/>
        </p:nvSpPr>
        <p:spPr>
          <a:xfrm flipH="false" flipV="false" rot="2700000">
            <a:off x="13611252" y="7325039"/>
            <a:ext cx="150728" cy="153792"/>
          </a:xfrm>
          <a:custGeom>
            <a:avLst/>
            <a:gdLst/>
            <a:ahLst/>
            <a:cxnLst/>
            <a:rect r="r" b="b" t="t" l="l"/>
            <a:pathLst>
              <a:path h="153792" w="150728">
                <a:moveTo>
                  <a:pt x="0" y="0"/>
                </a:moveTo>
                <a:lnTo>
                  <a:pt x="150728" y="0"/>
                </a:lnTo>
                <a:lnTo>
                  <a:pt x="150728" y="153792"/>
                </a:lnTo>
                <a:lnTo>
                  <a:pt x="0" y="15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AutoShape 177" id="177"/>
          <p:cNvSpPr/>
          <p:nvPr/>
        </p:nvSpPr>
        <p:spPr>
          <a:xfrm flipV="true">
            <a:off x="9093689" y="3059112"/>
            <a:ext cx="28043" cy="6822405"/>
          </a:xfrm>
          <a:prstGeom prst="line">
            <a:avLst/>
          </a:prstGeom>
          <a:ln cap="flat" w="2857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78" id="178"/>
          <p:cNvSpPr/>
          <p:nvPr/>
        </p:nvSpPr>
        <p:spPr>
          <a:xfrm>
            <a:off x="9144000" y="3059112"/>
            <a:ext cx="4501038" cy="0"/>
          </a:xfrm>
          <a:prstGeom prst="line">
            <a:avLst/>
          </a:prstGeom>
          <a:ln cap="flat" w="2857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79" id="179"/>
          <p:cNvSpPr/>
          <p:nvPr/>
        </p:nvSpPr>
        <p:spPr>
          <a:xfrm>
            <a:off x="4691044" y="9881517"/>
            <a:ext cx="4430687" cy="0"/>
          </a:xfrm>
          <a:prstGeom prst="line">
            <a:avLst/>
          </a:prstGeom>
          <a:ln cap="flat" w="2857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80" id="180"/>
          <p:cNvSpPr/>
          <p:nvPr/>
        </p:nvSpPr>
        <p:spPr>
          <a:xfrm flipH="false" flipV="false" rot="2700000">
            <a:off x="4578960" y="9563284"/>
            <a:ext cx="276708" cy="282333"/>
          </a:xfrm>
          <a:custGeom>
            <a:avLst/>
            <a:gdLst/>
            <a:ahLst/>
            <a:cxnLst/>
            <a:rect r="r" b="b" t="t" l="l"/>
            <a:pathLst>
              <a:path h="282333" w="276708">
                <a:moveTo>
                  <a:pt x="0" y="0"/>
                </a:moveTo>
                <a:lnTo>
                  <a:pt x="276709" y="0"/>
                </a:lnTo>
                <a:lnTo>
                  <a:pt x="276709" y="282334"/>
                </a:lnTo>
                <a:lnTo>
                  <a:pt x="0" y="282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81" id="181"/>
          <p:cNvSpPr/>
          <p:nvPr/>
        </p:nvSpPr>
        <p:spPr>
          <a:xfrm flipH="false" flipV="false" rot="2700000">
            <a:off x="13521641" y="3060106"/>
            <a:ext cx="246794" cy="251811"/>
          </a:xfrm>
          <a:custGeom>
            <a:avLst/>
            <a:gdLst/>
            <a:ahLst/>
            <a:cxnLst/>
            <a:rect r="r" b="b" t="t" l="l"/>
            <a:pathLst>
              <a:path h="251811" w="246794">
                <a:moveTo>
                  <a:pt x="0" y="0"/>
                </a:moveTo>
                <a:lnTo>
                  <a:pt x="246794" y="0"/>
                </a:lnTo>
                <a:lnTo>
                  <a:pt x="246794" y="251811"/>
                </a:lnTo>
                <a:lnTo>
                  <a:pt x="0" y="251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grpSp>
        <p:nvGrpSpPr>
          <p:cNvPr name="Group 182" id="182"/>
          <p:cNvGrpSpPr/>
          <p:nvPr/>
        </p:nvGrpSpPr>
        <p:grpSpPr>
          <a:xfrm rot="0">
            <a:off x="86869" y="227148"/>
            <a:ext cx="9144000" cy="457200"/>
            <a:chOff x="0" y="0"/>
            <a:chExt cx="12192000" cy="60960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</a:p>
          </p:txBody>
        </p:sp>
      </p:grpSp>
      <p:sp>
        <p:nvSpPr>
          <p:cNvPr name="AutoShape 185" id="185"/>
          <p:cNvSpPr/>
          <p:nvPr/>
        </p:nvSpPr>
        <p:spPr>
          <a:xfrm flipV="true">
            <a:off x="13710188" y="9026010"/>
            <a:ext cx="4372900" cy="118131"/>
          </a:xfrm>
          <a:prstGeom prst="line">
            <a:avLst/>
          </a:prstGeom>
          <a:ln cap="flat" w="2857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86" id="186"/>
          <p:cNvSpPr/>
          <p:nvPr/>
        </p:nvSpPr>
        <p:spPr>
          <a:xfrm>
            <a:off x="4652340" y="2050286"/>
            <a:ext cx="13430748" cy="298"/>
          </a:xfrm>
          <a:prstGeom prst="line">
            <a:avLst/>
          </a:prstGeom>
          <a:ln cap="flat" w="2857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87" id="187"/>
          <p:cNvSpPr/>
          <p:nvPr/>
        </p:nvSpPr>
        <p:spPr>
          <a:xfrm flipH="false" flipV="false" rot="2700000">
            <a:off x="4501950" y="2103667"/>
            <a:ext cx="320103" cy="326610"/>
          </a:xfrm>
          <a:custGeom>
            <a:avLst/>
            <a:gdLst/>
            <a:ahLst/>
            <a:cxnLst/>
            <a:rect r="r" b="b" t="t" l="l"/>
            <a:pathLst>
              <a:path h="326610" w="320103">
                <a:moveTo>
                  <a:pt x="0" y="0"/>
                </a:moveTo>
                <a:lnTo>
                  <a:pt x="320103" y="0"/>
                </a:lnTo>
                <a:lnTo>
                  <a:pt x="320103" y="326610"/>
                </a:lnTo>
                <a:lnTo>
                  <a:pt x="0" y="326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sp>
        <p:nvSpPr>
          <p:cNvPr name="Freeform 188" id="188"/>
          <p:cNvSpPr/>
          <p:nvPr/>
        </p:nvSpPr>
        <p:spPr>
          <a:xfrm flipH="false" flipV="false" rot="2700000">
            <a:off x="13505983" y="8650015"/>
            <a:ext cx="278110" cy="283764"/>
          </a:xfrm>
          <a:custGeom>
            <a:avLst/>
            <a:gdLst/>
            <a:ahLst/>
            <a:cxnLst/>
            <a:rect r="r" b="b" t="t" l="l"/>
            <a:pathLst>
              <a:path h="283764" w="278110">
                <a:moveTo>
                  <a:pt x="0" y="0"/>
                </a:moveTo>
                <a:lnTo>
                  <a:pt x="278111" y="0"/>
                </a:lnTo>
                <a:lnTo>
                  <a:pt x="278111" y="283764"/>
                </a:lnTo>
                <a:lnTo>
                  <a:pt x="0" y="28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52290" t="-539294" r="0" b="0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190" id="190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46" t="0" r="-1346" b="0"/>
              </a:stretch>
            </a:blip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192" id="192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46" t="0" r="-1346" b="0"/>
              </a:stretch>
            </a:blip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822960" y="594360"/>
            <a:ext cx="9144000" cy="457200"/>
            <a:chOff x="0" y="0"/>
            <a:chExt cx="12192000" cy="609600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METHODOLOGY OVERVIEW</a:t>
              </a:r>
            </a:p>
          </p:txBody>
        </p:sp>
      </p:grpSp>
      <p:sp>
        <p:nvSpPr>
          <p:cNvPr name="AutoShape 196" id="196"/>
          <p:cNvSpPr/>
          <p:nvPr/>
        </p:nvSpPr>
        <p:spPr>
          <a:xfrm flipH="true">
            <a:off x="18083088" y="2050583"/>
            <a:ext cx="0" cy="6939967"/>
          </a:xfrm>
          <a:prstGeom prst="line">
            <a:avLst/>
          </a:prstGeom>
          <a:ln cap="flat" w="2857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3938" y="5958543"/>
            <a:ext cx="7187512" cy="3456015"/>
            <a:chOff x="0" y="0"/>
            <a:chExt cx="860280" cy="4136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0280" cy="413653"/>
            </a:xfrm>
            <a:custGeom>
              <a:avLst/>
              <a:gdLst/>
              <a:ahLst/>
              <a:cxnLst/>
              <a:rect r="r" b="b" t="t" l="l"/>
              <a:pathLst>
                <a:path h="413653" w="860280">
                  <a:moveTo>
                    <a:pt x="860280" y="36623"/>
                  </a:moveTo>
                  <a:lnTo>
                    <a:pt x="860280" y="377031"/>
                  </a:lnTo>
                  <a:cubicBezTo>
                    <a:pt x="860280" y="386744"/>
                    <a:pt x="856421" y="396059"/>
                    <a:pt x="849553" y="402927"/>
                  </a:cubicBezTo>
                  <a:cubicBezTo>
                    <a:pt x="842685" y="409795"/>
                    <a:pt x="833370" y="413653"/>
                    <a:pt x="823657" y="413653"/>
                  </a:cubicBezTo>
                  <a:lnTo>
                    <a:pt x="36623" y="413653"/>
                  </a:lnTo>
                  <a:cubicBezTo>
                    <a:pt x="26910" y="413653"/>
                    <a:pt x="17595" y="409795"/>
                    <a:pt x="10727" y="402927"/>
                  </a:cubicBezTo>
                  <a:cubicBezTo>
                    <a:pt x="3858" y="396059"/>
                    <a:pt x="0" y="386744"/>
                    <a:pt x="0" y="377031"/>
                  </a:cubicBezTo>
                  <a:lnTo>
                    <a:pt x="0" y="36623"/>
                  </a:lnTo>
                  <a:cubicBezTo>
                    <a:pt x="0" y="26910"/>
                    <a:pt x="3858" y="17595"/>
                    <a:pt x="10727" y="10727"/>
                  </a:cubicBezTo>
                  <a:cubicBezTo>
                    <a:pt x="17595" y="3858"/>
                    <a:pt x="26910" y="0"/>
                    <a:pt x="36623" y="0"/>
                  </a:cubicBezTo>
                  <a:lnTo>
                    <a:pt x="823657" y="0"/>
                  </a:lnTo>
                  <a:cubicBezTo>
                    <a:pt x="833370" y="0"/>
                    <a:pt x="842685" y="3858"/>
                    <a:pt x="849553" y="10727"/>
                  </a:cubicBezTo>
                  <a:cubicBezTo>
                    <a:pt x="856421" y="17595"/>
                    <a:pt x="860280" y="26910"/>
                    <a:pt x="860280" y="36623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60280" cy="442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002" y="9239085"/>
            <a:ext cx="3657600" cy="742503"/>
            <a:chOff x="0" y="0"/>
            <a:chExt cx="4876800" cy="9900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37025" y="9394493"/>
            <a:ext cx="1915278" cy="431686"/>
            <a:chOff x="0" y="0"/>
            <a:chExt cx="7805966" cy="17593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3938" y="1584960"/>
            <a:ext cx="7187512" cy="4052965"/>
            <a:chOff x="0" y="0"/>
            <a:chExt cx="860280" cy="4851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0280" cy="485103"/>
            </a:xfrm>
            <a:custGeom>
              <a:avLst/>
              <a:gdLst/>
              <a:ahLst/>
              <a:cxnLst/>
              <a:rect r="r" b="b" t="t" l="l"/>
              <a:pathLst>
                <a:path h="485103" w="860280">
                  <a:moveTo>
                    <a:pt x="860280" y="36623"/>
                  </a:moveTo>
                  <a:lnTo>
                    <a:pt x="860280" y="448480"/>
                  </a:lnTo>
                  <a:cubicBezTo>
                    <a:pt x="860280" y="458193"/>
                    <a:pt x="856421" y="467508"/>
                    <a:pt x="849553" y="474376"/>
                  </a:cubicBezTo>
                  <a:cubicBezTo>
                    <a:pt x="842685" y="481245"/>
                    <a:pt x="833370" y="485103"/>
                    <a:pt x="823657" y="485103"/>
                  </a:cubicBezTo>
                  <a:lnTo>
                    <a:pt x="36623" y="485103"/>
                  </a:lnTo>
                  <a:cubicBezTo>
                    <a:pt x="26910" y="485103"/>
                    <a:pt x="17595" y="481245"/>
                    <a:pt x="10727" y="474376"/>
                  </a:cubicBezTo>
                  <a:cubicBezTo>
                    <a:pt x="3858" y="467508"/>
                    <a:pt x="0" y="458193"/>
                    <a:pt x="0" y="448480"/>
                  </a:cubicBezTo>
                  <a:lnTo>
                    <a:pt x="0" y="36623"/>
                  </a:lnTo>
                  <a:cubicBezTo>
                    <a:pt x="0" y="26910"/>
                    <a:pt x="3858" y="17595"/>
                    <a:pt x="10727" y="10727"/>
                  </a:cubicBezTo>
                  <a:cubicBezTo>
                    <a:pt x="17595" y="3858"/>
                    <a:pt x="26910" y="0"/>
                    <a:pt x="36623" y="0"/>
                  </a:cubicBezTo>
                  <a:lnTo>
                    <a:pt x="823657" y="0"/>
                  </a:lnTo>
                  <a:cubicBezTo>
                    <a:pt x="833370" y="0"/>
                    <a:pt x="842685" y="3858"/>
                    <a:pt x="849553" y="10727"/>
                  </a:cubicBezTo>
                  <a:cubicBezTo>
                    <a:pt x="856421" y="17595"/>
                    <a:pt x="860280" y="26910"/>
                    <a:pt x="860280" y="36623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60280" cy="51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13938" y="2087880"/>
            <a:ext cx="6024037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Grou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nd-truth vehicle physics eng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ini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stic t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raffic-li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ght control logic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tinuous TraCI 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ace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for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real-time simulation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trol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15" id="15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17" id="17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13938" y="6627182"/>
            <a:ext cx="6838260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Maps co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ntinuous (x, y) coordinates to Place Cell activat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ions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Gauss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ian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R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adial Basis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Function (RBF) encoding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tput: 5-D Pl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ace 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ell activation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vect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613938" y="413385"/>
            <a:ext cx="9144000" cy="457200"/>
            <a:chOff x="0" y="0"/>
            <a:chExt cx="121920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293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METHODOLOGY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95717" y="1584960"/>
            <a:ext cx="8348755" cy="1005840"/>
            <a:chOff x="0" y="0"/>
            <a:chExt cx="11131673" cy="1341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3167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131672">
                  <a:moveTo>
                    <a:pt x="0" y="0"/>
                  </a:moveTo>
                  <a:lnTo>
                    <a:pt x="11131672" y="0"/>
                  </a:lnTo>
                  <a:lnTo>
                    <a:pt x="1113167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-99336" b="-27238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1131673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SUMO</a:t>
              </a:r>
              <a:r>
                <a:rPr lang="en-US" b="true" sz="3000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Environment &amp; TraCI Layer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91828" y="5993244"/>
            <a:ext cx="8711208" cy="1005840"/>
            <a:chOff x="0" y="0"/>
            <a:chExt cx="11614944" cy="1341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1494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614944">
                  <a:moveTo>
                    <a:pt x="0" y="0"/>
                  </a:moveTo>
                  <a:lnTo>
                    <a:pt x="11614944" y="0"/>
                  </a:lnTo>
                  <a:lnTo>
                    <a:pt x="1161494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-91042" b="-2723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1614944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Hippocampal </a:t>
              </a:r>
              <a:r>
                <a:rPr lang="en-US" b="true" sz="3000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Spatial Cognition Layer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196669" y="1584960"/>
            <a:ext cx="9674737" cy="6967364"/>
          </a:xfrm>
          <a:custGeom>
            <a:avLst/>
            <a:gdLst/>
            <a:ahLst/>
            <a:cxnLst/>
            <a:rect r="r" b="b" t="t" l="l"/>
            <a:pathLst>
              <a:path h="6967364" w="9674737">
                <a:moveTo>
                  <a:pt x="0" y="0"/>
                </a:moveTo>
                <a:lnTo>
                  <a:pt x="9674737" y="0"/>
                </a:lnTo>
                <a:lnTo>
                  <a:pt x="9674737" y="6967364"/>
                </a:lnTo>
                <a:lnTo>
                  <a:pt x="0" y="6967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42" t="0" r="-14667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13938" y="870585"/>
            <a:ext cx="91649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Si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mulati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on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Pip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li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n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&amp; 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Spati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</a:t>
            </a: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pping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002" y="9239085"/>
            <a:ext cx="3657600" cy="742503"/>
            <a:chOff x="0" y="0"/>
            <a:chExt cx="4876800" cy="990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37025" y="9394493"/>
            <a:ext cx="1915278" cy="431686"/>
            <a:chOff x="0" y="0"/>
            <a:chExt cx="7805966" cy="17593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8" id="8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10" id="10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40351" y="4965686"/>
            <a:ext cx="8531765" cy="4660691"/>
            <a:chOff x="0" y="0"/>
            <a:chExt cx="1272804" cy="6953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2804" cy="695301"/>
            </a:xfrm>
            <a:custGeom>
              <a:avLst/>
              <a:gdLst/>
              <a:ahLst/>
              <a:cxnLst/>
              <a:rect r="r" b="b" t="t" l="l"/>
              <a:pathLst>
                <a:path h="695301" w="1272804">
                  <a:moveTo>
                    <a:pt x="1272804" y="30852"/>
                  </a:moveTo>
                  <a:lnTo>
                    <a:pt x="1272804" y="664449"/>
                  </a:lnTo>
                  <a:cubicBezTo>
                    <a:pt x="1272804" y="672631"/>
                    <a:pt x="1269554" y="680479"/>
                    <a:pt x="1263768" y="686265"/>
                  </a:cubicBezTo>
                  <a:cubicBezTo>
                    <a:pt x="1257982" y="692051"/>
                    <a:pt x="1250134" y="695301"/>
                    <a:pt x="1241952" y="695301"/>
                  </a:cubicBezTo>
                  <a:lnTo>
                    <a:pt x="30852" y="695301"/>
                  </a:lnTo>
                  <a:cubicBezTo>
                    <a:pt x="22670" y="695301"/>
                    <a:pt x="14822" y="692051"/>
                    <a:pt x="9036" y="686265"/>
                  </a:cubicBezTo>
                  <a:cubicBezTo>
                    <a:pt x="3251" y="680479"/>
                    <a:pt x="0" y="672631"/>
                    <a:pt x="0" y="664449"/>
                  </a:cubicBezTo>
                  <a:lnTo>
                    <a:pt x="0" y="30852"/>
                  </a:lnTo>
                  <a:cubicBezTo>
                    <a:pt x="0" y="22670"/>
                    <a:pt x="3251" y="14822"/>
                    <a:pt x="9036" y="9036"/>
                  </a:cubicBezTo>
                  <a:cubicBezTo>
                    <a:pt x="14822" y="3251"/>
                    <a:pt x="22670" y="0"/>
                    <a:pt x="30852" y="0"/>
                  </a:cubicBezTo>
                  <a:lnTo>
                    <a:pt x="1241952" y="0"/>
                  </a:lnTo>
                  <a:cubicBezTo>
                    <a:pt x="1250134" y="0"/>
                    <a:pt x="1257982" y="3251"/>
                    <a:pt x="1263768" y="9036"/>
                  </a:cubicBezTo>
                  <a:cubicBezTo>
                    <a:pt x="1269554" y="14822"/>
                    <a:pt x="1272804" y="22670"/>
                    <a:pt x="1272804" y="30852"/>
                  </a:cubicBezTo>
                  <a:close/>
                </a:path>
              </a:pathLst>
            </a:custGeom>
            <a:solidFill>
              <a:srgbClr val="5A0A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272804" cy="723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0351" y="1588244"/>
            <a:ext cx="8531765" cy="3184553"/>
            <a:chOff x="0" y="0"/>
            <a:chExt cx="1272804" cy="4750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2804" cy="475085"/>
            </a:xfrm>
            <a:custGeom>
              <a:avLst/>
              <a:gdLst/>
              <a:ahLst/>
              <a:cxnLst/>
              <a:rect r="r" b="b" t="t" l="l"/>
              <a:pathLst>
                <a:path h="475085" w="1272804">
                  <a:moveTo>
                    <a:pt x="1272804" y="30852"/>
                  </a:moveTo>
                  <a:lnTo>
                    <a:pt x="1272804" y="444232"/>
                  </a:lnTo>
                  <a:cubicBezTo>
                    <a:pt x="1272804" y="452415"/>
                    <a:pt x="1269554" y="460262"/>
                    <a:pt x="1263768" y="466048"/>
                  </a:cubicBezTo>
                  <a:cubicBezTo>
                    <a:pt x="1257982" y="471834"/>
                    <a:pt x="1250134" y="475085"/>
                    <a:pt x="1241952" y="475085"/>
                  </a:cubicBezTo>
                  <a:lnTo>
                    <a:pt x="30852" y="475085"/>
                  </a:lnTo>
                  <a:cubicBezTo>
                    <a:pt x="22670" y="475085"/>
                    <a:pt x="14822" y="471834"/>
                    <a:pt x="9036" y="466048"/>
                  </a:cubicBezTo>
                  <a:cubicBezTo>
                    <a:pt x="3251" y="460262"/>
                    <a:pt x="0" y="452415"/>
                    <a:pt x="0" y="444232"/>
                  </a:cubicBezTo>
                  <a:lnTo>
                    <a:pt x="0" y="30852"/>
                  </a:lnTo>
                  <a:cubicBezTo>
                    <a:pt x="0" y="22670"/>
                    <a:pt x="3251" y="14822"/>
                    <a:pt x="9036" y="9036"/>
                  </a:cubicBezTo>
                  <a:cubicBezTo>
                    <a:pt x="14822" y="3251"/>
                    <a:pt x="22670" y="0"/>
                    <a:pt x="30852" y="0"/>
                  </a:cubicBezTo>
                  <a:lnTo>
                    <a:pt x="1241952" y="0"/>
                  </a:lnTo>
                  <a:cubicBezTo>
                    <a:pt x="1250134" y="0"/>
                    <a:pt x="1257982" y="3251"/>
                    <a:pt x="1263768" y="9036"/>
                  </a:cubicBezTo>
                  <a:cubicBezTo>
                    <a:pt x="1269554" y="14822"/>
                    <a:pt x="1272804" y="22670"/>
                    <a:pt x="1272804" y="30852"/>
                  </a:cubicBezTo>
                  <a:close/>
                </a:path>
              </a:pathLst>
            </a:custGeom>
            <a:solidFill>
              <a:srgbClr val="5A0A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72804" cy="503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85862" y="2561957"/>
            <a:ext cx="7869905" cy="2403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887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ncatenates 5-D Place Cells + ego k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tics</a:t>
            </a:r>
          </a:p>
          <a:p>
            <a:pPr algn="l" marL="582930" indent="-291465" lvl="1">
              <a:lnSpc>
                <a:spcPts val="3887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Adds r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elative vehicle metrics + traffic-signal st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ates</a:t>
            </a:r>
          </a:p>
          <a:p>
            <a:pPr algn="l" marL="582930" indent="-291465" lvl="1">
              <a:lnSpc>
                <a:spcPts val="3887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Output: 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alized 19-D Observation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Vect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</a:t>
            </a:r>
          </a:p>
          <a:p>
            <a:pPr algn="l" marL="0" indent="0" lvl="0">
              <a:lnSpc>
                <a:spcPts val="388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85862" y="5529942"/>
            <a:ext cx="8040332" cy="425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 marL="582930" indent="-291465" lvl="1">
              <a:lnSpc>
                <a:spcPts val="3887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Two-Phase Actor-Critic Implementation:</a:t>
            </a:r>
          </a:p>
          <a:p>
            <a:pPr algn="l" marL="582930" indent="-291465" lvl="1">
              <a:lnSpc>
                <a:spcPts val="3887"/>
              </a:lnSpc>
              <a:buAutoNum type="arabicPeriod" startAt="1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Phase 1 Baseline: Proximal Policy Optimization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(On-Policy)</a:t>
            </a:r>
          </a:p>
          <a:p>
            <a:pPr algn="l" marL="582930" indent="-291465" lvl="1">
              <a:lnSpc>
                <a:spcPts val="3887"/>
              </a:lnSpc>
              <a:buAutoNum type="arabicPeriod" startAt="1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Phase 2 Solution: Soft Actor-Critic (Off-Policy + Max Entropy)</a:t>
            </a:r>
          </a:p>
          <a:p>
            <a:pPr algn="l" marL="582930" indent="-291465" lvl="1">
              <a:lnSpc>
                <a:spcPts val="3887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Biologically-inspired acti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on-g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mech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anism</a:t>
            </a:r>
          </a:p>
          <a:p>
            <a:pPr algn="l" marL="582930" indent="-291465" lvl="1">
              <a:lnSpc>
                <a:spcPts val="3887"/>
              </a:lnSpc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Continuous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throttle / brake o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tput ∈ [-1,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1]</a:t>
            </a:r>
          </a:p>
          <a:p>
            <a:pPr algn="l" marL="0" indent="0" lvl="0">
              <a:lnSpc>
                <a:spcPts val="3887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229616" y="1613267"/>
            <a:ext cx="7396578" cy="1005840"/>
            <a:chOff x="0" y="0"/>
            <a:chExt cx="9862103" cy="1341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62103" cy="1341120"/>
            </a:xfrm>
            <a:custGeom>
              <a:avLst/>
              <a:gdLst/>
              <a:ahLst/>
              <a:cxnLst/>
              <a:rect r="r" b="b" t="t" l="l"/>
              <a:pathLst>
                <a:path h="1341120" w="9862103">
                  <a:moveTo>
                    <a:pt x="0" y="0"/>
                  </a:moveTo>
                  <a:lnTo>
                    <a:pt x="9862103" y="0"/>
                  </a:lnTo>
                  <a:lnTo>
                    <a:pt x="9862103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-124997" b="-27238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9862103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Sensor Fusion &amp; State Construction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85862" y="4965686"/>
            <a:ext cx="7200404" cy="1070611"/>
            <a:chOff x="0" y="0"/>
            <a:chExt cx="9600539" cy="14274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00538" cy="1427482"/>
            </a:xfrm>
            <a:custGeom>
              <a:avLst/>
              <a:gdLst/>
              <a:ahLst/>
              <a:cxnLst/>
              <a:rect r="r" b="b" t="t" l="l"/>
              <a:pathLst>
                <a:path h="1427482" w="9600538">
                  <a:moveTo>
                    <a:pt x="0" y="0"/>
                  </a:moveTo>
                  <a:lnTo>
                    <a:pt x="9600538" y="0"/>
                  </a:lnTo>
                  <a:lnTo>
                    <a:pt x="9600538" y="1427482"/>
                  </a:lnTo>
                  <a:lnTo>
                    <a:pt x="0" y="14274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909" r="-131127" b="-24985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600539" cy="1427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Basal Ganglia Decision Engine (Algorithmic Progression)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20795" y="493333"/>
            <a:ext cx="9144000" cy="457200"/>
            <a:chOff x="0" y="0"/>
            <a:chExt cx="1219200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293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METHODOLOGY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20795" y="832485"/>
            <a:ext cx="1105495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State Construction &amp; Actor-Critic Architecture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35440" y="1700677"/>
            <a:ext cx="1907892" cy="870292"/>
            <a:chOff x="0" y="0"/>
            <a:chExt cx="6264118" cy="2857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64118" cy="2857401"/>
            </a:xfrm>
            <a:custGeom>
              <a:avLst/>
              <a:gdLst/>
              <a:ahLst/>
              <a:cxnLst/>
              <a:rect r="r" b="b" t="t" l="l"/>
              <a:pathLst>
                <a:path h="2857401" w="6264118">
                  <a:moveTo>
                    <a:pt x="0" y="51953"/>
                  </a:moveTo>
                  <a:cubicBezTo>
                    <a:pt x="0" y="23270"/>
                    <a:pt x="80646" y="0"/>
                    <a:pt x="180047" y="0"/>
                  </a:cubicBezTo>
                  <a:lnTo>
                    <a:pt x="6084072" y="0"/>
                  </a:lnTo>
                  <a:cubicBezTo>
                    <a:pt x="6183472" y="0"/>
                    <a:pt x="6264118" y="23270"/>
                    <a:pt x="6264118" y="51953"/>
                  </a:cubicBezTo>
                  <a:lnTo>
                    <a:pt x="6264118" y="2805448"/>
                  </a:lnTo>
                  <a:cubicBezTo>
                    <a:pt x="6264118" y="2834130"/>
                    <a:pt x="6183473" y="2857401"/>
                    <a:pt x="6084072" y="2857401"/>
                  </a:cubicBezTo>
                  <a:lnTo>
                    <a:pt x="180047" y="2857401"/>
                  </a:lnTo>
                  <a:cubicBezTo>
                    <a:pt x="80646" y="2857400"/>
                    <a:pt x="0" y="2834130"/>
                    <a:pt x="0" y="280544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433913" y="1700677"/>
            <a:ext cx="1907892" cy="870292"/>
            <a:chOff x="0" y="0"/>
            <a:chExt cx="6264118" cy="2857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64118" cy="2857401"/>
            </a:xfrm>
            <a:custGeom>
              <a:avLst/>
              <a:gdLst/>
              <a:ahLst/>
              <a:cxnLst/>
              <a:rect r="r" b="b" t="t" l="l"/>
              <a:pathLst>
                <a:path h="2857401" w="6264118">
                  <a:moveTo>
                    <a:pt x="0" y="51953"/>
                  </a:moveTo>
                  <a:cubicBezTo>
                    <a:pt x="0" y="23270"/>
                    <a:pt x="80646" y="0"/>
                    <a:pt x="180047" y="0"/>
                  </a:cubicBezTo>
                  <a:lnTo>
                    <a:pt x="6084072" y="0"/>
                  </a:lnTo>
                  <a:cubicBezTo>
                    <a:pt x="6183472" y="0"/>
                    <a:pt x="6264118" y="23270"/>
                    <a:pt x="6264118" y="51953"/>
                  </a:cubicBezTo>
                  <a:lnTo>
                    <a:pt x="6264118" y="2805448"/>
                  </a:lnTo>
                  <a:cubicBezTo>
                    <a:pt x="6264118" y="2834130"/>
                    <a:pt x="6183473" y="2857401"/>
                    <a:pt x="6084072" y="2857401"/>
                  </a:cubicBezTo>
                  <a:lnTo>
                    <a:pt x="180047" y="2857401"/>
                  </a:lnTo>
                  <a:cubicBezTo>
                    <a:pt x="80646" y="2857400"/>
                    <a:pt x="0" y="2834130"/>
                    <a:pt x="0" y="280544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632386" y="1700677"/>
            <a:ext cx="1907892" cy="870292"/>
            <a:chOff x="0" y="0"/>
            <a:chExt cx="6264118" cy="2857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64118" cy="2857401"/>
            </a:xfrm>
            <a:custGeom>
              <a:avLst/>
              <a:gdLst/>
              <a:ahLst/>
              <a:cxnLst/>
              <a:rect r="r" b="b" t="t" l="l"/>
              <a:pathLst>
                <a:path h="2857401" w="6264118">
                  <a:moveTo>
                    <a:pt x="0" y="51953"/>
                  </a:moveTo>
                  <a:cubicBezTo>
                    <a:pt x="0" y="23270"/>
                    <a:pt x="80646" y="0"/>
                    <a:pt x="180047" y="0"/>
                  </a:cubicBezTo>
                  <a:lnTo>
                    <a:pt x="6084072" y="0"/>
                  </a:lnTo>
                  <a:cubicBezTo>
                    <a:pt x="6183472" y="0"/>
                    <a:pt x="6264118" y="23270"/>
                    <a:pt x="6264118" y="51953"/>
                  </a:cubicBezTo>
                  <a:lnTo>
                    <a:pt x="6264118" y="2805448"/>
                  </a:lnTo>
                  <a:cubicBezTo>
                    <a:pt x="6264118" y="2834130"/>
                    <a:pt x="6183473" y="2857401"/>
                    <a:pt x="6084072" y="2857401"/>
                  </a:cubicBezTo>
                  <a:lnTo>
                    <a:pt x="180047" y="2857401"/>
                  </a:lnTo>
                  <a:cubicBezTo>
                    <a:pt x="80646" y="2857400"/>
                    <a:pt x="0" y="2834130"/>
                    <a:pt x="0" y="280544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830859" y="1700677"/>
            <a:ext cx="1907892" cy="870292"/>
            <a:chOff x="0" y="0"/>
            <a:chExt cx="6264118" cy="2857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64118" cy="2857401"/>
            </a:xfrm>
            <a:custGeom>
              <a:avLst/>
              <a:gdLst/>
              <a:ahLst/>
              <a:cxnLst/>
              <a:rect r="r" b="b" t="t" l="l"/>
              <a:pathLst>
                <a:path h="2857401" w="6264118">
                  <a:moveTo>
                    <a:pt x="0" y="51953"/>
                  </a:moveTo>
                  <a:cubicBezTo>
                    <a:pt x="0" y="23270"/>
                    <a:pt x="80646" y="0"/>
                    <a:pt x="180047" y="0"/>
                  </a:cubicBezTo>
                  <a:lnTo>
                    <a:pt x="6084072" y="0"/>
                  </a:lnTo>
                  <a:cubicBezTo>
                    <a:pt x="6183472" y="0"/>
                    <a:pt x="6264118" y="23270"/>
                    <a:pt x="6264118" y="51953"/>
                  </a:cubicBezTo>
                  <a:lnTo>
                    <a:pt x="6264118" y="2805448"/>
                  </a:lnTo>
                  <a:cubicBezTo>
                    <a:pt x="6264118" y="2834130"/>
                    <a:pt x="6183473" y="2857401"/>
                    <a:pt x="6084072" y="2857401"/>
                  </a:cubicBezTo>
                  <a:lnTo>
                    <a:pt x="180047" y="2857401"/>
                  </a:lnTo>
                  <a:cubicBezTo>
                    <a:pt x="80646" y="2857400"/>
                    <a:pt x="0" y="2834130"/>
                    <a:pt x="0" y="280544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461224" y="1763517"/>
            <a:ext cx="1456324" cy="7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Place Cells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33913" y="1700677"/>
            <a:ext cx="1962376" cy="7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Ego Kinematics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25912" y="1763517"/>
            <a:ext cx="1575324" cy="7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Vehicle Metrics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999973" y="1763517"/>
            <a:ext cx="1560070" cy="7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Traffic Signals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724494" y="3376173"/>
            <a:ext cx="3499133" cy="870292"/>
            <a:chOff x="0" y="0"/>
            <a:chExt cx="11488586" cy="2857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488586" cy="2857401"/>
            </a:xfrm>
            <a:custGeom>
              <a:avLst/>
              <a:gdLst/>
              <a:ahLst/>
              <a:cxnLst/>
              <a:rect r="r" b="b" t="t" l="l"/>
              <a:pathLst>
                <a:path h="2857401" w="11488586">
                  <a:moveTo>
                    <a:pt x="0" y="51953"/>
                  </a:moveTo>
                  <a:cubicBezTo>
                    <a:pt x="0" y="23270"/>
                    <a:pt x="147907" y="0"/>
                    <a:pt x="330211" y="0"/>
                  </a:cubicBezTo>
                  <a:lnTo>
                    <a:pt x="11158375" y="0"/>
                  </a:lnTo>
                  <a:cubicBezTo>
                    <a:pt x="11340679" y="0"/>
                    <a:pt x="11488586" y="23270"/>
                    <a:pt x="11488586" y="51953"/>
                  </a:cubicBezTo>
                  <a:lnTo>
                    <a:pt x="11488586" y="2805448"/>
                  </a:lnTo>
                  <a:cubicBezTo>
                    <a:pt x="11488586" y="2834130"/>
                    <a:pt x="11340680" y="2857401"/>
                    <a:pt x="11158375" y="2857401"/>
                  </a:cubicBezTo>
                  <a:lnTo>
                    <a:pt x="330211" y="2857401"/>
                  </a:lnTo>
                  <a:cubicBezTo>
                    <a:pt x="147907" y="2857400"/>
                    <a:pt x="0" y="2834130"/>
                    <a:pt x="0" y="280544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533362" y="3439013"/>
            <a:ext cx="1881396" cy="7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Sensor Input</a:t>
            </a:r>
          </a:p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19-D Vector</a:t>
            </a:r>
          </a:p>
        </p:txBody>
      </p:sp>
      <p:sp>
        <p:nvSpPr>
          <p:cNvPr name="Freeform 44" id="44"/>
          <p:cNvSpPr/>
          <p:nvPr/>
        </p:nvSpPr>
        <p:spPr>
          <a:xfrm>
            <a:off x="10189386" y="2570970"/>
            <a:ext cx="1535108" cy="1240350"/>
          </a:xfrm>
          <a:custGeom>
            <a:avLst/>
            <a:gdLst/>
            <a:ahLst/>
            <a:cxnLst/>
            <a:rect r="r" b="b" t="t" l="l"/>
            <a:pathLst>
              <a:path h="1240350" w="1535108">
                <a:moveTo>
                  <a:pt x="0" y="0"/>
                </a:moveTo>
                <a:lnTo>
                  <a:pt x="0" y="1021275"/>
                </a:lnTo>
                <a:cubicBezTo>
                  <a:pt x="0" y="1142267"/>
                  <a:pt x="98083" y="1240350"/>
                  <a:pt x="219075" y="1240350"/>
                </a:cubicBezTo>
                <a:lnTo>
                  <a:pt x="1535108" y="124035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5" id="45"/>
          <p:cNvSpPr/>
          <p:nvPr/>
        </p:nvSpPr>
        <p:spPr>
          <a:xfrm>
            <a:off x="12387859" y="2973572"/>
            <a:ext cx="0" cy="402602"/>
          </a:xfrm>
          <a:custGeom>
            <a:avLst/>
            <a:gdLst/>
            <a:ahLst/>
            <a:cxnLst/>
            <a:rect r="r" b="b" t="t" l="l"/>
            <a:pathLst>
              <a:path h="402602" w="0">
                <a:moveTo>
                  <a:pt x="0" y="0"/>
                </a:moveTo>
                <a:lnTo>
                  <a:pt x="0" y="40260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6" id="46"/>
          <p:cNvSpPr/>
          <p:nvPr/>
        </p:nvSpPr>
        <p:spPr>
          <a:xfrm>
            <a:off x="14586333" y="2973572"/>
            <a:ext cx="0" cy="402602"/>
          </a:xfrm>
          <a:custGeom>
            <a:avLst/>
            <a:gdLst/>
            <a:ahLst/>
            <a:cxnLst/>
            <a:rect r="r" b="b" t="t" l="l"/>
            <a:pathLst>
              <a:path h="402602" w="0">
                <a:moveTo>
                  <a:pt x="0" y="0"/>
                </a:moveTo>
                <a:lnTo>
                  <a:pt x="0" y="40260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7" id="47"/>
          <p:cNvSpPr/>
          <p:nvPr/>
        </p:nvSpPr>
        <p:spPr>
          <a:xfrm>
            <a:off x="15223627" y="2570970"/>
            <a:ext cx="1561178" cy="1240350"/>
          </a:xfrm>
          <a:custGeom>
            <a:avLst/>
            <a:gdLst/>
            <a:ahLst/>
            <a:cxnLst/>
            <a:rect r="r" b="b" t="t" l="l"/>
            <a:pathLst>
              <a:path h="1240350" w="1561178">
                <a:moveTo>
                  <a:pt x="1561178" y="0"/>
                </a:moveTo>
                <a:lnTo>
                  <a:pt x="1561178" y="1021275"/>
                </a:lnTo>
                <a:cubicBezTo>
                  <a:pt x="1561178" y="1079377"/>
                  <a:pt x="1538097" y="1135100"/>
                  <a:pt x="1497013" y="1176184"/>
                </a:cubicBezTo>
                <a:cubicBezTo>
                  <a:pt x="1455929" y="1217269"/>
                  <a:pt x="1400205" y="1240350"/>
                  <a:pt x="1342103" y="1240350"/>
                </a:cubicBezTo>
                <a:lnTo>
                  <a:pt x="0" y="124035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8" id="48"/>
          <p:cNvGrpSpPr/>
          <p:nvPr/>
        </p:nvGrpSpPr>
        <p:grpSpPr>
          <a:xfrm rot="0">
            <a:off x="14613574" y="4700119"/>
            <a:ext cx="2552990" cy="870292"/>
            <a:chOff x="0" y="0"/>
            <a:chExt cx="8382146" cy="2857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382146" cy="2857401"/>
            </a:xfrm>
            <a:custGeom>
              <a:avLst/>
              <a:gdLst/>
              <a:ahLst/>
              <a:cxnLst/>
              <a:rect r="r" b="b" t="t" l="l"/>
              <a:pathLst>
                <a:path h="2857401" w="8382146">
                  <a:moveTo>
                    <a:pt x="0" y="51953"/>
                  </a:moveTo>
                  <a:cubicBezTo>
                    <a:pt x="0" y="23270"/>
                    <a:pt x="107914" y="0"/>
                    <a:pt x="240924" y="0"/>
                  </a:cubicBezTo>
                  <a:lnTo>
                    <a:pt x="8141222" y="0"/>
                  </a:lnTo>
                  <a:cubicBezTo>
                    <a:pt x="8274231" y="0"/>
                    <a:pt x="8382146" y="23270"/>
                    <a:pt x="8382146" y="51953"/>
                  </a:cubicBezTo>
                  <a:lnTo>
                    <a:pt x="8382146" y="2805448"/>
                  </a:lnTo>
                  <a:cubicBezTo>
                    <a:pt x="8382146" y="2834130"/>
                    <a:pt x="8274232" y="2857401"/>
                    <a:pt x="8141222" y="2857401"/>
                  </a:cubicBezTo>
                  <a:lnTo>
                    <a:pt x="240924" y="2857401"/>
                  </a:lnTo>
                  <a:cubicBezTo>
                    <a:pt x="107914" y="2857400"/>
                    <a:pt x="0" y="2834130"/>
                    <a:pt x="0" y="280544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613574" y="6024443"/>
            <a:ext cx="2552990" cy="870292"/>
            <a:chOff x="0" y="0"/>
            <a:chExt cx="8382146" cy="2857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82146" cy="2857401"/>
            </a:xfrm>
            <a:custGeom>
              <a:avLst/>
              <a:gdLst/>
              <a:ahLst/>
              <a:cxnLst/>
              <a:rect r="r" b="b" t="t" l="l"/>
              <a:pathLst>
                <a:path h="2857401" w="8382146">
                  <a:moveTo>
                    <a:pt x="0" y="51953"/>
                  </a:moveTo>
                  <a:cubicBezTo>
                    <a:pt x="0" y="23270"/>
                    <a:pt x="107914" y="0"/>
                    <a:pt x="240924" y="0"/>
                  </a:cubicBezTo>
                  <a:lnTo>
                    <a:pt x="8141222" y="0"/>
                  </a:lnTo>
                  <a:cubicBezTo>
                    <a:pt x="8274231" y="0"/>
                    <a:pt x="8382146" y="23270"/>
                    <a:pt x="8382146" y="51953"/>
                  </a:cubicBezTo>
                  <a:lnTo>
                    <a:pt x="8382146" y="2805448"/>
                  </a:lnTo>
                  <a:cubicBezTo>
                    <a:pt x="8382146" y="2834130"/>
                    <a:pt x="8274232" y="2857401"/>
                    <a:pt x="8141222" y="2857401"/>
                  </a:cubicBezTo>
                  <a:lnTo>
                    <a:pt x="240924" y="2857401"/>
                  </a:lnTo>
                  <a:cubicBezTo>
                    <a:pt x="107914" y="2857400"/>
                    <a:pt x="0" y="2834130"/>
                    <a:pt x="0" y="280544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000292" y="8801844"/>
            <a:ext cx="2699804" cy="870292"/>
            <a:chOff x="0" y="0"/>
            <a:chExt cx="8864176" cy="2857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864175" cy="2857401"/>
            </a:xfrm>
            <a:custGeom>
              <a:avLst/>
              <a:gdLst/>
              <a:ahLst/>
              <a:cxnLst/>
              <a:rect r="r" b="b" t="t" l="l"/>
              <a:pathLst>
                <a:path h="2857401" w="8864175">
                  <a:moveTo>
                    <a:pt x="0" y="51953"/>
                  </a:moveTo>
                  <a:cubicBezTo>
                    <a:pt x="0" y="23270"/>
                    <a:pt x="114120" y="0"/>
                    <a:pt x="254779" y="0"/>
                  </a:cubicBezTo>
                  <a:lnTo>
                    <a:pt x="8609397" y="0"/>
                  </a:lnTo>
                  <a:cubicBezTo>
                    <a:pt x="8750056" y="0"/>
                    <a:pt x="8864175" y="23270"/>
                    <a:pt x="8864175" y="51953"/>
                  </a:cubicBezTo>
                  <a:lnTo>
                    <a:pt x="8864175" y="2805448"/>
                  </a:lnTo>
                  <a:cubicBezTo>
                    <a:pt x="8864175" y="2834130"/>
                    <a:pt x="8750057" y="2857401"/>
                    <a:pt x="8609397" y="2857401"/>
                  </a:cubicBezTo>
                  <a:lnTo>
                    <a:pt x="254779" y="2857401"/>
                  </a:lnTo>
                  <a:cubicBezTo>
                    <a:pt x="114120" y="2857400"/>
                    <a:pt x="0" y="2834130"/>
                    <a:pt x="0" y="280544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086814" y="7208918"/>
            <a:ext cx="2526761" cy="870292"/>
            <a:chOff x="0" y="0"/>
            <a:chExt cx="8296027" cy="2857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96027" cy="2857401"/>
            </a:xfrm>
            <a:custGeom>
              <a:avLst/>
              <a:gdLst/>
              <a:ahLst/>
              <a:cxnLst/>
              <a:rect r="r" b="b" t="t" l="l"/>
              <a:pathLst>
                <a:path h="2857401" w="8296027">
                  <a:moveTo>
                    <a:pt x="0" y="51953"/>
                  </a:moveTo>
                  <a:cubicBezTo>
                    <a:pt x="0" y="23270"/>
                    <a:pt x="106805" y="0"/>
                    <a:pt x="238449" y="0"/>
                  </a:cubicBezTo>
                  <a:lnTo>
                    <a:pt x="8057579" y="0"/>
                  </a:lnTo>
                  <a:cubicBezTo>
                    <a:pt x="8189222" y="0"/>
                    <a:pt x="8296027" y="23270"/>
                    <a:pt x="8296027" y="51953"/>
                  </a:cubicBezTo>
                  <a:lnTo>
                    <a:pt x="8296027" y="2805448"/>
                  </a:lnTo>
                  <a:cubicBezTo>
                    <a:pt x="8296027" y="2834130"/>
                    <a:pt x="8189223" y="2857401"/>
                    <a:pt x="8057579" y="2857401"/>
                  </a:cubicBezTo>
                  <a:lnTo>
                    <a:pt x="238449" y="2857401"/>
                  </a:lnTo>
                  <a:cubicBezTo>
                    <a:pt x="106805" y="2857400"/>
                    <a:pt x="0" y="2834130"/>
                    <a:pt x="0" y="280544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4786618" y="4762958"/>
            <a:ext cx="2160853" cy="7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Critic Network</a:t>
            </a:r>
          </a:p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Value Q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223627" y="6087283"/>
            <a:ext cx="1344065" cy="7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Value Estimate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45218" y="7208918"/>
            <a:ext cx="2169540" cy="7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Actor Network Policy 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166016" y="8864683"/>
            <a:ext cx="2368356" cy="7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b="true" sz="2478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Action Output Throttle/Brake</a:t>
            </a:r>
          </a:p>
        </p:txBody>
      </p:sp>
      <p:sp>
        <p:nvSpPr>
          <p:cNvPr name="Freeform 60" id="60"/>
          <p:cNvSpPr/>
          <p:nvPr/>
        </p:nvSpPr>
        <p:spPr>
          <a:xfrm>
            <a:off x="11650942" y="4246466"/>
            <a:ext cx="1823119" cy="2962453"/>
          </a:xfrm>
          <a:custGeom>
            <a:avLst/>
            <a:gdLst/>
            <a:ahLst/>
            <a:cxnLst/>
            <a:rect r="r" b="b" t="t" l="l"/>
            <a:pathLst>
              <a:path h="2962453" w="1823119">
                <a:moveTo>
                  <a:pt x="1823119" y="0"/>
                </a:moveTo>
                <a:lnTo>
                  <a:pt x="1823119" y="108967"/>
                </a:lnTo>
                <a:cubicBezTo>
                  <a:pt x="1823119" y="137868"/>
                  <a:pt x="1811639" y="165584"/>
                  <a:pt x="1791203" y="186019"/>
                </a:cubicBezTo>
                <a:cubicBezTo>
                  <a:pt x="1770767" y="206455"/>
                  <a:pt x="1743051" y="217935"/>
                  <a:pt x="1714152" y="217935"/>
                </a:cubicBezTo>
                <a:lnTo>
                  <a:pt x="219075" y="217935"/>
                </a:lnTo>
                <a:cubicBezTo>
                  <a:pt x="160973" y="217935"/>
                  <a:pt x="105250" y="241016"/>
                  <a:pt x="64166" y="282101"/>
                </a:cubicBezTo>
                <a:cubicBezTo>
                  <a:pt x="23081" y="323185"/>
                  <a:pt x="0" y="378908"/>
                  <a:pt x="0" y="437010"/>
                </a:cubicBezTo>
                <a:lnTo>
                  <a:pt x="0" y="2307506"/>
                </a:lnTo>
                <a:cubicBezTo>
                  <a:pt x="0" y="2365609"/>
                  <a:pt x="23081" y="2421331"/>
                  <a:pt x="64166" y="2462415"/>
                </a:cubicBezTo>
                <a:cubicBezTo>
                  <a:pt x="105250" y="2503500"/>
                  <a:pt x="160973" y="2526581"/>
                  <a:pt x="219075" y="2526581"/>
                </a:cubicBezTo>
                <a:lnTo>
                  <a:pt x="1461110" y="2526581"/>
                </a:lnTo>
                <a:cubicBezTo>
                  <a:pt x="1518910" y="2526581"/>
                  <a:pt x="1574344" y="2549542"/>
                  <a:pt x="1615214" y="2590413"/>
                </a:cubicBezTo>
                <a:cubicBezTo>
                  <a:pt x="1656085" y="2631284"/>
                  <a:pt x="1679046" y="2686716"/>
                  <a:pt x="1679046" y="2744517"/>
                </a:cubicBezTo>
                <a:lnTo>
                  <a:pt x="1679046" y="2962452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1" id="61"/>
          <p:cNvSpPr/>
          <p:nvPr/>
        </p:nvSpPr>
        <p:spPr>
          <a:xfrm>
            <a:off x="13350194" y="8079210"/>
            <a:ext cx="0" cy="7226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2" id="62"/>
          <p:cNvSpPr/>
          <p:nvPr/>
        </p:nvSpPr>
        <p:spPr>
          <a:xfrm>
            <a:off x="13474061" y="4246466"/>
            <a:ext cx="2416008" cy="453653"/>
          </a:xfrm>
          <a:custGeom>
            <a:avLst/>
            <a:gdLst/>
            <a:ahLst/>
            <a:cxnLst/>
            <a:rect r="r" b="b" t="t" l="l"/>
            <a:pathLst>
              <a:path h="453653" w="2416008">
                <a:moveTo>
                  <a:pt x="0" y="0"/>
                </a:moveTo>
                <a:lnTo>
                  <a:pt x="0" y="108967"/>
                </a:lnTo>
                <a:cubicBezTo>
                  <a:pt x="0" y="137868"/>
                  <a:pt x="11480" y="165584"/>
                  <a:pt x="31916" y="186019"/>
                </a:cubicBezTo>
                <a:cubicBezTo>
                  <a:pt x="52352" y="206455"/>
                  <a:pt x="80068" y="217935"/>
                  <a:pt x="108969" y="217935"/>
                </a:cubicBezTo>
                <a:lnTo>
                  <a:pt x="2298148" y="217935"/>
                </a:lnTo>
                <a:cubicBezTo>
                  <a:pt x="2329407" y="217935"/>
                  <a:pt x="2359385" y="230352"/>
                  <a:pt x="2381487" y="252455"/>
                </a:cubicBezTo>
                <a:cubicBezTo>
                  <a:pt x="2403590" y="274558"/>
                  <a:pt x="2416008" y="304536"/>
                  <a:pt x="2416008" y="335794"/>
                </a:cubicBezTo>
                <a:lnTo>
                  <a:pt x="2416008" y="453653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3" id="63"/>
          <p:cNvSpPr/>
          <p:nvPr/>
        </p:nvSpPr>
        <p:spPr>
          <a:xfrm>
            <a:off x="14177704" y="5570411"/>
            <a:ext cx="1472743" cy="889179"/>
          </a:xfrm>
          <a:custGeom>
            <a:avLst/>
            <a:gdLst/>
            <a:ahLst/>
            <a:cxnLst/>
            <a:rect r="r" b="b" t="t" l="l"/>
            <a:pathLst>
              <a:path h="889179" w="1472743">
                <a:moveTo>
                  <a:pt x="1472742" y="0"/>
                </a:moveTo>
                <a:lnTo>
                  <a:pt x="1472742" y="112786"/>
                </a:lnTo>
                <a:cubicBezTo>
                  <a:pt x="1472742" y="142698"/>
                  <a:pt x="1460859" y="171386"/>
                  <a:pt x="1439709" y="192537"/>
                </a:cubicBezTo>
                <a:cubicBezTo>
                  <a:pt x="1418556" y="213689"/>
                  <a:pt x="1389870" y="225572"/>
                  <a:pt x="1359957" y="225572"/>
                </a:cubicBezTo>
                <a:lnTo>
                  <a:pt x="219075" y="225572"/>
                </a:lnTo>
                <a:cubicBezTo>
                  <a:pt x="98084" y="225572"/>
                  <a:pt x="0" y="323655"/>
                  <a:pt x="0" y="444647"/>
                </a:cubicBezTo>
                <a:lnTo>
                  <a:pt x="0" y="671243"/>
                </a:lnTo>
                <a:cubicBezTo>
                  <a:pt x="0" y="729043"/>
                  <a:pt x="22961" y="784476"/>
                  <a:pt x="63831" y="825347"/>
                </a:cubicBezTo>
                <a:cubicBezTo>
                  <a:pt x="104702" y="866217"/>
                  <a:pt x="160136" y="889178"/>
                  <a:pt x="217935" y="889178"/>
                </a:cubicBezTo>
                <a:lnTo>
                  <a:pt x="435871" y="88917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4" id="64"/>
          <p:cNvSpPr/>
          <p:nvPr/>
        </p:nvSpPr>
        <p:spPr>
          <a:xfrm>
            <a:off x="16111260" y="5570411"/>
            <a:ext cx="1491176" cy="889179"/>
          </a:xfrm>
          <a:custGeom>
            <a:avLst/>
            <a:gdLst/>
            <a:ahLst/>
            <a:cxnLst/>
            <a:rect r="r" b="b" t="t" l="l"/>
            <a:pathLst>
              <a:path h="889179" w="1491176">
                <a:moveTo>
                  <a:pt x="0" y="0"/>
                </a:moveTo>
                <a:lnTo>
                  <a:pt x="0" y="112786"/>
                </a:lnTo>
                <a:cubicBezTo>
                  <a:pt x="0" y="142698"/>
                  <a:pt x="11883" y="171386"/>
                  <a:pt x="33034" y="192537"/>
                </a:cubicBezTo>
                <a:cubicBezTo>
                  <a:pt x="54186" y="213689"/>
                  <a:pt x="82874" y="225572"/>
                  <a:pt x="112785" y="225572"/>
                </a:cubicBezTo>
                <a:lnTo>
                  <a:pt x="1272101" y="225572"/>
                </a:lnTo>
                <a:cubicBezTo>
                  <a:pt x="1393092" y="225572"/>
                  <a:pt x="1491176" y="323655"/>
                  <a:pt x="1491176" y="444647"/>
                </a:cubicBezTo>
                <a:lnTo>
                  <a:pt x="1491176" y="671243"/>
                </a:lnTo>
                <a:cubicBezTo>
                  <a:pt x="1491176" y="729043"/>
                  <a:pt x="1468214" y="784476"/>
                  <a:pt x="1427344" y="825347"/>
                </a:cubicBezTo>
                <a:cubicBezTo>
                  <a:pt x="1386474" y="866217"/>
                  <a:pt x="1331040" y="889178"/>
                  <a:pt x="1273240" y="889178"/>
                </a:cubicBezTo>
                <a:lnTo>
                  <a:pt x="1055305" y="889178"/>
                </a:lnTo>
              </a:path>
            </a:pathLst>
          </a:custGeom>
          <a:ln cap="flat" w="38100">
            <a:solidFill>
              <a:srgbClr val="000000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Freeform 65" id="65"/>
          <p:cNvSpPr/>
          <p:nvPr/>
        </p:nvSpPr>
        <p:spPr>
          <a:xfrm>
            <a:off x="14613575" y="6894735"/>
            <a:ext cx="1276494" cy="749329"/>
          </a:xfrm>
          <a:custGeom>
            <a:avLst/>
            <a:gdLst/>
            <a:ahLst/>
            <a:cxnLst/>
            <a:rect r="r" b="b" t="t" l="l"/>
            <a:pathLst>
              <a:path h="749329" w="1276494">
                <a:moveTo>
                  <a:pt x="1276494" y="0"/>
                </a:moveTo>
                <a:lnTo>
                  <a:pt x="1276494" y="530254"/>
                </a:lnTo>
                <a:cubicBezTo>
                  <a:pt x="1276494" y="588357"/>
                  <a:pt x="1253413" y="644079"/>
                  <a:pt x="1212329" y="685164"/>
                </a:cubicBezTo>
                <a:cubicBezTo>
                  <a:pt x="1171244" y="726249"/>
                  <a:pt x="1115521" y="749329"/>
                  <a:pt x="1057419" y="749329"/>
                </a:cubicBezTo>
                <a:lnTo>
                  <a:pt x="0" y="749329"/>
                </a:lnTo>
              </a:path>
            </a:pathLst>
          </a:cu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6342" y="6169328"/>
            <a:ext cx="7364636" cy="3225165"/>
            <a:chOff x="0" y="0"/>
            <a:chExt cx="1098687" cy="4811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687" cy="481143"/>
            </a:xfrm>
            <a:custGeom>
              <a:avLst/>
              <a:gdLst/>
              <a:ahLst/>
              <a:cxnLst/>
              <a:rect r="r" b="b" t="t" l="l"/>
              <a:pathLst>
                <a:path h="481143" w="1098687">
                  <a:moveTo>
                    <a:pt x="1098687" y="35742"/>
                  </a:moveTo>
                  <a:lnTo>
                    <a:pt x="1098687" y="445402"/>
                  </a:lnTo>
                  <a:cubicBezTo>
                    <a:pt x="1098687" y="465141"/>
                    <a:pt x="1082685" y="481143"/>
                    <a:pt x="1062945" y="481143"/>
                  </a:cubicBezTo>
                  <a:lnTo>
                    <a:pt x="35742" y="481143"/>
                  </a:lnTo>
                  <a:cubicBezTo>
                    <a:pt x="16002" y="481143"/>
                    <a:pt x="0" y="465141"/>
                    <a:pt x="0" y="445402"/>
                  </a:cubicBezTo>
                  <a:lnTo>
                    <a:pt x="0" y="35742"/>
                  </a:lnTo>
                  <a:cubicBezTo>
                    <a:pt x="0" y="16002"/>
                    <a:pt x="16002" y="0"/>
                    <a:pt x="35742" y="0"/>
                  </a:cubicBezTo>
                  <a:lnTo>
                    <a:pt x="1062945" y="0"/>
                  </a:lnTo>
                  <a:cubicBezTo>
                    <a:pt x="1082685" y="0"/>
                    <a:pt x="1098687" y="16002"/>
                    <a:pt x="1098687" y="35742"/>
                  </a:cubicBezTo>
                  <a:close/>
                </a:path>
              </a:pathLst>
            </a:custGeom>
            <a:solidFill>
              <a:srgbClr val="B8114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98687" cy="509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002" y="9239085"/>
            <a:ext cx="3657600" cy="742503"/>
            <a:chOff x="0" y="0"/>
            <a:chExt cx="4876800" cy="9900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37025" y="9394493"/>
            <a:ext cx="1915278" cy="431686"/>
            <a:chOff x="0" y="0"/>
            <a:chExt cx="7805966" cy="17593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6342" y="5059640"/>
            <a:ext cx="7364636" cy="882058"/>
            <a:chOff x="0" y="0"/>
            <a:chExt cx="1098687" cy="1315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8687" cy="131589"/>
            </a:xfrm>
            <a:custGeom>
              <a:avLst/>
              <a:gdLst/>
              <a:ahLst/>
              <a:cxnLst/>
              <a:rect r="r" b="b" t="t" l="l"/>
              <a:pathLst>
                <a:path h="131589" w="1098687">
                  <a:moveTo>
                    <a:pt x="1098687" y="35742"/>
                  </a:moveTo>
                  <a:lnTo>
                    <a:pt x="1098687" y="95847"/>
                  </a:lnTo>
                  <a:cubicBezTo>
                    <a:pt x="1098687" y="115587"/>
                    <a:pt x="1082685" y="131589"/>
                    <a:pt x="1062945" y="131589"/>
                  </a:cubicBezTo>
                  <a:lnTo>
                    <a:pt x="35742" y="131589"/>
                  </a:lnTo>
                  <a:cubicBezTo>
                    <a:pt x="16002" y="131589"/>
                    <a:pt x="0" y="115587"/>
                    <a:pt x="0" y="95847"/>
                  </a:cubicBezTo>
                  <a:lnTo>
                    <a:pt x="0" y="35742"/>
                  </a:lnTo>
                  <a:cubicBezTo>
                    <a:pt x="0" y="16002"/>
                    <a:pt x="16002" y="0"/>
                    <a:pt x="35742" y="0"/>
                  </a:cubicBezTo>
                  <a:lnTo>
                    <a:pt x="1062945" y="0"/>
                  </a:lnTo>
                  <a:cubicBezTo>
                    <a:pt x="1082685" y="0"/>
                    <a:pt x="1098687" y="16002"/>
                    <a:pt x="1098687" y="35742"/>
                  </a:cubicBezTo>
                  <a:close/>
                </a:path>
              </a:pathLst>
            </a:custGeom>
            <a:solidFill>
              <a:srgbClr val="FBEF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98687" cy="160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46342" y="1564896"/>
            <a:ext cx="7364636" cy="3225165"/>
            <a:chOff x="0" y="0"/>
            <a:chExt cx="1098687" cy="4811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8687" cy="481143"/>
            </a:xfrm>
            <a:custGeom>
              <a:avLst/>
              <a:gdLst/>
              <a:ahLst/>
              <a:cxnLst/>
              <a:rect r="r" b="b" t="t" l="l"/>
              <a:pathLst>
                <a:path h="481143" w="1098687">
                  <a:moveTo>
                    <a:pt x="1098687" y="35742"/>
                  </a:moveTo>
                  <a:lnTo>
                    <a:pt x="1098687" y="445402"/>
                  </a:lnTo>
                  <a:cubicBezTo>
                    <a:pt x="1098687" y="465141"/>
                    <a:pt x="1082685" y="481143"/>
                    <a:pt x="1062945" y="481143"/>
                  </a:cubicBezTo>
                  <a:lnTo>
                    <a:pt x="35742" y="481143"/>
                  </a:lnTo>
                  <a:cubicBezTo>
                    <a:pt x="16002" y="481143"/>
                    <a:pt x="0" y="465141"/>
                    <a:pt x="0" y="445402"/>
                  </a:cubicBezTo>
                  <a:lnTo>
                    <a:pt x="0" y="35742"/>
                  </a:lnTo>
                  <a:cubicBezTo>
                    <a:pt x="0" y="16002"/>
                    <a:pt x="16002" y="0"/>
                    <a:pt x="35742" y="0"/>
                  </a:cubicBezTo>
                  <a:lnTo>
                    <a:pt x="1062945" y="0"/>
                  </a:lnTo>
                  <a:cubicBezTo>
                    <a:pt x="1082685" y="0"/>
                    <a:pt x="1098687" y="16002"/>
                    <a:pt x="1098687" y="35742"/>
                  </a:cubicBezTo>
                  <a:close/>
                </a:path>
              </a:pathLst>
            </a:custGeom>
            <a:solidFill>
              <a:srgbClr val="B8114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098687" cy="509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59485" y="2475880"/>
            <a:ext cx="662511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igh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um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of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ur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rd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component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s: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18" id="18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20" id="20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82002" y="5091094"/>
            <a:ext cx="664045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7A0E3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Composite Reward = α·Progress + β·Velocity + γ·Safety + δ·Signal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4232" y="2570736"/>
            <a:ext cx="6024037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orw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ard Progress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Veloc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ity M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tchi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Saf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ety Potential F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ields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Sig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 Awaren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ess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46342" y="6361244"/>
            <a:ext cx="7160156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Bridges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the trained policy to ROS 2 middleware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Publishes c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trol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comm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ands as ROS 2 topics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</a:t>
            </a:r>
            <a:r>
              <a:rPr lang="en-US" sz="270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tablishes</a:t>
            </a: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the sim-to-real deployment pathway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528121" y="1564896"/>
            <a:ext cx="8348755" cy="1005840"/>
            <a:chOff x="0" y="0"/>
            <a:chExt cx="11131673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3167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131672">
                  <a:moveTo>
                    <a:pt x="0" y="0"/>
                  </a:moveTo>
                  <a:lnTo>
                    <a:pt x="11131672" y="0"/>
                  </a:lnTo>
                  <a:lnTo>
                    <a:pt x="1113167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-99336" b="-27238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1131673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</a:t>
              </a:r>
              <a:r>
                <a:rPr lang="en-US" b="true" sz="3000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omposite Reward Shaping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4232" y="5910244"/>
            <a:ext cx="8711208" cy="1005840"/>
            <a:chOff x="0" y="0"/>
            <a:chExt cx="11614944" cy="1341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61494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614944">
                  <a:moveTo>
                    <a:pt x="0" y="0"/>
                  </a:moveTo>
                  <a:lnTo>
                    <a:pt x="11614944" y="0"/>
                  </a:lnTo>
                  <a:lnTo>
                    <a:pt x="1161494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-91042" b="-27238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1614944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ROS</a:t>
              </a:r>
              <a:r>
                <a:rPr lang="en-US" b="true" sz="3000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2 Deployment Bridge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46342" y="555246"/>
            <a:ext cx="9144000" cy="457200"/>
            <a:chOff x="0" y="0"/>
            <a:chExt cx="1219200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293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METHODOLOGY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46342" y="907671"/>
            <a:ext cx="993957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Reward Optimization &amp; ROS 2 Integration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35440" y="1700677"/>
            <a:ext cx="7509436" cy="1815960"/>
            <a:chOff x="0" y="0"/>
            <a:chExt cx="7588492" cy="18350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588491" cy="1835078"/>
            </a:xfrm>
            <a:custGeom>
              <a:avLst/>
              <a:gdLst/>
              <a:ahLst/>
              <a:cxnLst/>
              <a:rect r="r" b="b" t="t" l="l"/>
              <a:pathLst>
                <a:path h="1835078" w="7588491">
                  <a:moveTo>
                    <a:pt x="0" y="33365"/>
                  </a:moveTo>
                  <a:cubicBezTo>
                    <a:pt x="0" y="14945"/>
                    <a:pt x="97696" y="0"/>
                    <a:pt x="218112" y="0"/>
                  </a:cubicBezTo>
                  <a:lnTo>
                    <a:pt x="7370380" y="0"/>
                  </a:lnTo>
                  <a:cubicBezTo>
                    <a:pt x="7490795" y="0"/>
                    <a:pt x="7588491" y="14945"/>
                    <a:pt x="7588491" y="33365"/>
                  </a:cubicBezTo>
                  <a:lnTo>
                    <a:pt x="7588491" y="1801712"/>
                  </a:lnTo>
                  <a:cubicBezTo>
                    <a:pt x="7588491" y="1820132"/>
                    <a:pt x="7490795" y="1835078"/>
                    <a:pt x="7370380" y="1835078"/>
                  </a:cubicBezTo>
                  <a:lnTo>
                    <a:pt x="218112" y="1835078"/>
                  </a:lnTo>
                  <a:cubicBezTo>
                    <a:pt x="97696" y="1835077"/>
                    <a:pt x="0" y="1820132"/>
                    <a:pt x="0" y="1801712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033187" y="2308620"/>
            <a:ext cx="391394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4"/>
              </a:lnSpc>
              <a:spcBef>
                <a:spcPct val="0"/>
              </a:spcBef>
            </a:pPr>
            <a:r>
              <a:rPr lang="en-US" b="true" sz="4078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SAC Policy Node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235440" y="5825228"/>
            <a:ext cx="7509436" cy="1815960"/>
            <a:chOff x="0" y="0"/>
            <a:chExt cx="7588492" cy="183507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88491" cy="1835078"/>
            </a:xfrm>
            <a:custGeom>
              <a:avLst/>
              <a:gdLst/>
              <a:ahLst/>
              <a:cxnLst/>
              <a:rect r="r" b="b" t="t" l="l"/>
              <a:pathLst>
                <a:path h="1835078" w="7588491">
                  <a:moveTo>
                    <a:pt x="0" y="33365"/>
                  </a:moveTo>
                  <a:cubicBezTo>
                    <a:pt x="0" y="14945"/>
                    <a:pt x="97696" y="0"/>
                    <a:pt x="218112" y="0"/>
                  </a:cubicBezTo>
                  <a:lnTo>
                    <a:pt x="7370380" y="0"/>
                  </a:lnTo>
                  <a:cubicBezTo>
                    <a:pt x="7490795" y="0"/>
                    <a:pt x="7588491" y="14945"/>
                    <a:pt x="7588491" y="33365"/>
                  </a:cubicBezTo>
                  <a:lnTo>
                    <a:pt x="7588491" y="1801712"/>
                  </a:lnTo>
                  <a:cubicBezTo>
                    <a:pt x="7588491" y="1820132"/>
                    <a:pt x="7490795" y="1835078"/>
                    <a:pt x="7370380" y="1835078"/>
                  </a:cubicBezTo>
                  <a:lnTo>
                    <a:pt x="218112" y="1835078"/>
                  </a:lnTo>
                  <a:cubicBezTo>
                    <a:pt x="97696" y="1835077"/>
                    <a:pt x="0" y="1820132"/>
                    <a:pt x="0" y="1801712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781965" y="6433170"/>
            <a:ext cx="441638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4"/>
              </a:lnSpc>
              <a:spcBef>
                <a:spcPct val="0"/>
              </a:spcBef>
            </a:pPr>
            <a:r>
              <a:rPr lang="en-US" b="true" sz="4078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SUMO TraCI Node</a:t>
            </a:r>
          </a:p>
        </p:txBody>
      </p:sp>
      <p:sp>
        <p:nvSpPr>
          <p:cNvPr name="Freeform 40" id="40"/>
          <p:cNvSpPr/>
          <p:nvPr/>
        </p:nvSpPr>
        <p:spPr>
          <a:xfrm>
            <a:off x="13102890" y="3574573"/>
            <a:ext cx="2232510" cy="2195158"/>
          </a:xfrm>
          <a:custGeom>
            <a:avLst/>
            <a:gdLst/>
            <a:ahLst/>
            <a:cxnLst/>
            <a:rect r="r" b="b" t="t" l="l"/>
            <a:pathLst>
              <a:path h="2195158" w="2232510">
                <a:moveTo>
                  <a:pt x="106626" y="0"/>
                </a:moveTo>
                <a:lnTo>
                  <a:pt x="106626" y="85332"/>
                </a:lnTo>
                <a:cubicBezTo>
                  <a:pt x="106626" y="132460"/>
                  <a:pt x="144830" y="170664"/>
                  <a:pt x="191957" y="170664"/>
                </a:cubicBezTo>
                <a:lnTo>
                  <a:pt x="2003910" y="170664"/>
                </a:lnTo>
                <a:cubicBezTo>
                  <a:pt x="2130163" y="170664"/>
                  <a:pt x="2232510" y="273012"/>
                  <a:pt x="2232510" y="399264"/>
                </a:cubicBezTo>
                <a:lnTo>
                  <a:pt x="2232510" y="1793455"/>
                </a:lnTo>
                <a:cubicBezTo>
                  <a:pt x="2232510" y="1854083"/>
                  <a:pt x="2208427" y="1912229"/>
                  <a:pt x="2165555" y="1955100"/>
                </a:cubicBezTo>
                <a:cubicBezTo>
                  <a:pt x="2122685" y="1997970"/>
                  <a:pt x="2064539" y="2022055"/>
                  <a:pt x="2003910" y="2022055"/>
                </a:cubicBezTo>
                <a:lnTo>
                  <a:pt x="86551" y="2022055"/>
                </a:lnTo>
                <a:cubicBezTo>
                  <a:pt x="63598" y="2022055"/>
                  <a:pt x="41582" y="2031174"/>
                  <a:pt x="25351" y="2047405"/>
                </a:cubicBezTo>
                <a:cubicBezTo>
                  <a:pt x="9119" y="2063637"/>
                  <a:pt x="0" y="2085652"/>
                  <a:pt x="0" y="2108607"/>
                </a:cubicBezTo>
                <a:lnTo>
                  <a:pt x="0" y="2195159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1" id="41"/>
          <p:cNvSpPr txBox="true"/>
          <p:nvPr/>
        </p:nvSpPr>
        <p:spPr>
          <a:xfrm rot="0">
            <a:off x="15492269" y="4381899"/>
            <a:ext cx="143994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/cmd_vel</a:t>
            </a:r>
          </a:p>
        </p:txBody>
      </p:sp>
      <p:sp>
        <p:nvSpPr>
          <p:cNvPr name="Freeform 42" id="42"/>
          <p:cNvSpPr/>
          <p:nvPr/>
        </p:nvSpPr>
        <p:spPr>
          <a:xfrm>
            <a:off x="10220482" y="3574573"/>
            <a:ext cx="2368235" cy="2149173"/>
          </a:xfrm>
          <a:custGeom>
            <a:avLst/>
            <a:gdLst/>
            <a:ahLst/>
            <a:cxnLst/>
            <a:rect r="r" b="b" t="t" l="l"/>
            <a:pathLst>
              <a:path h="2149173" w="2368235">
                <a:moveTo>
                  <a:pt x="2368235" y="0"/>
                </a:moveTo>
                <a:lnTo>
                  <a:pt x="2368235" y="85332"/>
                </a:lnTo>
                <a:cubicBezTo>
                  <a:pt x="2368235" y="132460"/>
                  <a:pt x="2330030" y="170664"/>
                  <a:pt x="2282903" y="170664"/>
                </a:cubicBezTo>
                <a:lnTo>
                  <a:pt x="228600" y="170664"/>
                </a:lnTo>
                <a:cubicBezTo>
                  <a:pt x="102348" y="170664"/>
                  <a:pt x="0" y="273012"/>
                  <a:pt x="0" y="399264"/>
                </a:cubicBezTo>
                <a:lnTo>
                  <a:pt x="0" y="1793455"/>
                </a:lnTo>
                <a:cubicBezTo>
                  <a:pt x="0" y="1854083"/>
                  <a:pt x="24085" y="1912229"/>
                  <a:pt x="66956" y="1955100"/>
                </a:cubicBezTo>
                <a:cubicBezTo>
                  <a:pt x="109826" y="1997970"/>
                  <a:pt x="167971" y="2022055"/>
                  <a:pt x="228600" y="2022055"/>
                </a:cubicBezTo>
                <a:lnTo>
                  <a:pt x="2244035" y="2022055"/>
                </a:lnTo>
                <a:cubicBezTo>
                  <a:pt x="2279137" y="2022055"/>
                  <a:pt x="2307594" y="2050511"/>
                  <a:pt x="2307594" y="2085614"/>
                </a:cubicBezTo>
                <a:lnTo>
                  <a:pt x="2307594" y="2149173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8455024" y="4381899"/>
            <a:ext cx="161305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/ego_state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"/>
            <a:ext cx="16642080" cy="1005840"/>
            <a:chOff x="0" y="0"/>
            <a:chExt cx="2218944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2189440" cy="1331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Infini</a:t>
              </a: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te-Horizon Routing &amp; “Traffic Cop”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077049"/>
            <a:ext cx="5249320" cy="5304770"/>
            <a:chOff x="0" y="0"/>
            <a:chExt cx="783115" cy="7913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3115" cy="791388"/>
            </a:xfrm>
            <a:custGeom>
              <a:avLst/>
              <a:gdLst/>
              <a:ahLst/>
              <a:cxnLst/>
              <a:rect r="r" b="b" t="t" l="l"/>
              <a:pathLst>
                <a:path h="791388" w="783115">
                  <a:moveTo>
                    <a:pt x="783115" y="50145"/>
                  </a:moveTo>
                  <a:lnTo>
                    <a:pt x="783115" y="741243"/>
                  </a:lnTo>
                  <a:cubicBezTo>
                    <a:pt x="783115" y="768937"/>
                    <a:pt x="760665" y="791388"/>
                    <a:pt x="732971" y="791388"/>
                  </a:cubicBezTo>
                  <a:lnTo>
                    <a:pt x="50145" y="791388"/>
                  </a:lnTo>
                  <a:cubicBezTo>
                    <a:pt x="22451" y="791388"/>
                    <a:pt x="0" y="768937"/>
                    <a:pt x="0" y="741243"/>
                  </a:cubicBezTo>
                  <a:lnTo>
                    <a:pt x="0" y="50145"/>
                  </a:lnTo>
                  <a:cubicBezTo>
                    <a:pt x="0" y="22451"/>
                    <a:pt x="22451" y="0"/>
                    <a:pt x="50145" y="0"/>
                  </a:cubicBezTo>
                  <a:lnTo>
                    <a:pt x="732971" y="0"/>
                  </a:lnTo>
                  <a:cubicBezTo>
                    <a:pt x="760665" y="0"/>
                    <a:pt x="783115" y="22451"/>
                    <a:pt x="783115" y="50145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83115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0648" y="2338805"/>
            <a:ext cx="4593944" cy="1184083"/>
            <a:chOff x="0" y="0"/>
            <a:chExt cx="6125259" cy="15787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25259" cy="1578777"/>
            </a:xfrm>
            <a:custGeom>
              <a:avLst/>
              <a:gdLst/>
              <a:ahLst/>
              <a:cxnLst/>
              <a:rect r="r" b="b" t="t" l="l"/>
              <a:pathLst>
                <a:path h="1578777" w="6125259">
                  <a:moveTo>
                    <a:pt x="0" y="0"/>
                  </a:moveTo>
                  <a:lnTo>
                    <a:pt x="6125259" y="0"/>
                  </a:lnTo>
                  <a:lnTo>
                    <a:pt x="6125259" y="1578777"/>
                  </a:lnTo>
                  <a:lnTo>
                    <a:pt x="0" y="1578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50" r="28841" b="56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6125259" cy="1578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19"/>
                </a:lnSpc>
                <a:spcBef>
                  <a:spcPct val="0"/>
                </a:spcBef>
              </a:pPr>
              <a:r>
                <a:rPr lang="en-US" b="true" sz="3349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Infinite-Horizon Routing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0648" y="4272859"/>
            <a:ext cx="4593944" cy="3017520"/>
            <a:chOff x="0" y="0"/>
            <a:chExt cx="4771766" cy="3134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71766" cy="3134322"/>
            </a:xfrm>
            <a:custGeom>
              <a:avLst/>
              <a:gdLst/>
              <a:ahLst/>
              <a:cxnLst/>
              <a:rect r="r" b="b" t="t" l="l"/>
              <a:pathLst>
                <a:path h="3134322" w="4771766">
                  <a:moveTo>
                    <a:pt x="0" y="0"/>
                  </a:moveTo>
                  <a:lnTo>
                    <a:pt x="4771766" y="0"/>
                  </a:lnTo>
                  <a:lnTo>
                    <a:pt x="4771766" y="3134322"/>
                  </a:lnTo>
                  <a:lnTo>
                    <a:pt x="0" y="31343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343" t="0" r="-59130" b="-361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4771766" cy="3210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TraCI dynamically recalculates target exits — eliminates artificial episode truncations.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32095" y="1874694"/>
            <a:ext cx="5249320" cy="5304770"/>
            <a:chOff x="0" y="0"/>
            <a:chExt cx="783115" cy="7913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3115" cy="791388"/>
            </a:xfrm>
            <a:custGeom>
              <a:avLst/>
              <a:gdLst/>
              <a:ahLst/>
              <a:cxnLst/>
              <a:rect r="r" b="b" t="t" l="l"/>
              <a:pathLst>
                <a:path h="791388" w="783115">
                  <a:moveTo>
                    <a:pt x="783115" y="50145"/>
                  </a:moveTo>
                  <a:lnTo>
                    <a:pt x="783115" y="741243"/>
                  </a:lnTo>
                  <a:cubicBezTo>
                    <a:pt x="783115" y="768937"/>
                    <a:pt x="760665" y="791388"/>
                    <a:pt x="732971" y="791388"/>
                  </a:cubicBezTo>
                  <a:lnTo>
                    <a:pt x="50145" y="791388"/>
                  </a:lnTo>
                  <a:cubicBezTo>
                    <a:pt x="22451" y="791388"/>
                    <a:pt x="0" y="768937"/>
                    <a:pt x="0" y="741243"/>
                  </a:cubicBezTo>
                  <a:lnTo>
                    <a:pt x="0" y="50145"/>
                  </a:lnTo>
                  <a:cubicBezTo>
                    <a:pt x="0" y="22451"/>
                    <a:pt x="22451" y="0"/>
                    <a:pt x="50145" y="0"/>
                  </a:cubicBezTo>
                  <a:lnTo>
                    <a:pt x="732971" y="0"/>
                  </a:lnTo>
                  <a:cubicBezTo>
                    <a:pt x="760665" y="0"/>
                    <a:pt x="783115" y="22451"/>
                    <a:pt x="783115" y="50145"/>
                  </a:cubicBezTo>
                  <a:close/>
                </a:path>
              </a:pathLst>
            </a:custGeom>
            <a:solidFill>
              <a:srgbClr val="B8114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83115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84975" y="3815594"/>
            <a:ext cx="5341290" cy="5697304"/>
            <a:chOff x="0" y="0"/>
            <a:chExt cx="796836" cy="8499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6836" cy="849947"/>
            </a:xfrm>
            <a:custGeom>
              <a:avLst/>
              <a:gdLst/>
              <a:ahLst/>
              <a:cxnLst/>
              <a:rect r="r" b="b" t="t" l="l"/>
              <a:pathLst>
                <a:path h="849947" w="796836">
                  <a:moveTo>
                    <a:pt x="796836" y="49281"/>
                  </a:moveTo>
                  <a:lnTo>
                    <a:pt x="796836" y="800666"/>
                  </a:lnTo>
                  <a:cubicBezTo>
                    <a:pt x="796836" y="827883"/>
                    <a:pt x="774772" y="849947"/>
                    <a:pt x="747555" y="849947"/>
                  </a:cubicBezTo>
                  <a:lnTo>
                    <a:pt x="49281" y="849947"/>
                  </a:lnTo>
                  <a:cubicBezTo>
                    <a:pt x="36211" y="849947"/>
                    <a:pt x="23676" y="844755"/>
                    <a:pt x="14434" y="835513"/>
                  </a:cubicBezTo>
                  <a:cubicBezTo>
                    <a:pt x="5192" y="826271"/>
                    <a:pt x="0" y="813736"/>
                    <a:pt x="0" y="800666"/>
                  </a:cubicBezTo>
                  <a:lnTo>
                    <a:pt x="0" y="49281"/>
                  </a:lnTo>
                  <a:cubicBezTo>
                    <a:pt x="0" y="36211"/>
                    <a:pt x="5192" y="23676"/>
                    <a:pt x="14434" y="14434"/>
                  </a:cubicBezTo>
                  <a:cubicBezTo>
                    <a:pt x="23676" y="5192"/>
                    <a:pt x="36211" y="0"/>
                    <a:pt x="49281" y="0"/>
                  </a:cubicBezTo>
                  <a:lnTo>
                    <a:pt x="747555" y="0"/>
                  </a:lnTo>
                  <a:cubicBezTo>
                    <a:pt x="760625" y="0"/>
                    <a:pt x="773160" y="5192"/>
                    <a:pt x="782402" y="14434"/>
                  </a:cubicBezTo>
                  <a:cubicBezTo>
                    <a:pt x="791644" y="23676"/>
                    <a:pt x="796836" y="36211"/>
                    <a:pt x="796836" y="49281"/>
                  </a:cubicBezTo>
                  <a:close/>
                </a:path>
              </a:pathLst>
            </a:custGeom>
            <a:solidFill>
              <a:srgbClr val="5A0A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96836" cy="878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49790" y="3952420"/>
            <a:ext cx="4767511" cy="1184083"/>
            <a:chOff x="0" y="0"/>
            <a:chExt cx="6356681" cy="15787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6681" cy="1578777"/>
            </a:xfrm>
            <a:custGeom>
              <a:avLst/>
              <a:gdLst/>
              <a:ahLst/>
              <a:cxnLst/>
              <a:rect r="r" b="b" t="t" l="l"/>
              <a:pathLst>
                <a:path h="1578777" w="6356681">
                  <a:moveTo>
                    <a:pt x="0" y="0"/>
                  </a:moveTo>
                  <a:lnTo>
                    <a:pt x="6356681" y="0"/>
                  </a:lnTo>
                  <a:lnTo>
                    <a:pt x="6356681" y="1578777"/>
                  </a:lnTo>
                  <a:lnTo>
                    <a:pt x="0" y="1578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50" r="31432" b="566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356681" cy="1578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19"/>
                </a:lnSpc>
                <a:spcBef>
                  <a:spcPct val="0"/>
                </a:spcBef>
              </a:pPr>
              <a:r>
                <a:rPr lang="en-US" b="true" sz="3349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Dynamic Traffic Injection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75176" y="6096655"/>
            <a:ext cx="4916739" cy="3200400"/>
            <a:chOff x="0" y="0"/>
            <a:chExt cx="6555652" cy="426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55652" cy="4267200"/>
            </a:xfrm>
            <a:custGeom>
              <a:avLst/>
              <a:gdLst/>
              <a:ahLst/>
              <a:cxnLst/>
              <a:rect r="r" b="b" t="t" l="l"/>
              <a:pathLst>
                <a:path h="4267200" w="6555652">
                  <a:moveTo>
                    <a:pt x="0" y="0"/>
                  </a:moveTo>
                  <a:lnTo>
                    <a:pt x="6555652" y="0"/>
                  </a:lnTo>
                  <a:lnTo>
                    <a:pt x="6555652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201" t="0" r="-1582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6555652" cy="434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Sinusoidal probability models simulate heavy rush-hour traffic with heterogeneous profiles (aggressive cars, heavy trucks, erratic drivers).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34087" y="2053218"/>
            <a:ext cx="4451075" cy="1184083"/>
            <a:chOff x="0" y="0"/>
            <a:chExt cx="5934767" cy="157877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34767" cy="1578777"/>
            </a:xfrm>
            <a:custGeom>
              <a:avLst/>
              <a:gdLst/>
              <a:ahLst/>
              <a:cxnLst/>
              <a:rect r="r" b="b" t="t" l="l"/>
              <a:pathLst>
                <a:path h="1578777" w="5934767">
                  <a:moveTo>
                    <a:pt x="0" y="0"/>
                  </a:moveTo>
                  <a:lnTo>
                    <a:pt x="5934767" y="0"/>
                  </a:lnTo>
                  <a:lnTo>
                    <a:pt x="5934767" y="1578777"/>
                  </a:lnTo>
                  <a:lnTo>
                    <a:pt x="0" y="1578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50" r="26557" b="566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934767" cy="1578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19"/>
                </a:lnSpc>
                <a:spcBef>
                  <a:spcPct val="0"/>
                </a:spcBef>
              </a:pPr>
              <a:r>
                <a:rPr lang="en-US" b="true" sz="3349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Deadlock Resolution (“Traffic Cop”)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88367" y="4089979"/>
            <a:ext cx="4336775" cy="3200400"/>
            <a:chOff x="0" y="0"/>
            <a:chExt cx="5782367" cy="426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82367" cy="4267200"/>
            </a:xfrm>
            <a:custGeom>
              <a:avLst/>
              <a:gdLst/>
              <a:ahLst/>
              <a:cxnLst/>
              <a:rect r="r" b="b" t="t" l="l"/>
              <a:pathLst>
                <a:path h="4267200" w="5782367">
                  <a:moveTo>
                    <a:pt x="0" y="0"/>
                  </a:moveTo>
                  <a:lnTo>
                    <a:pt x="5782367" y="0"/>
                  </a:lnTo>
                  <a:lnTo>
                    <a:pt x="5782367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049" t="0" r="-3131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5782367" cy="434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TraCI script auto-deletes background vehicles lagging &gt;12 s and forces a 15 s max signal-phase cap to prevent gridlock.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4730" y="9258300"/>
            <a:ext cx="3657600" cy="1116518"/>
            <a:chOff x="0" y="0"/>
            <a:chExt cx="4876800" cy="14886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1488691"/>
            </a:xfrm>
            <a:custGeom>
              <a:avLst/>
              <a:gdLst/>
              <a:ahLst/>
              <a:cxnLst/>
              <a:rect r="r" b="b" t="t" l="l"/>
              <a:pathLst>
                <a:path h="148869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88691"/>
                  </a:lnTo>
                  <a:lnTo>
                    <a:pt x="0" y="14886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51" r="0" b="197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876800" cy="1488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14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144954" y="9297055"/>
            <a:ext cx="1915278" cy="431686"/>
            <a:chOff x="0" y="0"/>
            <a:chExt cx="7805966" cy="17593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594360"/>
            <a:ext cx="9144000" cy="457200"/>
            <a:chOff x="0" y="0"/>
            <a:chExt cx="121920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</a:t>
              </a: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</a:t>
              </a: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ENT UPDATES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675744" y="3572848"/>
            <a:ext cx="1156586" cy="1156586"/>
            <a:chOff x="0" y="0"/>
            <a:chExt cx="1950720" cy="1950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723312" y="5136502"/>
            <a:ext cx="1156586" cy="1156586"/>
            <a:chOff x="0" y="0"/>
            <a:chExt cx="195072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638482" y="3237301"/>
            <a:ext cx="1156586" cy="1156586"/>
            <a:chOff x="0" y="0"/>
            <a:chExt cx="1950720" cy="1950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47" id="47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49" id="49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522517" y="3273127"/>
            <a:ext cx="1463040" cy="1463040"/>
            <a:chOff x="0" y="0"/>
            <a:chExt cx="1950720" cy="1950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9507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59"/>
                </a:lnSpc>
              </a:pPr>
              <a:r>
                <a:rPr lang="en-US" sz="5299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570085" y="4830048"/>
            <a:ext cx="1463040" cy="1463040"/>
            <a:chOff x="0" y="0"/>
            <a:chExt cx="1950720" cy="1950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9507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59"/>
                </a:lnSpc>
              </a:pPr>
              <a:r>
                <a:rPr lang="en-US" sz="5299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485255" y="2930847"/>
            <a:ext cx="1463040" cy="1463040"/>
            <a:chOff x="0" y="0"/>
            <a:chExt cx="1950720" cy="1950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9507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59"/>
                </a:lnSpc>
              </a:pPr>
              <a:r>
                <a:rPr lang="en-US" sz="5299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2371" y="2140335"/>
            <a:ext cx="5249320" cy="5304770"/>
            <a:chOff x="0" y="0"/>
            <a:chExt cx="783115" cy="7913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3115" cy="791388"/>
            </a:xfrm>
            <a:custGeom>
              <a:avLst/>
              <a:gdLst/>
              <a:ahLst/>
              <a:cxnLst/>
              <a:rect r="r" b="b" t="t" l="l"/>
              <a:pathLst>
                <a:path h="791388" w="783115">
                  <a:moveTo>
                    <a:pt x="783115" y="50145"/>
                  </a:moveTo>
                  <a:lnTo>
                    <a:pt x="783115" y="741243"/>
                  </a:lnTo>
                  <a:cubicBezTo>
                    <a:pt x="783115" y="768937"/>
                    <a:pt x="760665" y="791388"/>
                    <a:pt x="732971" y="791388"/>
                  </a:cubicBezTo>
                  <a:lnTo>
                    <a:pt x="50145" y="791388"/>
                  </a:lnTo>
                  <a:cubicBezTo>
                    <a:pt x="22451" y="791388"/>
                    <a:pt x="0" y="768937"/>
                    <a:pt x="0" y="741243"/>
                  </a:cubicBezTo>
                  <a:lnTo>
                    <a:pt x="0" y="50145"/>
                  </a:lnTo>
                  <a:cubicBezTo>
                    <a:pt x="0" y="22451"/>
                    <a:pt x="22451" y="0"/>
                    <a:pt x="50145" y="0"/>
                  </a:cubicBezTo>
                  <a:lnTo>
                    <a:pt x="732971" y="0"/>
                  </a:lnTo>
                  <a:cubicBezTo>
                    <a:pt x="760665" y="0"/>
                    <a:pt x="783115" y="22451"/>
                    <a:pt x="783115" y="50145"/>
                  </a:cubicBezTo>
                  <a:close/>
                </a:path>
              </a:pathLst>
            </a:custGeom>
            <a:solidFill>
              <a:srgbClr val="B8114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83115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60120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2189440" cy="1331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</a:t>
              </a:r>
              <a:r>
                <a:rPr lang="en-US" sz="3999" b="tru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im-to-Real Robustness: Gaussian Noise Injection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50056" y="3622762"/>
            <a:ext cx="5341290" cy="5697304"/>
            <a:chOff x="0" y="0"/>
            <a:chExt cx="796836" cy="8499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6836" cy="849947"/>
            </a:xfrm>
            <a:custGeom>
              <a:avLst/>
              <a:gdLst/>
              <a:ahLst/>
              <a:cxnLst/>
              <a:rect r="r" b="b" t="t" l="l"/>
              <a:pathLst>
                <a:path h="849947" w="796836">
                  <a:moveTo>
                    <a:pt x="796836" y="49281"/>
                  </a:moveTo>
                  <a:lnTo>
                    <a:pt x="796836" y="800666"/>
                  </a:lnTo>
                  <a:cubicBezTo>
                    <a:pt x="796836" y="827883"/>
                    <a:pt x="774772" y="849947"/>
                    <a:pt x="747555" y="849947"/>
                  </a:cubicBezTo>
                  <a:lnTo>
                    <a:pt x="49281" y="849947"/>
                  </a:lnTo>
                  <a:cubicBezTo>
                    <a:pt x="36211" y="849947"/>
                    <a:pt x="23676" y="844755"/>
                    <a:pt x="14434" y="835513"/>
                  </a:cubicBezTo>
                  <a:cubicBezTo>
                    <a:pt x="5192" y="826271"/>
                    <a:pt x="0" y="813736"/>
                    <a:pt x="0" y="800666"/>
                  </a:cubicBezTo>
                  <a:lnTo>
                    <a:pt x="0" y="49281"/>
                  </a:lnTo>
                  <a:cubicBezTo>
                    <a:pt x="0" y="36211"/>
                    <a:pt x="5192" y="23676"/>
                    <a:pt x="14434" y="14434"/>
                  </a:cubicBezTo>
                  <a:cubicBezTo>
                    <a:pt x="23676" y="5192"/>
                    <a:pt x="36211" y="0"/>
                    <a:pt x="49281" y="0"/>
                  </a:cubicBezTo>
                  <a:lnTo>
                    <a:pt x="747555" y="0"/>
                  </a:lnTo>
                  <a:cubicBezTo>
                    <a:pt x="760625" y="0"/>
                    <a:pt x="773160" y="5192"/>
                    <a:pt x="782402" y="14434"/>
                  </a:cubicBezTo>
                  <a:cubicBezTo>
                    <a:pt x="791644" y="23676"/>
                    <a:pt x="796836" y="36211"/>
                    <a:pt x="796836" y="49281"/>
                  </a:cubicBezTo>
                  <a:close/>
                </a:path>
              </a:pathLst>
            </a:custGeom>
            <a:solidFill>
              <a:srgbClr val="5A0A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96836" cy="878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077049"/>
            <a:ext cx="5249320" cy="5304770"/>
            <a:chOff x="0" y="0"/>
            <a:chExt cx="783115" cy="7913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3115" cy="791388"/>
            </a:xfrm>
            <a:custGeom>
              <a:avLst/>
              <a:gdLst/>
              <a:ahLst/>
              <a:cxnLst/>
              <a:rect r="r" b="b" t="t" l="l"/>
              <a:pathLst>
                <a:path h="791388" w="783115">
                  <a:moveTo>
                    <a:pt x="783115" y="50145"/>
                  </a:moveTo>
                  <a:lnTo>
                    <a:pt x="783115" y="741243"/>
                  </a:lnTo>
                  <a:cubicBezTo>
                    <a:pt x="783115" y="768937"/>
                    <a:pt x="760665" y="791388"/>
                    <a:pt x="732971" y="791388"/>
                  </a:cubicBezTo>
                  <a:lnTo>
                    <a:pt x="50145" y="791388"/>
                  </a:lnTo>
                  <a:cubicBezTo>
                    <a:pt x="22451" y="791388"/>
                    <a:pt x="0" y="768937"/>
                    <a:pt x="0" y="741243"/>
                  </a:cubicBezTo>
                  <a:lnTo>
                    <a:pt x="0" y="50145"/>
                  </a:lnTo>
                  <a:cubicBezTo>
                    <a:pt x="0" y="22451"/>
                    <a:pt x="22451" y="0"/>
                    <a:pt x="50145" y="0"/>
                  </a:cubicBezTo>
                  <a:lnTo>
                    <a:pt x="732971" y="0"/>
                  </a:lnTo>
                  <a:cubicBezTo>
                    <a:pt x="760665" y="0"/>
                    <a:pt x="783115" y="22451"/>
                    <a:pt x="783115" y="50145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83115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2310934"/>
            <a:ext cx="4593944" cy="960120"/>
            <a:chOff x="0" y="0"/>
            <a:chExt cx="6125259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25259" cy="1280160"/>
            </a:xfrm>
            <a:custGeom>
              <a:avLst/>
              <a:gdLst/>
              <a:ahLst/>
              <a:cxnLst/>
              <a:rect r="r" b="b" t="t" l="l"/>
              <a:pathLst>
                <a:path h="1280160" w="6125259">
                  <a:moveTo>
                    <a:pt x="0" y="0"/>
                  </a:moveTo>
                  <a:lnTo>
                    <a:pt x="6125259" y="0"/>
                  </a:lnTo>
                  <a:lnTo>
                    <a:pt x="612525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1" r="28841" b="-163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125259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19"/>
                </a:lnSpc>
                <a:spcBef>
                  <a:spcPct val="0"/>
                </a:spcBef>
              </a:pPr>
              <a:r>
                <a:rPr lang="en-US" b="true" sz="3349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Noise Injection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0561" y="4139267"/>
            <a:ext cx="4593944" cy="3017520"/>
            <a:chOff x="0" y="0"/>
            <a:chExt cx="4771766" cy="31343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71766" cy="3134322"/>
            </a:xfrm>
            <a:custGeom>
              <a:avLst/>
              <a:gdLst/>
              <a:ahLst/>
              <a:cxnLst/>
              <a:rect r="r" b="b" t="t" l="l"/>
              <a:pathLst>
                <a:path h="3134322" w="4771766">
                  <a:moveTo>
                    <a:pt x="0" y="0"/>
                  </a:moveTo>
                  <a:lnTo>
                    <a:pt x="4771766" y="0"/>
                  </a:lnTo>
                  <a:lnTo>
                    <a:pt x="4771766" y="3134322"/>
                  </a:lnTo>
                  <a:lnTo>
                    <a:pt x="0" y="31343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343" t="0" r="-59130" b="-361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771766" cy="3210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Gaussian noise (mean = 0, std = 0.02) injected into kinematic sensor arrays.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92991" y="4014643"/>
            <a:ext cx="4583570" cy="960120"/>
            <a:chOff x="0" y="0"/>
            <a:chExt cx="6111427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11427" cy="1280160"/>
            </a:xfrm>
            <a:custGeom>
              <a:avLst/>
              <a:gdLst/>
              <a:ahLst/>
              <a:cxnLst/>
              <a:rect r="r" b="b" t="t" l="l"/>
              <a:pathLst>
                <a:path h="1280160" w="6111427">
                  <a:moveTo>
                    <a:pt x="0" y="0"/>
                  </a:moveTo>
                  <a:lnTo>
                    <a:pt x="6111427" y="0"/>
                  </a:lnTo>
                  <a:lnTo>
                    <a:pt x="6111427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1" r="28680" b="-163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111427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19"/>
                </a:lnSpc>
                <a:spcBef>
                  <a:spcPct val="0"/>
                </a:spcBef>
              </a:pPr>
              <a:r>
                <a:rPr lang="en-US" b="true" sz="3349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Sensor Emulation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62332" y="5653830"/>
            <a:ext cx="4916739" cy="3200400"/>
            <a:chOff x="0" y="0"/>
            <a:chExt cx="6555652" cy="426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55652" cy="4267200"/>
            </a:xfrm>
            <a:custGeom>
              <a:avLst/>
              <a:gdLst/>
              <a:ahLst/>
              <a:cxnLst/>
              <a:rect r="r" b="b" t="t" l="l"/>
              <a:pathLst>
                <a:path h="4267200" w="6555652">
                  <a:moveTo>
                    <a:pt x="0" y="0"/>
                  </a:moveTo>
                  <a:lnTo>
                    <a:pt x="6555652" y="0"/>
                  </a:lnTo>
                  <a:lnTo>
                    <a:pt x="6555652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201" t="0" r="-1582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6555652" cy="434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Emulates real-world LiDAR / camera inaccuracies during training.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50801" y="2532217"/>
            <a:ext cx="4451075" cy="960120"/>
            <a:chOff x="0" y="0"/>
            <a:chExt cx="5934767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34767" cy="1280160"/>
            </a:xfrm>
            <a:custGeom>
              <a:avLst/>
              <a:gdLst/>
              <a:ahLst/>
              <a:cxnLst/>
              <a:rect r="r" b="b" t="t" l="l"/>
              <a:pathLst>
                <a:path h="1280160" w="5934767">
                  <a:moveTo>
                    <a:pt x="0" y="0"/>
                  </a:moveTo>
                  <a:lnTo>
                    <a:pt x="5934767" y="0"/>
                  </a:lnTo>
                  <a:lnTo>
                    <a:pt x="5934767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1" r="26557" b="-1634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934767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19"/>
                </a:lnSpc>
                <a:spcBef>
                  <a:spcPct val="0"/>
                </a:spcBef>
              </a:pPr>
              <a:r>
                <a:rPr lang="en-US" b="true" sz="3349" strike="noStrike" u="none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Robustness Testing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28644" y="4171403"/>
            <a:ext cx="4336775" cy="3200400"/>
            <a:chOff x="0" y="0"/>
            <a:chExt cx="5782367" cy="426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82367" cy="4267200"/>
            </a:xfrm>
            <a:custGeom>
              <a:avLst/>
              <a:gdLst/>
              <a:ahLst/>
              <a:cxnLst/>
              <a:rect r="r" b="b" t="t" l="l"/>
              <a:pathLst>
                <a:path h="4267200" w="5782367">
                  <a:moveTo>
                    <a:pt x="0" y="0"/>
                  </a:moveTo>
                  <a:lnTo>
                    <a:pt x="5782367" y="0"/>
                  </a:lnTo>
                  <a:lnTo>
                    <a:pt x="5782367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049" t="0" r="-3131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5782367" cy="434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699" strike="noStrike" u="none">
                  <a:solidFill>
                    <a:srgbClr val="F3DDE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Validates policy stability under imperfect, noisy sensor readings.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46365" y="9297055"/>
            <a:ext cx="3657600" cy="1116518"/>
            <a:chOff x="0" y="0"/>
            <a:chExt cx="4876800" cy="14886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1488691"/>
            </a:xfrm>
            <a:custGeom>
              <a:avLst/>
              <a:gdLst/>
              <a:ahLst/>
              <a:cxnLst/>
              <a:rect r="r" b="b" t="t" l="l"/>
              <a:pathLst>
                <a:path h="148869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88691"/>
                  </a:lnTo>
                  <a:lnTo>
                    <a:pt x="0" y="14886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51" r="0" b="197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876800" cy="1488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15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144954" y="9297055"/>
            <a:ext cx="1915278" cy="431686"/>
            <a:chOff x="0" y="0"/>
            <a:chExt cx="7805966" cy="17593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594360"/>
            <a:ext cx="9144000" cy="457200"/>
            <a:chOff x="0" y="0"/>
            <a:chExt cx="121920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ROB</a:t>
              </a:r>
              <a:r>
                <a:rPr lang="en-US" b="true" sz="2199" spc="292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USTNESS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747379" y="3442422"/>
            <a:ext cx="1156586" cy="1156586"/>
            <a:chOff x="0" y="0"/>
            <a:chExt cx="1950720" cy="1950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615043" y="4912976"/>
            <a:ext cx="1156586" cy="1156586"/>
            <a:chOff x="0" y="0"/>
            <a:chExt cx="195072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618739" y="3492337"/>
            <a:ext cx="1156586" cy="1156586"/>
            <a:chOff x="0" y="0"/>
            <a:chExt cx="1950720" cy="1950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1D9E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47" id="47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49" id="49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594152" y="3135968"/>
            <a:ext cx="1463040" cy="1463040"/>
            <a:chOff x="0" y="0"/>
            <a:chExt cx="1950720" cy="1950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9507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59"/>
                </a:lnSpc>
              </a:pPr>
              <a:r>
                <a:rPr lang="en-US" sz="5299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461816" y="4668309"/>
            <a:ext cx="1463040" cy="1463040"/>
            <a:chOff x="0" y="0"/>
            <a:chExt cx="1950720" cy="1950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9507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59"/>
                </a:lnSpc>
              </a:pPr>
              <a:r>
                <a:rPr lang="en-US" sz="5299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465511" y="3185883"/>
            <a:ext cx="1463040" cy="1463040"/>
            <a:chOff x="0" y="0"/>
            <a:chExt cx="1950720" cy="1950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9507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59"/>
                </a:lnSpc>
              </a:pPr>
              <a:r>
                <a:rPr lang="en-US" sz="5299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002" y="9239085"/>
            <a:ext cx="3657600" cy="1294953"/>
            <a:chOff x="0" y="0"/>
            <a:chExt cx="4876800" cy="17266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800" cy="1726603"/>
            </a:xfrm>
            <a:custGeom>
              <a:avLst/>
              <a:gdLst/>
              <a:ahLst/>
              <a:cxnLst/>
              <a:rect r="r" b="b" t="t" l="l"/>
              <a:pathLst>
                <a:path h="17266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26603"/>
                  </a:lnTo>
                  <a:lnTo>
                    <a:pt x="0" y="1726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13" r="0" b="308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76800" cy="17170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16</a:t>
              </a:r>
            </a:p>
            <a:p>
              <a:pPr algn="l">
                <a:lnSpc>
                  <a:spcPts val="43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37025" y="9394493"/>
            <a:ext cx="1915278" cy="431686"/>
            <a:chOff x="0" y="0"/>
            <a:chExt cx="7805966" cy="17593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8" id="8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10" id="10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27075" y="429943"/>
            <a:ext cx="9144000" cy="457200"/>
            <a:chOff x="0" y="0"/>
            <a:chExt cx="121920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 spc="293" strike="noStrike" u="non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ROBUSTNESS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78948" y="1798367"/>
            <a:ext cx="7420215" cy="5313278"/>
          </a:xfrm>
          <a:custGeom>
            <a:avLst/>
            <a:gdLst/>
            <a:ahLst/>
            <a:cxnLst/>
            <a:rect r="r" b="b" t="t" l="l"/>
            <a:pathLst>
              <a:path h="5313278" w="7420215">
                <a:moveTo>
                  <a:pt x="0" y="0"/>
                </a:moveTo>
                <a:lnTo>
                  <a:pt x="7420215" y="0"/>
                </a:lnTo>
                <a:lnTo>
                  <a:pt x="7420215" y="5313278"/>
                </a:lnTo>
                <a:lnTo>
                  <a:pt x="0" y="5313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38" r="-915" b="-269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020088" y="1469445"/>
            <a:ext cx="8569969" cy="5715098"/>
          </a:xfrm>
          <a:custGeom>
            <a:avLst/>
            <a:gdLst/>
            <a:ahLst/>
            <a:cxnLst/>
            <a:rect r="r" b="b" t="t" l="l"/>
            <a:pathLst>
              <a:path h="5715098" w="8569969">
                <a:moveTo>
                  <a:pt x="0" y="0"/>
                </a:moveTo>
                <a:lnTo>
                  <a:pt x="8569969" y="0"/>
                </a:lnTo>
                <a:lnTo>
                  <a:pt x="8569969" y="5715098"/>
                </a:lnTo>
                <a:lnTo>
                  <a:pt x="0" y="5715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7075" y="931592"/>
            <a:ext cx="1738602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b="true" sz="4000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Phase 1 Results: PPO Learning Trajectory &amp; Policy Collapse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7075" y="7279793"/>
            <a:ext cx="17960925" cy="176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35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2B2B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Initial learning was highly successful, peaking at an optimal 86.7% navigation success rate at 250,000 steps.</a:t>
            </a:r>
          </a:p>
          <a:p>
            <a:pPr algn="l" marL="539745" indent="-269872" lvl="1">
              <a:lnSpc>
                <a:spcPts val="35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2B2B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Prolonged exposure to Gaussian sensor noise triggered catastrophic forgetting.</a:t>
            </a:r>
          </a:p>
          <a:p>
            <a:pPr algn="l" marL="539745" indent="-269872" lvl="1">
              <a:lnSpc>
                <a:spcPts val="35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2B2B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By 500,000 steps, success plummeted to ~53%, despite cumulative reward artificially plateauing due to local-optima exploitation (halting to avoid collisions).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002" y="9239085"/>
            <a:ext cx="3657600" cy="742503"/>
            <a:chOff x="0" y="0"/>
            <a:chExt cx="4876800" cy="990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37025" y="9394493"/>
            <a:ext cx="1915278" cy="431686"/>
            <a:chOff x="0" y="0"/>
            <a:chExt cx="7805966" cy="17593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8" id="8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10" id="10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3700" y="527051"/>
            <a:ext cx="9144000" cy="457200"/>
            <a:chOff x="0" y="0"/>
            <a:chExt cx="121920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 spc="293" strike="noStrike" u="non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EVALUATION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07837" y="1898427"/>
            <a:ext cx="7225594" cy="5223882"/>
          </a:xfrm>
          <a:custGeom>
            <a:avLst/>
            <a:gdLst/>
            <a:ahLst/>
            <a:cxnLst/>
            <a:rect r="r" b="b" t="t" l="l"/>
            <a:pathLst>
              <a:path h="5223882" w="7225594">
                <a:moveTo>
                  <a:pt x="0" y="0"/>
                </a:moveTo>
                <a:lnTo>
                  <a:pt x="7225594" y="0"/>
                </a:lnTo>
                <a:lnTo>
                  <a:pt x="7225594" y="5223882"/>
                </a:lnTo>
                <a:lnTo>
                  <a:pt x="0" y="5223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495" t="-4291" r="-556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1825513"/>
            <a:ext cx="7088594" cy="5369709"/>
          </a:xfrm>
          <a:custGeom>
            <a:avLst/>
            <a:gdLst/>
            <a:ahLst/>
            <a:cxnLst/>
            <a:rect r="r" b="b" t="t" l="l"/>
            <a:pathLst>
              <a:path h="5369709" w="7088594">
                <a:moveTo>
                  <a:pt x="0" y="0"/>
                </a:moveTo>
                <a:lnTo>
                  <a:pt x="7088594" y="0"/>
                </a:lnTo>
                <a:lnTo>
                  <a:pt x="7088594" y="5369709"/>
                </a:lnTo>
                <a:lnTo>
                  <a:pt x="0" y="53697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311" t="-3612" r="-1238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3700" y="1028700"/>
            <a:ext cx="1226903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b="true" sz="4000" strike="noStrike" u="none">
                <a:solidFill>
                  <a:srgbClr val="2B2B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Phase 1 Findings: Behavioral Anomalies Under Noise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350" y="7223797"/>
            <a:ext cx="17259300" cy="176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2B2B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Velocity Paralysis: Trajectory profile exhibits a severe anomaly, with velocity instantaneously dropping from 8 m/s to 0 m/s, leaving the agent paralyzed on the track for over 60 timesteps.</a:t>
            </a:r>
          </a:p>
          <a:p>
            <a:pPr algn="l" marL="539745" indent="-269872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2B2B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Spatial Hallucination: The Hippocampal heatmap displays erratic "salt-and-pepper" noise instead of cohesive spatial confidence. The agent's spatial awareness shattered, directly causing the emergency braking anomaly.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002" y="9239085"/>
            <a:ext cx="3657600" cy="742503"/>
            <a:chOff x="0" y="0"/>
            <a:chExt cx="4876800" cy="990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18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37025" y="9394493"/>
            <a:ext cx="1915278" cy="431686"/>
            <a:chOff x="0" y="0"/>
            <a:chExt cx="7805966" cy="17593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808894"/>
            <a:ext cx="18470880" cy="1097280"/>
            <a:chOff x="0" y="0"/>
            <a:chExt cx="24627840" cy="1463040"/>
          </a:xfrm>
        </p:grpSpPr>
        <p:sp>
          <p:nvSpPr>
            <p:cNvPr name="Freeform 8" id="8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10" id="10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22685" y="1783716"/>
            <a:ext cx="4622134" cy="3777023"/>
            <a:chOff x="0" y="0"/>
            <a:chExt cx="968461" cy="7913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8461" cy="791388"/>
            </a:xfrm>
            <a:custGeom>
              <a:avLst/>
              <a:gdLst/>
              <a:ahLst/>
              <a:cxnLst/>
              <a:rect r="r" b="b" t="t" l="l"/>
              <a:pathLst>
                <a:path h="791388" w="968461">
                  <a:moveTo>
                    <a:pt x="968461" y="56949"/>
                  </a:moveTo>
                  <a:lnTo>
                    <a:pt x="968461" y="734439"/>
                  </a:lnTo>
                  <a:cubicBezTo>
                    <a:pt x="968461" y="765891"/>
                    <a:pt x="942964" y="791388"/>
                    <a:pt x="911512" y="791388"/>
                  </a:cubicBezTo>
                  <a:lnTo>
                    <a:pt x="56949" y="791388"/>
                  </a:lnTo>
                  <a:cubicBezTo>
                    <a:pt x="41845" y="791388"/>
                    <a:pt x="27360" y="785388"/>
                    <a:pt x="16680" y="774708"/>
                  </a:cubicBezTo>
                  <a:cubicBezTo>
                    <a:pt x="6000" y="764028"/>
                    <a:pt x="0" y="749542"/>
                    <a:pt x="0" y="734439"/>
                  </a:cubicBezTo>
                  <a:lnTo>
                    <a:pt x="0" y="56949"/>
                  </a:lnTo>
                  <a:cubicBezTo>
                    <a:pt x="0" y="25497"/>
                    <a:pt x="25497" y="0"/>
                    <a:pt x="56949" y="0"/>
                  </a:cubicBezTo>
                  <a:lnTo>
                    <a:pt x="911512" y="0"/>
                  </a:lnTo>
                  <a:cubicBezTo>
                    <a:pt x="942964" y="0"/>
                    <a:pt x="968461" y="25497"/>
                    <a:pt x="968461" y="56949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68461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2685" y="5833314"/>
            <a:ext cx="4622134" cy="3777023"/>
            <a:chOff x="0" y="0"/>
            <a:chExt cx="968461" cy="7913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8461" cy="791388"/>
            </a:xfrm>
            <a:custGeom>
              <a:avLst/>
              <a:gdLst/>
              <a:ahLst/>
              <a:cxnLst/>
              <a:rect r="r" b="b" t="t" l="l"/>
              <a:pathLst>
                <a:path h="791388" w="968461">
                  <a:moveTo>
                    <a:pt x="968461" y="56949"/>
                  </a:moveTo>
                  <a:lnTo>
                    <a:pt x="968461" y="734439"/>
                  </a:lnTo>
                  <a:cubicBezTo>
                    <a:pt x="968461" y="765891"/>
                    <a:pt x="942964" y="791388"/>
                    <a:pt x="911512" y="791388"/>
                  </a:cubicBezTo>
                  <a:lnTo>
                    <a:pt x="56949" y="791388"/>
                  </a:lnTo>
                  <a:cubicBezTo>
                    <a:pt x="41845" y="791388"/>
                    <a:pt x="27360" y="785388"/>
                    <a:pt x="16680" y="774708"/>
                  </a:cubicBezTo>
                  <a:cubicBezTo>
                    <a:pt x="6000" y="764028"/>
                    <a:pt x="0" y="749542"/>
                    <a:pt x="0" y="734439"/>
                  </a:cubicBezTo>
                  <a:lnTo>
                    <a:pt x="0" y="56949"/>
                  </a:lnTo>
                  <a:cubicBezTo>
                    <a:pt x="0" y="25497"/>
                    <a:pt x="25497" y="0"/>
                    <a:pt x="56949" y="0"/>
                  </a:cubicBezTo>
                  <a:lnTo>
                    <a:pt x="911512" y="0"/>
                  </a:lnTo>
                  <a:cubicBezTo>
                    <a:pt x="942964" y="0"/>
                    <a:pt x="968461" y="25497"/>
                    <a:pt x="968461" y="56949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68461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4638" y="1783716"/>
            <a:ext cx="4622134" cy="3777023"/>
            <a:chOff x="0" y="0"/>
            <a:chExt cx="968461" cy="7913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8461" cy="791388"/>
            </a:xfrm>
            <a:custGeom>
              <a:avLst/>
              <a:gdLst/>
              <a:ahLst/>
              <a:cxnLst/>
              <a:rect r="r" b="b" t="t" l="l"/>
              <a:pathLst>
                <a:path h="791388" w="968461">
                  <a:moveTo>
                    <a:pt x="968461" y="56949"/>
                  </a:moveTo>
                  <a:lnTo>
                    <a:pt x="968461" y="734439"/>
                  </a:lnTo>
                  <a:cubicBezTo>
                    <a:pt x="968461" y="765891"/>
                    <a:pt x="942964" y="791388"/>
                    <a:pt x="911512" y="791388"/>
                  </a:cubicBezTo>
                  <a:lnTo>
                    <a:pt x="56949" y="791388"/>
                  </a:lnTo>
                  <a:cubicBezTo>
                    <a:pt x="41845" y="791388"/>
                    <a:pt x="27360" y="785388"/>
                    <a:pt x="16680" y="774708"/>
                  </a:cubicBezTo>
                  <a:cubicBezTo>
                    <a:pt x="6000" y="764028"/>
                    <a:pt x="0" y="749542"/>
                    <a:pt x="0" y="734439"/>
                  </a:cubicBezTo>
                  <a:lnTo>
                    <a:pt x="0" y="56949"/>
                  </a:lnTo>
                  <a:cubicBezTo>
                    <a:pt x="0" y="25497"/>
                    <a:pt x="25497" y="0"/>
                    <a:pt x="56949" y="0"/>
                  </a:cubicBezTo>
                  <a:lnTo>
                    <a:pt x="911512" y="0"/>
                  </a:lnTo>
                  <a:cubicBezTo>
                    <a:pt x="942964" y="0"/>
                    <a:pt x="968461" y="25497"/>
                    <a:pt x="968461" y="56949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68461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4638" y="5798863"/>
            <a:ext cx="4622134" cy="3777023"/>
            <a:chOff x="0" y="0"/>
            <a:chExt cx="968461" cy="7913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8461" cy="791388"/>
            </a:xfrm>
            <a:custGeom>
              <a:avLst/>
              <a:gdLst/>
              <a:ahLst/>
              <a:cxnLst/>
              <a:rect r="r" b="b" t="t" l="l"/>
              <a:pathLst>
                <a:path h="791388" w="968461">
                  <a:moveTo>
                    <a:pt x="968461" y="56949"/>
                  </a:moveTo>
                  <a:lnTo>
                    <a:pt x="968461" y="734439"/>
                  </a:lnTo>
                  <a:cubicBezTo>
                    <a:pt x="968461" y="765891"/>
                    <a:pt x="942964" y="791388"/>
                    <a:pt x="911512" y="791388"/>
                  </a:cubicBezTo>
                  <a:lnTo>
                    <a:pt x="56949" y="791388"/>
                  </a:lnTo>
                  <a:cubicBezTo>
                    <a:pt x="41845" y="791388"/>
                    <a:pt x="27360" y="785388"/>
                    <a:pt x="16680" y="774708"/>
                  </a:cubicBezTo>
                  <a:cubicBezTo>
                    <a:pt x="6000" y="764028"/>
                    <a:pt x="0" y="749542"/>
                    <a:pt x="0" y="734439"/>
                  </a:cubicBezTo>
                  <a:lnTo>
                    <a:pt x="0" y="56949"/>
                  </a:lnTo>
                  <a:cubicBezTo>
                    <a:pt x="0" y="25497"/>
                    <a:pt x="25497" y="0"/>
                    <a:pt x="56949" y="0"/>
                  </a:cubicBezTo>
                  <a:lnTo>
                    <a:pt x="911512" y="0"/>
                  </a:lnTo>
                  <a:cubicBezTo>
                    <a:pt x="942964" y="0"/>
                    <a:pt x="968461" y="25497"/>
                    <a:pt x="968461" y="56949"/>
                  </a:cubicBezTo>
                  <a:close/>
                </a:path>
              </a:pathLst>
            </a:custGeom>
            <a:solidFill>
              <a:srgbClr val="7A0E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968461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8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71116" y="2291102"/>
            <a:ext cx="3629179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</a:t>
            </a:r>
            <a:r>
              <a:rPr lang="en-US" sz="2599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ompleted (Phase 1): PPO baseline established and evaluated — brittle to biological spatial mapping under continuous Gaussian noise.</a:t>
            </a:r>
          </a:p>
          <a:p>
            <a:pPr algn="ctr">
              <a:lnSpc>
                <a:spcPts val="311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225919" y="4826184"/>
            <a:ext cx="6316730" cy="201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  <a:spcBef>
                <a:spcPct val="0"/>
              </a:spcBef>
            </a:pPr>
            <a:r>
              <a:rPr lang="en-US" b="true" sz="335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Ego vehicle continuously navigating high-density traffic in the SUMO GUI — without episode resets.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25919" y="3550519"/>
            <a:ext cx="5558868" cy="131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6"/>
              </a:lnSpc>
              <a:spcBef>
                <a:spcPct val="0"/>
              </a:spcBef>
            </a:pPr>
            <a:r>
              <a:rPr lang="en-US" b="true" sz="4405">
                <a:solidFill>
                  <a:srgbClr val="B8114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LIVE DEMO READY</a:t>
            </a:r>
          </a:p>
          <a:p>
            <a:pPr algn="ctr">
              <a:lnSpc>
                <a:spcPts val="5286"/>
              </a:lnSpc>
              <a:spcBef>
                <a:spcPct val="0"/>
              </a:spcBef>
            </a:pPr>
            <a:r>
              <a:rPr lang="en-US" b="true" sz="4405">
                <a:solidFill>
                  <a:srgbClr val="B8114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47651" y="777876"/>
            <a:ext cx="16642080" cy="1005840"/>
            <a:chOff x="0" y="0"/>
            <a:chExt cx="2218944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218944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800"/>
                </a:lnSpc>
                <a:spcBef>
                  <a:spcPct val="0"/>
                </a:spcBef>
              </a:pPr>
              <a:r>
                <a:rPr lang="en-US" b="true" sz="4000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Cu</a:t>
              </a: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rr</a:t>
              </a: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</a:t>
              </a: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nt </a:t>
              </a: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St</a:t>
              </a: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</a:t>
              </a: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tu</a:t>
              </a: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 </a:t>
              </a: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&amp;</a:t>
              </a: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Transition</a:t>
              </a:r>
              <a:r>
                <a:rPr lang="en-US" b="true" sz="4000" strike="noStrike" u="none">
                  <a:solidFill>
                    <a:srgbClr val="2B2B2E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to Phase 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7651" y="527051"/>
            <a:ext cx="9144000" cy="457200"/>
            <a:chOff x="0" y="0"/>
            <a:chExt cx="1219200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 spc="293" strike="noStrike" u="none">
                  <a:solidFill>
                    <a:srgbClr val="B8114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STATUS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923603" y="2719727"/>
            <a:ext cx="3502756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2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 Progress (Phase 2): Transitioning to Soft Actor-Critic (SAC).</a:t>
            </a:r>
          </a:p>
          <a:p>
            <a:pPr algn="ctr" marL="0" indent="0" lvl="1">
              <a:lnSpc>
                <a:spcPts val="3420"/>
              </a:lnSpc>
              <a:spcBef>
                <a:spcPct val="0"/>
              </a:spcBef>
            </a:pPr>
          </a:p>
          <a:p>
            <a:pPr algn="ctr" marL="0" indent="0" lvl="1">
              <a:lnSpc>
                <a:spcPts val="3420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579494" y="6660818"/>
            <a:ext cx="4412421" cy="27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1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SAC Solution: Experience Replay Buffer breaks temporal noise correlation; Maximum-Entropy framework prevents the deterministic paralysis seen in PPO.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043205" y="7169471"/>
            <a:ext cx="3394134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1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Live Status: SAC agent actively training in the SUMO environment.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79494" y="1695294"/>
            <a:ext cx="3657600" cy="742503"/>
            <a:chOff x="0" y="0"/>
            <a:chExt cx="4876800" cy="9900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F1D9E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1/4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577840" y="1695294"/>
            <a:ext cx="3657600" cy="742503"/>
            <a:chOff x="0" y="0"/>
            <a:chExt cx="4876800" cy="9900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F1D9E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2/4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9494" y="5739527"/>
            <a:ext cx="3657600" cy="742503"/>
            <a:chOff x="0" y="0"/>
            <a:chExt cx="4876800" cy="99000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F1D9E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3/4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577840" y="5798863"/>
            <a:ext cx="3657600" cy="742503"/>
            <a:chOff x="0" y="0"/>
            <a:chExt cx="4876800" cy="99000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F1D9E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4/4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002" y="9239085"/>
            <a:ext cx="3657600" cy="742503"/>
            <a:chOff x="0" y="0"/>
            <a:chExt cx="4876800" cy="990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800" cy="990003"/>
            </a:xfrm>
            <a:custGeom>
              <a:avLst/>
              <a:gdLst/>
              <a:ahLst/>
              <a:cxnLst/>
              <a:rect r="r" b="b" t="t" l="l"/>
              <a:pathLst>
                <a:path h="99000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90003"/>
                  </a:lnTo>
                  <a:lnTo>
                    <a:pt x="0" y="990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353" r="0" b="-206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76800" cy="98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>
                  <a:solidFill>
                    <a:srgbClr val="6E6E7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19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37025" y="9394493"/>
            <a:ext cx="1915278" cy="431686"/>
            <a:chOff x="0" y="0"/>
            <a:chExt cx="7805966" cy="17593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05928" cy="1759331"/>
            </a:xfrm>
            <a:custGeom>
              <a:avLst/>
              <a:gdLst/>
              <a:ahLst/>
              <a:cxnLst/>
              <a:rect r="r" b="b" t="t" l="l"/>
              <a:pathLst>
                <a:path h="1759331" w="7805928">
                  <a:moveTo>
                    <a:pt x="0" y="0"/>
                  </a:moveTo>
                  <a:lnTo>
                    <a:pt x="7805928" y="0"/>
                  </a:lnTo>
                  <a:lnTo>
                    <a:pt x="7805928" y="1759331"/>
                  </a:lnTo>
                  <a:lnTo>
                    <a:pt x="0" y="175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82880" y="-646525"/>
            <a:ext cx="18470880" cy="1097280"/>
            <a:chOff x="0" y="0"/>
            <a:chExt cx="24627840" cy="1463040"/>
          </a:xfrm>
        </p:grpSpPr>
        <p:sp>
          <p:nvSpPr>
            <p:cNvPr name="Freeform 8" id="8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82880" y="9949778"/>
            <a:ext cx="18470880" cy="1097280"/>
            <a:chOff x="0" y="0"/>
            <a:chExt cx="24627840" cy="1463040"/>
          </a:xfrm>
        </p:grpSpPr>
        <p:sp>
          <p:nvSpPr>
            <p:cNvPr name="Freeform 10" id="10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6" t="0" r="-134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033072" y="9446594"/>
            <a:ext cx="3932892" cy="30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0"/>
              </a:lnSpc>
              <a:spcBef>
                <a:spcPct val="0"/>
              </a:spcBef>
            </a:pPr>
            <a:r>
              <a:rPr lang="en-US" b="true" sz="1750" strike="noStrike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BASAL GANGLIA DECISION ENGINE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40935" y="3679357"/>
            <a:ext cx="9144000" cy="457200"/>
            <a:chOff x="0" y="0"/>
            <a:chExt cx="121920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192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7825" y="619760"/>
            <a:ext cx="9144000" cy="817880"/>
            <a:chOff x="0" y="0"/>
            <a:chExt cx="12192000" cy="10905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2000" cy="1090507"/>
            </a:xfrm>
            <a:custGeom>
              <a:avLst/>
              <a:gdLst/>
              <a:ahLst/>
              <a:cxnLst/>
              <a:rect r="r" b="b" t="t" l="l"/>
              <a:pathLst>
                <a:path h="1090507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90507"/>
                  </a:lnTo>
                  <a:lnTo>
                    <a:pt x="0" y="10905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894" r="0" b="-1457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2192000" cy="1090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800"/>
                </a:lnSpc>
                <a:spcBef>
                  <a:spcPct val="0"/>
                </a:spcBef>
              </a:pPr>
              <a:r>
                <a:rPr lang="en-US" b="true" sz="4000" strike="noStrike" u="non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References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89265" y="1403337"/>
            <a:ext cx="16909470" cy="821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51"/>
              </a:lnSpc>
            </a:pPr>
            <a:r>
              <a:rPr lang="en-US" sz="3099" strike="noStrike" u="none">
                <a:solidFill>
                  <a:srgbClr val="2B2B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[1] Y. Liao et al., "A brain-inspired framework integrating Entorhinal-Hippocampal-Prefrontal circuits for adaptive navigation in mobile robots," Electronic Research Archive, 2026.</a:t>
            </a:r>
          </a:p>
          <a:p>
            <a:pPr algn="just">
              <a:lnSpc>
                <a:spcPts val="5951"/>
              </a:lnSpc>
            </a:pPr>
            <a:r>
              <a:rPr lang="en-US" sz="3099" strike="noStrike" u="none">
                <a:solidFill>
                  <a:srgbClr val="2B2B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[2] D. Pedamonti et al., "Hippocampus supports multi-task reinforcement learning under partial observability," IEEE Transactions on Intelligent Transportation Systems, 2025.</a:t>
            </a:r>
          </a:p>
          <a:p>
            <a:pPr algn="just">
              <a:lnSpc>
                <a:spcPts val="5951"/>
              </a:lnSpc>
            </a:pPr>
            <a:r>
              <a:rPr lang="en-US" sz="3099" strike="noStrike" u="none">
                <a:solidFill>
                  <a:srgbClr val="2B2B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[3] J. Choi &amp; S. Kim, "Predictive Risk-Aware Reinforcement Learning for Autonomous Vehicles Using Safety Potential," Nature Communications, 2025.</a:t>
            </a:r>
          </a:p>
          <a:p>
            <a:pPr algn="just">
              <a:lnSpc>
                <a:spcPts val="5951"/>
              </a:lnSpc>
            </a:pPr>
            <a:r>
              <a:rPr lang="en-US" sz="3099" strike="noStrike" u="none">
                <a:solidFill>
                  <a:srgbClr val="2B2B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[4] Z. Lin et al., "Hierarchical Multi-Agent MCTS for Safety-Critical Coordination in Mixed-Autonomy Roundabouts," IEEE Transactions on Vehicular Technology, 2026.</a:t>
            </a:r>
          </a:p>
          <a:p>
            <a:pPr algn="just">
              <a:lnSpc>
                <a:spcPts val="5951"/>
              </a:lnSpc>
            </a:pPr>
            <a:r>
              <a:rPr lang="en-US" sz="3099" strike="noStrike" u="none">
                <a:solidFill>
                  <a:srgbClr val="2B2B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[5] J. Jin et al., "Hybrid action space approach to traffic signal optimization using deep reinforcement learning," Computers &amp; Operations Research, 2026.</a:t>
            </a:r>
          </a:p>
          <a:p>
            <a:pPr algn="just">
              <a:lnSpc>
                <a:spcPts val="5951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440" y="-45720"/>
            <a:ext cx="18470880" cy="1097280"/>
            <a:chOff x="0" y="0"/>
            <a:chExt cx="24627840" cy="1463040"/>
          </a:xfrm>
        </p:grpSpPr>
        <p:sp>
          <p:nvSpPr>
            <p:cNvPr name="Freeform 3" id="3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46" t="0" r="-134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1440" y="9235440"/>
            <a:ext cx="18470880" cy="1097280"/>
            <a:chOff x="0" y="0"/>
            <a:chExt cx="24627840" cy="1463040"/>
          </a:xfrm>
        </p:grpSpPr>
        <p:sp>
          <p:nvSpPr>
            <p:cNvPr name="Freeform 5" id="5" descr="/home/claude/assets/band_berry.jpeg"/>
            <p:cNvSpPr/>
            <p:nvPr/>
          </p:nvSpPr>
          <p:spPr>
            <a:xfrm flipH="false" flipV="false" rot="0">
              <a:off x="0" y="0"/>
              <a:ext cx="24627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627839">
                  <a:moveTo>
                    <a:pt x="0" y="0"/>
                  </a:moveTo>
                  <a:lnTo>
                    <a:pt x="24627839" y="0"/>
                  </a:lnTo>
                  <a:lnTo>
                    <a:pt x="24627839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46" t="0" r="-134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3749040"/>
            <a:ext cx="4697323" cy="1828800"/>
            <a:chOff x="0" y="0"/>
            <a:chExt cx="6263098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63098" cy="2438400"/>
            </a:xfrm>
            <a:custGeom>
              <a:avLst/>
              <a:gdLst/>
              <a:ahLst/>
              <a:cxnLst/>
              <a:rect r="r" b="b" t="t" l="l"/>
              <a:pathLst>
                <a:path h="2438400" w="6263098">
                  <a:moveTo>
                    <a:pt x="0" y="0"/>
                  </a:moveTo>
                  <a:lnTo>
                    <a:pt x="6263098" y="0"/>
                  </a:lnTo>
                  <a:lnTo>
                    <a:pt x="626309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-133596" b="-669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6263098" cy="2428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879"/>
                </a:lnSpc>
              </a:pPr>
              <a:r>
                <a:rPr lang="en-US" sz="7399">
                  <a:solidFill>
                    <a:srgbClr val="B8114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Thank You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8366760"/>
            <a:ext cx="15544800" cy="474789"/>
            <a:chOff x="0" y="0"/>
            <a:chExt cx="20726400" cy="6330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6400" cy="633051"/>
            </a:xfrm>
            <a:custGeom>
              <a:avLst/>
              <a:gdLst/>
              <a:ahLst/>
              <a:cxnLst/>
              <a:rect r="r" b="b" t="t" l="l"/>
              <a:pathLst>
                <a:path h="633051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33051"/>
                  </a:lnTo>
                  <a:lnTo>
                    <a:pt x="0" y="633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801" r="0" b="-58609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0726400" cy="6425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b="true" sz="2349">
                  <a:solidFill>
                    <a:srgbClr val="6E6E72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AM.AI.U4AID23042 — Harita Aneesh    ·    AM.AI.U4AID23059 — Sheron George    ·    Guide: Dr. Divya Udayan J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10560" y="8686800"/>
            <a:ext cx="1645920" cy="372189"/>
            <a:chOff x="0" y="0"/>
            <a:chExt cx="2194560" cy="496253"/>
          </a:xfrm>
        </p:grpSpPr>
        <p:sp>
          <p:nvSpPr>
            <p:cNvPr name="Freeform 13" id="13" descr="/home/claude/assets/logo.png"/>
            <p:cNvSpPr/>
            <p:nvPr/>
          </p:nvSpPr>
          <p:spPr>
            <a:xfrm flipH="false" flipV="false" rot="0">
              <a:off x="0" y="0"/>
              <a:ext cx="2194560" cy="496316"/>
            </a:xfrm>
            <a:custGeom>
              <a:avLst/>
              <a:gdLst/>
              <a:ahLst/>
              <a:cxnLst/>
              <a:rect r="r" b="b" t="t" l="l"/>
              <a:pathLst>
                <a:path h="4963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96316"/>
                  </a:lnTo>
                  <a:lnTo>
                    <a:pt x="0" y="496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DAHSSeAf_bQ</dc:identifier>
  <dcterms:modified xsi:type="dcterms:W3CDTF">2011-08-01T06:04:30Z</dcterms:modified>
  <cp:revision>1</cp:revision>
  <dc:title>MidReviewPpt_04 .pptx</dc:title>
</cp:coreProperties>
</file>